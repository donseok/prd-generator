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차량 계량대 시스템 재구축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EC0"/>
                </a:solidFill>
              </a:defRPr>
            </a:pPr>
            <a:r>
              <a:t>2026-01-25 | [고객사명] 귀중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목차 (Contents)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01  경영진 요약 (Executive Summary)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02  현재 상황과 도전 (Current Challenges)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03  프로젝트 목표 (Objectives)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04  우리의 솔루션 (Our Solution)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05  기술 접근법 (Technical Approach)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06  일정 계획 (Timeline)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07  투입 인력 (Team)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08  기대 효과 (Expected Benefits)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09  다음 단계 (Next Steps)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웹 대시보드 + 모바일 앱으로 계량 프로세스 100% 디지털화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6B6D4"/>
                </a:solidFill>
              </a:defRPr>
            </a:pPr>
            <a:r>
              <a:t>15년 된 DOS 시스템의 한계, 매일 반복되는 비효율과 쌓여가는 피로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경영진 요약 (Executive Summary)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해결할 문제: 15년 된 DOS 시스템으로 인한 수기 입력 오류와 45분 대기 시간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솔루션: 웹 대시보드 + 모바일 앱으로 계량 프로세스 100% 디지털화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예상 기간: 7개월 (28주)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투입 공수: 16 Man-Months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핵심 효과: 대기 시간 55% 단축 (45분 → 20분), 오기입 제로화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7C3AED"/>
                </a:solidFill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현재 상황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현재의 도전과 과제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수기 입력: 계량 후 전표를 손으로 작성하여 전달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긴 대기 시간: 운전기사가 자기 순번을 알 수 없음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유지보수 한계: DOS 기반 시스템, 전문 인력 부족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정보 단절: 실시간 현황 파악 불가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변화하지 않으면?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DOS 전문 인력의 고령화로 장애 시 복구 불가 상황 발생 위험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수기 전표 오류 누적으로 정산 분쟁 및 신뢰도 하락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경쟁 업체 대비 운영 효율성 격차 확대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운전기사 이탈로 인한 물류 파트너십 약화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Before vs After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4023360" cy="530352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t>현재 (AS-IS)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A0AEC0"/>
                </a:solidFill>
              </a:defRPr>
            </a:pPr>
            <a:r>
              <a:t>• 오기입률 5%, 데이터 정합성 확인에 일 1시간 이상 소요</a:t>
            </a:r>
          </a:p>
          <a:p>
            <a:pPr>
              <a:spcBef>
                <a:spcPts val="800"/>
              </a:spcBef>
              <a:defRPr sz="1600">
                <a:solidFill>
                  <a:srgbClr val="A0AEC0"/>
                </a:solidFill>
              </a:defRPr>
            </a:pPr>
            <a:r>
              <a:t>• 평균 대기 45분, 기사들의 불만과 민원 지속 발생</a:t>
            </a:r>
          </a:p>
          <a:p>
            <a:pPr>
              <a:spcBef>
                <a:spcPts val="800"/>
              </a:spcBef>
              <a:defRPr sz="1600">
                <a:solidFill>
                  <a:srgbClr val="A0AEC0"/>
                </a:solidFill>
              </a:defRPr>
            </a:pPr>
            <a:r>
              <a:t>• 장애 복구 지연, 시스템 개선 불가</a:t>
            </a:r>
          </a:p>
          <a:p>
            <a:pPr>
              <a:spcBef>
                <a:spcPts val="800"/>
              </a:spcBef>
              <a:defRPr sz="1600">
                <a:solidFill>
                  <a:srgbClr val="A0AEC0"/>
                </a:solidFill>
              </a:defRPr>
            </a:pPr>
            <a:r>
              <a:t>• 관리자가 현장에 직접 가야만 상황 파악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097280"/>
            <a:ext cx="4023360" cy="530352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12801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0B981"/>
                </a:solidFill>
              </a:defRPr>
            </a:pPr>
            <a:r>
              <a:t>미래 (TO-BE)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82880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A0AEC0"/>
                </a:solidFill>
              </a:defRPr>
            </a:pPr>
            <a:r>
              <a:t>• 화면 하나로 3개 계량대 현황을 실시간으로 봄, 엑셀 수작업 버튼 한 번으로 대체</a:t>
            </a:r>
          </a:p>
          <a:p>
            <a:pPr>
              <a:spcBef>
                <a:spcPts val="800"/>
              </a:spcBef>
              <a:defRPr sz="1600">
                <a:solidFill>
                  <a:srgbClr val="A0AEC0"/>
                </a:solidFill>
              </a:defRPr>
            </a:pPr>
            <a:r>
              <a:t>• 앱에서 순번 확인하며 차에서 편하게 대기, 차례가 되면 알림</a:t>
            </a:r>
          </a:p>
          <a:p>
            <a:pPr>
              <a:spcBef>
                <a:spcPts val="800"/>
              </a:spcBef>
              <a:defRPr sz="1600">
                <a:solidFill>
                  <a:srgbClr val="A0AEC0"/>
                </a:solidFill>
              </a:defRPr>
            </a:pPr>
            <a:r>
              <a:t>• 일간/월간 리포트 자동 생성, 현장 방문 없이 현황 파악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7C3AED"/>
                </a:solidFill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프로젝트 목표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목표 및 핵심 KPI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188720"/>
            <a:ext cx="4114800" cy="219456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0AEC0"/>
                </a:solidFill>
              </a:defRPr>
            </a:pPr>
            <a:r>
              <a:t>계량 데이터 오기입률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7C3AED"/>
                </a:solidFill>
              </a:defRPr>
            </a:pPr>
            <a:r>
              <a:t>5% → 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0B981"/>
                </a:solidFill>
              </a:defRPr>
            </a:pPr>
            <a:r>
              <a:t>100% 개선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188720"/>
            <a:ext cx="4114800" cy="219456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371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0AEC0"/>
                </a:solidFill>
              </a:defRPr>
            </a:pPr>
            <a:r>
              <a:t>평균 대기 시간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8288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7C3AED"/>
                </a:solidFill>
              </a:defRPr>
            </a:pPr>
            <a:r>
              <a:t>45분 → 20분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6517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0B981"/>
                </a:solidFill>
              </a:defRPr>
            </a:pPr>
            <a:r>
              <a:t>55% 단축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3657600"/>
            <a:ext cx="4114800" cy="219456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8404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0AEC0"/>
                </a:solidFill>
              </a:defRPr>
            </a:pPr>
            <a:r>
              <a:t>모바일 앱 설치율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9768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7C3AED"/>
                </a:solidFill>
              </a:defRPr>
            </a:pPr>
            <a:r>
              <a:t>- → 80% 이상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1206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0B981"/>
                </a:solidFill>
              </a:defRPr>
            </a:pPr>
            <a:r>
              <a:t>-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3657600"/>
            <a:ext cx="4114800" cy="219456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38404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0AEC0"/>
                </a:solidFill>
              </a:defRPr>
            </a:pPr>
            <a:r>
              <a:t>시스템 가용성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429768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7C3AED"/>
                </a:solidFill>
              </a:defRPr>
            </a:pPr>
            <a:r>
              <a:t>- → 99.5% 이상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51206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0B981"/>
                </a:solidFill>
              </a:defRPr>
            </a:pPr>
            <a:r>
              <a:t>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7C3AED"/>
                </a:solidFill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우리의 솔루션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손으로 쓰던 전표가 스마트폰으로, 눈으로 세던 순번이 자동 알림으로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6B6D4"/>
                </a:solidFill>
              </a:defRPr>
            </a:pPr>
            <a:r>
              <a:t>기존 인디케이터(저울) 3대를 그대로 활용하면서 데이터 수집과 처리를 현대화. 운전기사는 앱으로, 관리자는 웹으로 접근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작업 범위 (Scope)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4023360" cy="530352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t>포함 (In-Scope)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A0AEC0"/>
                </a:solidFill>
              </a:defRPr>
            </a:pPr>
            <a:r>
              <a:t>• 웹 대시보드: 사무실에서 모든 현황을 한눈에 파악</a:t>
            </a:r>
          </a:p>
          <a:p>
            <a:pPr>
              <a:spcBef>
                <a:spcPts val="800"/>
              </a:spcBef>
              <a:defRPr sz="1600">
                <a:solidFill>
                  <a:srgbClr val="A0AEC0"/>
                </a:solidFill>
              </a:defRPr>
            </a:pPr>
            <a:r>
              <a:t>• 모바일 앱: 차 안에서 편하게 대기, 종이 전표 불필요</a:t>
            </a:r>
          </a:p>
          <a:p>
            <a:pPr>
              <a:spcBef>
                <a:spcPts val="800"/>
              </a:spcBef>
              <a:defRPr sz="1600">
                <a:solidFill>
                  <a:srgbClr val="A0AEC0"/>
                </a:solidFill>
              </a:defRPr>
            </a:pPr>
            <a:r>
              <a:t>• Edge Server: 수기 입력 제거, 오류 원천 차단</a:t>
            </a:r>
          </a:p>
          <a:p>
            <a:pPr>
              <a:spcBef>
                <a:spcPts val="800"/>
              </a:spcBef>
              <a:defRPr sz="1600">
                <a:solidFill>
                  <a:srgbClr val="A0AEC0"/>
                </a:solidFill>
              </a:defRPr>
            </a:pPr>
            <a:r>
              <a:t>• ERP 연동: ERP 수동 입력 업무 제거</a:t>
            </a:r>
          </a:p>
          <a:p>
            <a:pPr>
              <a:spcBef>
                <a:spcPts val="800"/>
              </a:spcBef>
              <a:defRPr sz="1600">
                <a:solidFill>
                  <a:srgbClr val="A0AEC0"/>
                </a:solidFill>
              </a:defRPr>
            </a:pPr>
            <a:r>
              <a:t>• 전광판 연동: 앱 없는 기사도 순번 확인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097280"/>
            <a:ext cx="4023360" cy="530352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12801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0B981"/>
                </a:solidFill>
              </a:defRPr>
            </a:pPr>
            <a:r>
              <a:t>제외 (Out of Scope)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82880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A0AEC0"/>
                </a:solidFill>
              </a:defRPr>
            </a:pPr>
            <a:r>
              <a:t>• 인디케이터(저울) 하드웨어 교체</a:t>
            </a:r>
          </a:p>
          <a:p>
            <a:pPr>
              <a:spcBef>
                <a:spcPts val="800"/>
              </a:spcBef>
              <a:defRPr sz="1600">
                <a:solidFill>
                  <a:srgbClr val="A0AEC0"/>
                </a:solidFill>
              </a:defRPr>
            </a:pPr>
            <a:r>
              <a:t>• ERP 시스템 내부 수정</a:t>
            </a:r>
          </a:p>
          <a:p>
            <a:pPr>
              <a:spcBef>
                <a:spcPts val="800"/>
              </a:spcBef>
              <a:defRPr sz="1600">
                <a:solidFill>
                  <a:srgbClr val="A0AEC0"/>
                </a:solidFill>
              </a:defRPr>
            </a:pPr>
            <a:r>
              <a:t>• 사전 예약 기능</a:t>
            </a:r>
          </a:p>
          <a:p>
            <a:pPr>
              <a:spcBef>
                <a:spcPts val="800"/>
              </a:spcBef>
              <a:defRPr sz="1600">
                <a:solidFill>
                  <a:srgbClr val="A0AEC0"/>
                </a:solidFill>
              </a:defRPr>
            </a:pPr>
            <a:r>
              <a:t>• 멀티 사이트 통합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기술 스택 (Technology Stack)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웹 Frontend: React + Ant Design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모바일: Flutter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Backend: FastAPI (Python)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Database: PostgreSQL (AWS RDS)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Infrastructure: AWS ECS Fargate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7C3AED"/>
                </a:solidFill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일정 계획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프로젝트 타임라인 (28주 (7개월))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743200"/>
            <a:ext cx="2651760" cy="5486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Phase 1: 분석/설계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A0AEC0"/>
                </a:solidFill>
              </a:defRPr>
            </a:pPr>
            <a:r>
              <a:t>8주</a:t>
            </a:r>
            <a:br/>
            <a:r>
              <a:t>2024-01 ~ 2024-03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2743200"/>
            <a:ext cx="2651760" cy="54864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201168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Phase 2: 개발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347472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A0AEC0"/>
                </a:solidFill>
              </a:defRPr>
            </a:pPr>
            <a:r>
              <a:t>14주</a:t>
            </a:r>
            <a:br/>
            <a:r>
              <a:t>2024-03 ~ 2024-06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743200"/>
            <a:ext cx="2651760" cy="5486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201168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Phase 3: 테스트/배포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347472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A0AEC0"/>
                </a:solidFill>
              </a:defRPr>
            </a:pPr>
            <a:r>
              <a:t>6주</a:t>
            </a:r>
            <a:br/>
            <a:r>
              <a:t>2024-07 ~ 2024-08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프로젝트 팀 구성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2743200" cy="210312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234439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C3AED"/>
                </a:solidFill>
              </a:defRPr>
            </a:pPr>
            <a:r>
              <a:t>PM/PL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79" y="169164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21945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0AEC0"/>
                </a:solidFill>
              </a:defRPr>
            </a:pPr>
            <a:r>
              <a:t>프로젝트 관리, 이해관계자 조율, 일정/위험 관리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097280"/>
            <a:ext cx="2743200" cy="210312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7560" y="1234439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C3AED"/>
                </a:solidFill>
              </a:defRPr>
            </a:pPr>
            <a:r>
              <a:t>백엔드 개발자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169164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2명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21945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0AEC0"/>
                </a:solidFill>
              </a:defRPr>
            </a:pPr>
            <a:r>
              <a:t>FastAPI, DB 설계, 외부 시스템 연동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097280"/>
            <a:ext cx="2743200" cy="210312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234439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C3AED"/>
                </a:solidFill>
              </a:defRPr>
            </a:pPr>
            <a:r>
              <a:t>프론트엔드 개발자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69164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1945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0AEC0"/>
                </a:solidFill>
              </a:defRPr>
            </a:pPr>
            <a:r>
              <a:t>React, 실시간 대시보드, 반응형 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3474720"/>
            <a:ext cx="2743200" cy="210312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79" y="3611879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C3AED"/>
                </a:solidFill>
              </a:defRPr>
            </a:pPr>
            <a:r>
              <a:t>모바일 개발자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406908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45720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0AEC0"/>
                </a:solidFill>
              </a:defRPr>
            </a:pPr>
            <a:r>
              <a:t>Flutter, iOS/Android, 푸시 알림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0" y="3474720"/>
            <a:ext cx="2743200" cy="210312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37560" y="3611879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C3AED"/>
                </a:solidFill>
              </a:defRPr>
            </a:pPr>
            <a:r>
              <a:t>DevOps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406908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0.5 (50%)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45720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0AEC0"/>
                </a:solidFill>
              </a:defRPr>
            </a:pPr>
            <a:r>
              <a:t>AWS, CI/CD, 모니터링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74720"/>
            <a:ext cx="2743200" cy="210312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3611879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C3AED"/>
                </a:solidFill>
              </a:defRPr>
            </a:pPr>
            <a:r>
              <a:t>QA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406908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0.5 (50%)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45720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0AEC0"/>
                </a:solidFill>
              </a:defRPr>
            </a:pPr>
            <a:r>
              <a:t>테스트 전략, 자동화 테스트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6B6D4"/>
                </a:solidFill>
              </a:defRPr>
            </a:pPr>
            <a:r>
              <a:t>총 공수: 16 Man-Months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리스크 관리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8595360" cy="91440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HIGH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1887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B사 인디케이터 프로토콜 미확정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55448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0AEC0"/>
                </a:solidFill>
              </a:defRPr>
            </a:pPr>
            <a:r>
              <a:t>→ 범용 파서 구조로 설계, 프로토콜 문서 수령 즉시 개발 착수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103120"/>
            <a:ext cx="8595360" cy="91440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1945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HIGH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1945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Edge Server 네트워크 단절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6032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0AEC0"/>
                </a:solidFill>
              </a:defRPr>
            </a:pPr>
            <a:r>
              <a:t>→ SQLite 로컬 버퍼링으로 데이터 손실 방지, 네트워크 복구 시 자동 동기화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3108960"/>
            <a:ext cx="8595360" cy="91440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32004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MEDIUM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2004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요구사항 변경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56616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0AEC0"/>
                </a:solidFill>
              </a:defRPr>
            </a:pPr>
            <a:r>
              <a:t>→ 변경 관리 프로세스 운영, 20% 버퍼 확보, 스프린트 단위 조정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114800"/>
            <a:ext cx="8595360" cy="91440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420624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MEDIUM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2062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iOS 앱 스토어 심사 지연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57200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0AEC0"/>
                </a:solidFill>
              </a:defRPr>
            </a:pPr>
            <a:r>
              <a:t>→ 조기 심사 제출, 사전 리젝 사유 검토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5120640"/>
            <a:ext cx="8595360" cy="91440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52120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MEDIUM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2120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ERP 연동 지연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57784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0AEC0"/>
                </a:solidFill>
              </a:defRPr>
            </a:pPr>
            <a:r>
              <a:t>→ Mock 서버로 개발 선행, Staging 환경 조기 확보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5% → 0%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6B6D4"/>
                </a:solidFill>
              </a:defRPr>
            </a:pPr>
            <a:r>
              <a:t>계량 데이터 오기입률 100% 제거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다음 단계 (Next Steps)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37160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4630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제안서 검토 및 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4630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06B6D4"/>
                </a:solidFill>
              </a:defRPr>
            </a:pPr>
            <a:r>
              <a:t>1주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37744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4688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세부 협의 및 범위/일정 조정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4688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06B6D4"/>
                </a:solidFill>
              </a:defRPr>
            </a:pPr>
            <a:r>
              <a:t>1주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38328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4747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4747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계약 체결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4747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06B6D4"/>
                </a:solidFill>
              </a:defRPr>
            </a:pPr>
            <a:r>
              <a:t>1주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43891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4805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4805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킥오프 미팅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44805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06B6D4"/>
                </a:solidFill>
              </a:defRPr>
            </a:pPr>
            <a:r>
              <a:t>-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539496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4864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4864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프로젝트 착수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54864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06B6D4"/>
                </a:solidFill>
              </a:defRPr>
            </a:pPr>
            <a:r>
              <a:t>-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7C3AED"/>
                </a:solidFill>
              </a:defRPr>
            </a:pPr>
            <a:r>
              <a:t>감사합니다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A0AEC0"/>
                </a:solidFill>
              </a:defRPr>
            </a:pPr>
            <a:r>
              <a:t>Q&amp;A | 지금 바로 문의하세요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