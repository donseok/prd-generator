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차량 계량대 시스템 재구축 프로젝트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0AEC0"/>
                </a:solidFill>
              </a:defRPr>
            </a:pPr>
            <a:r>
              <a:t>2026-01-26 | 귀사 귀중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목차 (Contents)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01  경영진 요약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02  프로젝트 배경 및 목표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03  작업 범위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04  솔루션 및 기술 접근법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05  일정 계획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06  투입 인력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07  리스크 관리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08  기대 효과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09  다음 단계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DOS에서 클라우드로, 수기에서 디지털로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6B6D4"/>
                </a:solidFill>
              </a:defRPr>
            </a:pPr>
            <a:r>
              <a:t>15년 된 레거시 시스템의 디지털 전환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경영진 요약 (Executive Summary)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본 제안서는 귀사의 차량 계량대 시스템 현대화 프로젝트에 대한 기술 솔루션과 실행 계획을 제시합니다.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현재 15년 이상 운영된 DOS 기반 레거시 시스템을 웹 기반 관리 시스템과 모바일 앱으로 전환하여, 운전기사 대기 시간을 45분에서 20분 이하로 단축하고, 수기 전표를 100% 전자화하며, 데이터 오류율을 0.1% 이하로 개선합니다.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기존 인디케이터(저울) 장비를 그대로 활용하면서 엣지 서버를 통한 데이터 자동 수집, ERP 시스템 연동, 전광판 연동까지 포함하는 통합 솔루션을 제공합니다. React 기반 웹 대시보드와 Flutter 기반 크로스플랫폼 모바일 앱을 AWS 클라우드 인프라 위에 구축하여 99.5% 이상의 시스템 가용성을 보장합니다.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7C3AED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프로젝트 배경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현재의 문제점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15년 이상 운영된 DOS 기반 레거시 시스템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유지보수 인력 확보의 어려움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수기 대장 작성으로 인한 업무 비효율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운전기사 평균 대기 시간 45분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실시간 현황 파악 및 통계 분석 불가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Before vs After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4023360" cy="53035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현재 (AS-IS)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A0AEC0"/>
                </a:solidFill>
              </a:defRPr>
            </a:pPr>
            <a:r>
              <a:t>• DOS 기반 레거시</a:t>
            </a:r>
          </a:p>
          <a:p>
            <a:pPr>
              <a:spcBef>
                <a:spcPts val="600"/>
              </a:spcBef>
              <a:defRPr sz="1400">
                <a:solidFill>
                  <a:srgbClr val="A0AEC0"/>
                </a:solidFill>
              </a:defRPr>
            </a:pPr>
            <a:r>
              <a:t>• 수기 전표 작성</a:t>
            </a:r>
          </a:p>
          <a:p>
            <a:pPr>
              <a:spcBef>
                <a:spcPts val="600"/>
              </a:spcBef>
              <a:defRPr sz="1400">
                <a:solidFill>
                  <a:srgbClr val="A0AEC0"/>
                </a:solidFill>
              </a:defRPr>
            </a:pPr>
            <a:r>
              <a:t>• 45분 대기 시간</a:t>
            </a:r>
          </a:p>
          <a:p>
            <a:pPr>
              <a:spcBef>
                <a:spcPts val="600"/>
              </a:spcBef>
              <a:defRPr sz="1400">
                <a:solidFill>
                  <a:srgbClr val="A0AEC0"/>
                </a:solidFill>
              </a:defRPr>
            </a:pPr>
            <a:r>
              <a:t>• 5% 데이터 오류율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97280"/>
            <a:ext cx="4023360" cy="53035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미래 (TO-BE)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A0AEC0"/>
                </a:solidFill>
              </a:defRPr>
            </a:pPr>
            <a:r>
              <a:t>• 웹/모바일 시스템</a:t>
            </a:r>
          </a:p>
          <a:p>
            <a:pPr>
              <a:spcBef>
                <a:spcPts val="600"/>
              </a:spcBef>
              <a:defRPr sz="1400">
                <a:solidFill>
                  <a:srgbClr val="A0AEC0"/>
                </a:solidFill>
              </a:defRPr>
            </a:pPr>
            <a:r>
              <a:t>• 100% 전자 전표</a:t>
            </a:r>
          </a:p>
          <a:p>
            <a:pPr>
              <a:spcBef>
                <a:spcPts val="600"/>
              </a:spcBef>
              <a:defRPr sz="1400">
                <a:solidFill>
                  <a:srgbClr val="A0AEC0"/>
                </a:solidFill>
              </a:defRPr>
            </a:pPr>
            <a:r>
              <a:t>• 20분 이하 대기</a:t>
            </a:r>
          </a:p>
          <a:p>
            <a:pPr>
              <a:spcBef>
                <a:spcPts val="600"/>
              </a:spcBef>
              <a:defRPr sz="1400">
                <a:solidFill>
                  <a:srgbClr val="A0AEC0"/>
                </a:solidFill>
              </a:defRPr>
            </a:pPr>
            <a:r>
              <a:t>• 0.1% 이하 오류율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프로젝트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웹 기반 관리 시스템 구축 (실시간 대시보드, 통계 리포트, 차량/기사 관리)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운전기사용 모바일 앱 개발 (대기순번 확인, 푸시 알림, 전자 전표)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기존 인디케이터 3대와의 RS-232 연동 및 데이터 자동 수집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ERP 시스템 연동을 통한 일 마감 데이터 자동 전송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전광판 연동을 통한 대기 순번 실시간 표시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운전기사 대기 시간 단축 및 민원 해소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핵심 성공 지표 (KPI)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4114800" cy="21945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대기 시간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C3AED"/>
                </a:solidFill>
              </a:defRPr>
            </a:pPr>
            <a:r>
              <a:t>45분 → 20분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55% 이상 단축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188720"/>
            <a:ext cx="4114800" cy="21945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전표 전자화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8288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C3AED"/>
                </a:solidFill>
              </a:defRPr>
            </a:pPr>
            <a:r>
              <a:t>0% → 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651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완전 전자화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657600"/>
            <a:ext cx="4114800" cy="21945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데이터 오류율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C3AED"/>
                </a:solidFill>
              </a:defRPr>
            </a:pPr>
            <a:r>
              <a:t>5% → 0.1%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98% 감소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657600"/>
            <a:ext cx="4114800" cy="21945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3840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시스템 가용성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2976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C3AED"/>
                </a:solidFill>
              </a:defRPr>
            </a:pPr>
            <a:r>
              <a:t>99.5%+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5120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클라우드 안정성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7C3AED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작업 범위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작업 범위 (Scope)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4023360" cy="53035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포함 범위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A0AEC0"/>
                </a:solidFill>
              </a:defRPr>
            </a:pPr>
            <a:r>
              <a:t>• 웹 기반 관리 시스템 개발 (React)</a:t>
            </a:r>
          </a:p>
          <a:p>
            <a:pPr>
              <a:spcBef>
                <a:spcPts val="600"/>
              </a:spcBef>
              <a:defRPr sz="1400">
                <a:solidFill>
                  <a:srgbClr val="A0AEC0"/>
                </a:solidFill>
              </a:defRPr>
            </a:pPr>
            <a:r>
              <a:t>• 운전기사용 모바일 앱 개발 (Flutter, iOS/Android)</a:t>
            </a:r>
          </a:p>
          <a:p>
            <a:pPr>
              <a:spcBef>
                <a:spcPts val="600"/>
              </a:spcBef>
              <a:defRPr sz="1400">
                <a:solidFill>
                  <a:srgbClr val="A0AEC0"/>
                </a:solidFill>
              </a:defRPr>
            </a:pPr>
            <a:r>
              <a:t>• 백엔드 API 서버 개발 (FastAPI)</a:t>
            </a:r>
          </a:p>
          <a:p>
            <a:pPr>
              <a:spcBef>
                <a:spcPts val="600"/>
              </a:spcBef>
              <a:defRPr sz="1400">
                <a:solidFill>
                  <a:srgbClr val="A0AEC0"/>
                </a:solidFill>
              </a:defRPr>
            </a:pPr>
            <a:r>
              <a:t>• 엣지 서버 개발 및 설치 (인디케이터 연동)</a:t>
            </a:r>
          </a:p>
          <a:p>
            <a:pPr>
              <a:spcBef>
                <a:spcPts val="600"/>
              </a:spcBef>
              <a:defRPr sz="1400">
                <a:solidFill>
                  <a:srgbClr val="A0AEC0"/>
                </a:solidFill>
              </a:defRPr>
            </a:pPr>
            <a:r>
              <a:t>• AWS 클라우드 인프라 구축</a:t>
            </a:r>
          </a:p>
          <a:p>
            <a:pPr>
              <a:spcBef>
                <a:spcPts val="600"/>
              </a:spcBef>
              <a:defRPr sz="1400">
                <a:solidFill>
                  <a:srgbClr val="A0AEC0"/>
                </a:solidFill>
              </a:defRPr>
            </a:pPr>
            <a:r>
              <a:t>• ERP 시스템 연동 모듈 개발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97280"/>
            <a:ext cx="4023360" cy="53035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제외 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A0AEC0"/>
                </a:solidFill>
              </a:defRPr>
            </a:pPr>
            <a:r>
              <a:t>• 인디케이터(저울) 장비 교체</a:t>
            </a:r>
          </a:p>
          <a:p>
            <a:pPr>
              <a:spcBef>
                <a:spcPts val="600"/>
              </a:spcBef>
              <a:defRPr sz="1400">
                <a:solidFill>
                  <a:srgbClr val="A0AEC0"/>
                </a:solidFill>
              </a:defRPr>
            </a:pPr>
            <a:r>
              <a:t>• ERP 시스템 자체 개선</a:t>
            </a:r>
          </a:p>
          <a:p>
            <a:pPr>
              <a:spcBef>
                <a:spcPts val="600"/>
              </a:spcBef>
              <a:defRPr sz="1400">
                <a:solidFill>
                  <a:srgbClr val="A0AEC0"/>
                </a:solidFill>
              </a:defRPr>
            </a:pPr>
            <a:r>
              <a:t>• 계량대 현장 시설 공사</a:t>
            </a:r>
          </a:p>
          <a:p>
            <a:pPr>
              <a:spcBef>
                <a:spcPts val="600"/>
              </a:spcBef>
              <a:defRPr sz="1400">
                <a:solidFill>
                  <a:srgbClr val="A0AEC0"/>
                </a:solidFill>
              </a:defRPr>
            </a:pPr>
            <a:r>
              <a:t>• 타 사업장 확장 (향후 별도 검토)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주요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웹 관리 시스템: 실시간 대시보드, 계량 관리, 차량/기사 관리, 통계 리포트 기능 제공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모바일 앱 (운전기사용): 대기 순번 확인, 푸시 알림, 계량 결과 조회, 전자 전표 기능 제공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시스템 연동: 인디케이터 RS-232 연동, ERP REST API 연동, 전광판 TCP/IP 연동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7C3AED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솔루션 접근법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클라우드 + 엣지 컴퓨팅 하이브리드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6B6D4"/>
                </a:solidFill>
              </a:defRPr>
            </a:pPr>
            <a:r>
              <a:t>최신 기술 스택을 활용한 클라우드 기반 3-Tier 아키텍처와 엣지 컴퓨팅을 결합하여, 실시간 데이터 처리와 높은 가용성을 동시에 달성합니다.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기술 스택 (Technology Stack)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Frontend (웹): React 18, TypeScript, TailwindCSS, Recharts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Frontend (모바일): Flutter 3, Dart, Riverpod, FCM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Backend: FastAPI, Python 3.11, SQLAlchemy, Celery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Database: PostgreSQL 15 (AWS RDS), Redis 7 (ElastiCache)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Infrastructure: AWS (EC2, RDS, S3, CloudFront, VPN)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Edge: Ubuntu 22.04, Python, pyserial, SQLite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7C3AED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일정 계획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프로젝트 타임라인 (약 7개월 (140일))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228600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요구사항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3774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4주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3774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요구사항 수집, 분석 및 PRD 확정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2286000" cy="5486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2918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6주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91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시스템 아키텍처, DB, API, UI/UX 설계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228600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개발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2062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16주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2062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웹/모바일/엣지/연동 모듈 개발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029200"/>
            <a:ext cx="228600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테스트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1206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4주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1206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통합/성능/UAT 테스트 수행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228600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0350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배포 및 오픈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035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2주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035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시스템 배포 및 사용자 교육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프로젝트 팀 구성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23443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PM (Project Manager)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79" y="16916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2194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프로젝트 총괄, 일정/리스크 관리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09728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23443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백엔드 개발자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6916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194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API 서버 개발, 엣지 서버 개발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9728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3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프론트엔드 개발자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916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194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웹 대시보드 개발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47472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61187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모바일 개발자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069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572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iOS/Android 앱 개발 (Flutter)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347472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361187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UI/UX 디자이너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069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572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웹/모바일 UI/UX 디자인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7472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61187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QA 엔지니어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069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572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테스트 계획/수행, 품질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총 투입 공수: 14.5 Man-Months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리스크 관리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B사 인디케이터 프로토콜 문서 미확보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54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→ A사 프로토콜 기반 선 개발 후 B사 대응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10312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MEDIUM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945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현장 네트워크 불안정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60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→ 엣지 서버 로컬 버퍼링으로 데이터 보호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10896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2004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ERP 연동 테스트 환경 접근 지연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66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→ Mock 서버로 선 개발 후 실환경 테스트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11480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2062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06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iOS 앱 심사 지연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→ 사전 가이드라인 준수로 심사 통과율 제고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512064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12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12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고령 사용자 앱 사용성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577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→ 큰 글씨, 간단한 UI, SMS 알림 병행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기대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운영 효율화: 운전기사 대기 시간 50% 이상 단축으로 현장 운영 효율 향상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업무 자동화: 수기 전표 100% 전자화로 오류 감소 및 업무 부담 경감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데이터 정확성: 인디케이터 자동 연동으로 데이터 오류율 0.1% 이하 달성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고객 만족도: 모바일 앱을 통한 실시간 순번 확인으로 운전기사 민원 해소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의사결정 지원: 실시간 대시보드와 통계 리포트를 통한 데이터 기반 의사결정</a:t>
            </a:r>
          </a:p>
          <a:p>
            <a:pPr>
              <a:spcBef>
                <a:spcPts val="1000"/>
              </a:spcBef>
              <a:defRPr sz="1800">
                <a:solidFill>
                  <a:srgbClr val="A0AEC0"/>
                </a:solidFill>
              </a:defRPr>
            </a:pPr>
            <a:r>
              <a:t>• 시스템 안정성: 클라우드 기반 인프라로 99.5% 이상 가용성 보장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다음 단계 (Next Steps)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본 제안서 검토 및 질의응답 (Q&amp;A 세션)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제안 발표 (PT)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3832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74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기술 협의 및 상세 범위 조정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3891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4805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4805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계약 체결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3949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프로젝트 킥오프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7C3AED"/>
                </a:solidFill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0AEC0"/>
                </a:solidFill>
              </a:defRPr>
            </a:pPr>
            <a:r>
              <a:t>Q&amp;A | 지금 바로 함께 시작하세요!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