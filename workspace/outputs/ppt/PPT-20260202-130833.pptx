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743200"/>
            <a:ext cx="8229600" cy="1371600"/>
          </a:xfrm>
          <a:prstGeom prst="rect">
            <a:avLst/>
          </a:prstGeom>
          <a:noFill/>
        </p:spPr>
        <p:txBody>
          <a:bodyPr wrap="none">
            <a:spAutoFit/>
          </a:bodyPr>
          <a:lstStyle/>
          <a:p>
            <a:pPr algn="ctr">
              <a:defRPr sz="4800" b="1">
                <a:solidFill>
                  <a:srgbClr val="FFFFFF"/>
                </a:solidFill>
              </a:defRPr>
            </a:pPr>
            <a:r>
              <a:t>주식 웹 포털 대시보드 구축</a:t>
            </a:r>
          </a:p>
        </p:txBody>
      </p:sp>
      <p:sp>
        <p:nvSpPr>
          <p:cNvPr id="3" name="TextBox 2"/>
          <p:cNvSpPr txBox="1"/>
          <p:nvPr/>
        </p:nvSpPr>
        <p:spPr>
          <a:xfrm>
            <a:off x="457200" y="4114800"/>
            <a:ext cx="8229600" cy="731520"/>
          </a:xfrm>
          <a:prstGeom prst="rect">
            <a:avLst/>
          </a:prstGeom>
          <a:noFill/>
        </p:spPr>
        <p:txBody>
          <a:bodyPr wrap="none">
            <a:spAutoFit/>
          </a:bodyPr>
          <a:lstStyle/>
          <a:p>
            <a:pPr algn="ctr">
              <a:defRPr sz="2400">
                <a:solidFill>
                  <a:srgbClr val="A0AEC0"/>
                </a:solidFill>
              </a:defRPr>
            </a:pPr>
            <a:r>
              <a:t> | [고객사] 귀중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FFFFFF"/>
                </a:solidFill>
              </a:defRPr>
            </a:pPr>
            <a:r>
              <a:t>목차 (Contents)</a:t>
            </a:r>
          </a:p>
        </p:txBody>
      </p:sp>
      <p:sp>
        <p:nvSpPr>
          <p:cNvPr id="3" name="TextBox 2"/>
          <p:cNvSpPr txBox="1"/>
          <p:nvPr/>
        </p:nvSpPr>
        <p:spPr>
          <a:xfrm>
            <a:off x="457200" y="1371600"/>
            <a:ext cx="8229600" cy="4572000"/>
          </a:xfrm>
          <a:prstGeom prst="rect">
            <a:avLst/>
          </a:prstGeom>
          <a:noFill/>
        </p:spPr>
        <p:txBody>
          <a:bodyPr wrap="square">
            <a:spAutoFit/>
          </a:bodyPr>
          <a:lstStyle/>
          <a:p>
            <a:pPr>
              <a:spcBef>
                <a:spcPts val="1200"/>
              </a:spcBef>
              <a:defRPr sz="2000">
                <a:solidFill>
                  <a:srgbClr val="A0AEC0"/>
                </a:solidFill>
              </a:defRPr>
            </a:pPr>
            <a:r>
              <a:t>• 01  경영진 요약 (Executive Summary)</a:t>
            </a:r>
          </a:p>
          <a:p>
            <a:pPr>
              <a:spcBef>
                <a:spcPts val="1200"/>
              </a:spcBef>
              <a:defRPr sz="2000">
                <a:solidFill>
                  <a:srgbClr val="A0AEC0"/>
                </a:solidFill>
              </a:defRPr>
            </a:pPr>
            <a:r>
              <a:t>• 02  현재 상황과 도전 (Current Challenges)</a:t>
            </a:r>
          </a:p>
          <a:p>
            <a:pPr>
              <a:spcBef>
                <a:spcPts val="1200"/>
              </a:spcBef>
              <a:defRPr sz="2000">
                <a:solidFill>
                  <a:srgbClr val="A0AEC0"/>
                </a:solidFill>
              </a:defRPr>
            </a:pPr>
            <a:r>
              <a:t>• 03  프로젝트 목표 (Objectives)</a:t>
            </a:r>
          </a:p>
          <a:p>
            <a:pPr>
              <a:spcBef>
                <a:spcPts val="1200"/>
              </a:spcBef>
              <a:defRPr sz="2000">
                <a:solidFill>
                  <a:srgbClr val="A0AEC0"/>
                </a:solidFill>
              </a:defRPr>
            </a:pPr>
            <a:r>
              <a:t>• 04  우리의 솔루션 (Our Solution)</a:t>
            </a:r>
          </a:p>
          <a:p>
            <a:pPr>
              <a:spcBef>
                <a:spcPts val="1200"/>
              </a:spcBef>
              <a:defRPr sz="2000">
                <a:solidFill>
                  <a:srgbClr val="A0AEC0"/>
                </a:solidFill>
              </a:defRPr>
            </a:pPr>
            <a:r>
              <a:t>• 05  기술 접근법 (Technical Approach)</a:t>
            </a:r>
          </a:p>
          <a:p>
            <a:pPr>
              <a:spcBef>
                <a:spcPts val="1200"/>
              </a:spcBef>
              <a:defRPr sz="2000">
                <a:solidFill>
                  <a:srgbClr val="A0AEC0"/>
                </a:solidFill>
              </a:defRPr>
            </a:pPr>
            <a:r>
              <a:t>• 06  일정 계획 (Timeline)</a:t>
            </a:r>
          </a:p>
          <a:p>
            <a:pPr>
              <a:spcBef>
                <a:spcPts val="1200"/>
              </a:spcBef>
              <a:defRPr sz="2000">
                <a:solidFill>
                  <a:srgbClr val="A0AEC0"/>
                </a:solidFill>
              </a:defRPr>
            </a:pPr>
            <a:r>
              <a:t>• 07  투입 인력 (Team)</a:t>
            </a:r>
          </a:p>
          <a:p>
            <a:pPr>
              <a:spcBef>
                <a:spcPts val="1200"/>
              </a:spcBef>
              <a:defRPr sz="2000">
                <a:solidFill>
                  <a:srgbClr val="A0AEC0"/>
                </a:solidFill>
              </a:defRPr>
            </a:pPr>
            <a:r>
              <a:t>• 08  기대 효과 (Expected Benefits)</a:t>
            </a:r>
          </a:p>
          <a:p>
            <a:pPr>
              <a:spcBef>
                <a:spcPts val="1200"/>
              </a:spcBef>
              <a:defRPr sz="2000">
                <a:solidFill>
                  <a:srgbClr val="A0AEC0"/>
                </a:solidFill>
              </a:defRPr>
            </a:pPr>
            <a:r>
              <a:t>• 09  다음 단계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286000"/>
            <a:ext cx="8229600" cy="1828800"/>
          </a:xfrm>
          <a:prstGeom prst="rect">
            <a:avLst/>
          </a:prstGeom>
          <a:noFill/>
        </p:spPr>
        <p:txBody>
          <a:bodyPr wrap="none">
            <a:spAutoFit/>
          </a:bodyPr>
          <a:lstStyle/>
          <a:p>
            <a:pPr algn="ctr">
              <a:defRPr sz="4400" b="1">
                <a:solidFill>
                  <a:srgbClr val="FFFFFF"/>
                </a:solidFill>
              </a:defRPr>
            </a:pPr>
            <a:r>
              <a:t>디지털 전환으로 업무 효율 혁신</a:t>
            </a:r>
          </a:p>
        </p:txBody>
      </p:sp>
      <p:sp>
        <p:nvSpPr>
          <p:cNvPr id="3" name="TextBox 2"/>
          <p:cNvSpPr txBox="1"/>
          <p:nvPr/>
        </p:nvSpPr>
        <p:spPr>
          <a:xfrm>
            <a:off x="457200" y="4114800"/>
            <a:ext cx="8229600" cy="914400"/>
          </a:xfrm>
          <a:prstGeom prst="rect">
            <a:avLst/>
          </a:prstGeom>
          <a:noFill/>
        </p:spPr>
        <p:txBody>
          <a:bodyPr wrap="none">
            <a:spAutoFit/>
          </a:bodyPr>
          <a:lstStyle/>
          <a:p>
            <a:pPr algn="ctr">
              <a:defRPr sz="2400">
                <a:solidFill>
                  <a:srgbClr val="06B6D4"/>
                </a:solidFill>
              </a:defRPr>
            </a:pPr>
            <a:r>
              <a:t>레거시 시스템의 한계를 극복합니다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FFFFFF"/>
                </a:solidFill>
              </a:defRPr>
            </a:pPr>
            <a:r>
              <a:t>경영진 요약 (Executive Summary)</a:t>
            </a:r>
          </a:p>
        </p:txBody>
      </p:sp>
      <p:sp>
        <p:nvSpPr>
          <p:cNvPr id="3" name="TextBox 2"/>
          <p:cNvSpPr txBox="1"/>
          <p:nvPr/>
        </p:nvSpPr>
        <p:spPr>
          <a:xfrm>
            <a:off x="457200" y="1371600"/>
            <a:ext cx="8229600" cy="4572000"/>
          </a:xfrm>
          <a:prstGeom prst="rect">
            <a:avLst/>
          </a:prstGeom>
          <a:noFill/>
        </p:spPr>
        <p:txBody>
          <a:bodyPr wrap="square">
            <a:spAutoFit/>
          </a:bodyPr>
          <a:lstStyle/>
          <a:p>
            <a:pPr>
              <a:spcBef>
                <a:spcPts val="1200"/>
              </a:spcBef>
              <a:defRPr sz="2000">
                <a:solidFill>
                  <a:srgbClr val="A0AEC0"/>
                </a:solidFill>
              </a:defRPr>
            </a:pPr>
            <a:r>
              <a:t>• 해결할 문제: 경영진 요약문</a:t>
            </a:r>
          </a:p>
          <a:p>
            <a:pPr>
              <a:spcBef>
                <a:spcPts val="1200"/>
              </a:spcBef>
              <a:defRPr sz="2000">
                <a:solidFill>
                  <a:srgbClr val="A0AEC0"/>
                </a:solidFill>
              </a:defRPr>
            </a:pPr>
            <a:r>
              <a:t>• 솔루션: 현재 투자자들은 주식, 귀금속, 암호화폐 등 자산 정보를 파악하기 위해 다수의 사이트와 앱을 개별적으로 확인해야 하며, 이로 인해 정보 탐색에 과도한 시간이 소요되고 시장 변화에 대한 대응이 지연되고 있습니다. 정보의 분산은 투자 판단의 정확도를 떨어뜨리고, 기회 손실로 이어지는 핵심 문제입니다.</a:t>
            </a:r>
          </a:p>
          <a:p>
            <a:pPr>
              <a:spcBef>
                <a:spcPts val="1200"/>
              </a:spcBef>
              <a:defRPr sz="2000">
                <a:solidFill>
                  <a:srgbClr val="A0AEC0"/>
                </a:solidFill>
              </a:defRPr>
            </a:pPr>
            <a:r>
              <a:t>• 예상 기간: 6개월</a:t>
            </a:r>
          </a:p>
          <a:p>
            <a:pPr>
              <a:spcBef>
                <a:spcPts val="1200"/>
              </a:spcBef>
              <a:defRPr sz="2000">
                <a:solidFill>
                  <a:srgbClr val="A0AEC0"/>
                </a:solidFill>
              </a:defRPr>
            </a:pPr>
            <a:r>
              <a:t>• 투입 공수: 38.4 M/M</a:t>
            </a:r>
          </a:p>
          <a:p>
            <a:pPr>
              <a:spcBef>
                <a:spcPts val="1200"/>
              </a:spcBef>
              <a:defRPr sz="2000">
                <a:solidFill>
                  <a:srgbClr val="A0AEC0"/>
                </a:solidFill>
              </a:defRPr>
            </a:pPr>
            <a:r>
              <a:t>• 핵심 효과: 투자 정보 탐색 시간 약 60% 단축 – 분산된 자산군(주식, 귀금속, 암호화폐) 정보를 단일 플랫폼에서 통합 조회함으로써 개별 사이트 접속 및 비교에 소요되는 시간 대폭 절감, 투자 의사결정 정확도 약 30% 향상 – 실시간 시세, 차트, 뉴스를 동시에 확인하여 데이터 기반의 신속하고 정확한 투자 판단 가능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7200" b="1">
                <a:solidFill>
                  <a:srgbClr val="7C3AED"/>
                </a:solidFill>
              </a:defRPr>
            </a:pPr>
            <a:r>
              <a:t>01</a:t>
            </a:r>
          </a:p>
        </p:txBody>
      </p:sp>
      <p:sp>
        <p:nvSpPr>
          <p:cNvPr id="3" name="TextBox 2"/>
          <p:cNvSpPr txBox="1"/>
          <p:nvPr/>
        </p:nvSpPr>
        <p:spPr>
          <a:xfrm>
            <a:off x="457200" y="3200400"/>
            <a:ext cx="8229600" cy="914400"/>
          </a:xfrm>
          <a:prstGeom prst="rect">
            <a:avLst/>
          </a:prstGeom>
          <a:noFill/>
        </p:spPr>
        <p:txBody>
          <a:bodyPr wrap="none">
            <a:spAutoFit/>
          </a:bodyPr>
          <a:lstStyle/>
          <a:p>
            <a:pPr algn="ctr">
              <a:defRPr sz="4000" b="1">
                <a:solidFill>
                  <a:srgbClr val="FFFFFF"/>
                </a:solidFill>
              </a:defRPr>
            </a:pPr>
            <a:r>
              <a:t>현재 상황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FFFFFF"/>
                </a:solidFill>
              </a:defRPr>
            </a:pPr>
            <a:r>
              <a:t>현재의 도전과 과제</a:t>
            </a:r>
          </a:p>
        </p:txBody>
      </p:sp>
      <p:sp>
        <p:nvSpPr>
          <p:cNvPr id="3" name="TextBox 2"/>
          <p:cNvSpPr txBox="1"/>
          <p:nvPr/>
        </p:nvSpPr>
        <p:spPr>
          <a:xfrm>
            <a:off x="457200" y="1371600"/>
            <a:ext cx="8229600" cy="4572000"/>
          </a:xfrm>
          <a:prstGeom prst="rect">
            <a:avLst/>
          </a:prstGeom>
          <a:noFill/>
        </p:spPr>
        <p:txBody>
          <a:bodyPr wrap="square">
            <a:spAutoFit/>
          </a:bodyPr>
          <a:lstStyle/>
          <a:p>
            <a:pPr>
              <a:spcBef>
                <a:spcPts val="1200"/>
              </a:spcBef>
              <a:defRPr sz="2000">
                <a:solidFill>
                  <a:srgbClr val="A0AEC0"/>
                </a:solidFill>
              </a:defRPr>
            </a:pPr>
            <a:r>
              <a:t>• 문제 1: 유지보수 인력 확보 어려움</a:t>
            </a:r>
          </a:p>
          <a:p>
            <a:pPr>
              <a:spcBef>
                <a:spcPts val="1200"/>
              </a:spcBef>
              <a:defRPr sz="2000">
                <a:solidFill>
                  <a:srgbClr val="A0AEC0"/>
                </a:solidFill>
              </a:defRPr>
            </a:pPr>
            <a:r>
              <a:t>• 문제 2: 수기 대장 작성 병행</a:t>
            </a:r>
          </a:p>
          <a:p>
            <a:pPr>
              <a:spcBef>
                <a:spcPts val="1200"/>
              </a:spcBef>
              <a:defRPr sz="2000">
                <a:solidFill>
                  <a:srgbClr val="A0AEC0"/>
                </a:solidFill>
              </a:defRPr>
            </a:pPr>
            <a:r>
              <a:t>• 문제 3: 운전기사 대기 시간 45분</a:t>
            </a:r>
          </a:p>
          <a:p>
            <a:pPr>
              <a:spcBef>
                <a:spcPts val="1200"/>
              </a:spcBef>
              <a:defRPr sz="2000">
                <a:solidFill>
                  <a:srgbClr val="A0AEC0"/>
                </a:solidFill>
              </a:defRPr>
            </a:pPr>
            <a:r>
              <a:t>• 문제 4: 실시간 현황 파악 어려움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FFFFFF"/>
                </a:solidFill>
              </a:defRPr>
            </a:pPr>
            <a:r>
              <a:t>변화하지 않으면?</a:t>
            </a:r>
          </a:p>
        </p:txBody>
      </p:sp>
      <p:sp>
        <p:nvSpPr>
          <p:cNvPr id="3" name="TextBox 2"/>
          <p:cNvSpPr txBox="1"/>
          <p:nvPr/>
        </p:nvSpPr>
        <p:spPr>
          <a:xfrm>
            <a:off x="457200" y="1371600"/>
            <a:ext cx="8229600" cy="4572000"/>
          </a:xfrm>
          <a:prstGeom prst="rect">
            <a:avLst/>
          </a:prstGeom>
          <a:noFill/>
        </p:spPr>
        <p:txBody>
          <a:bodyPr wrap="square">
            <a:spAutoFit/>
          </a:bodyPr>
          <a:lstStyle/>
          <a:p>
            <a:pPr>
              <a:spcBef>
                <a:spcPts val="1200"/>
              </a:spcBef>
              <a:defRPr sz="2000">
                <a:solidFill>
                  <a:srgbClr val="A0AEC0"/>
                </a:solidFill>
              </a:defRPr>
            </a:pPr>
            <a:r>
              <a:t>• 시스템 장애 시 복구 불가</a:t>
            </a:r>
          </a:p>
          <a:p>
            <a:pPr>
              <a:spcBef>
                <a:spcPts val="1200"/>
              </a:spcBef>
              <a:defRPr sz="2000">
                <a:solidFill>
                  <a:srgbClr val="A0AEC0"/>
                </a:solidFill>
              </a:defRPr>
            </a:pPr>
            <a:r>
              <a:t>• 인력 이탈 시 운영 마비</a:t>
            </a:r>
          </a:p>
          <a:p>
            <a:pPr>
              <a:spcBef>
                <a:spcPts val="1200"/>
              </a:spcBef>
              <a:defRPr sz="2000">
                <a:solidFill>
                  <a:srgbClr val="A0AEC0"/>
                </a:solidFill>
              </a:defRPr>
            </a:pPr>
            <a:r>
              <a:t>• 경쟁력 저하</a:t>
            </a:r>
          </a:p>
          <a:p>
            <a:pPr>
              <a:spcBef>
                <a:spcPts val="1200"/>
              </a:spcBef>
              <a:defRPr sz="2000">
                <a:solidFill>
                  <a:srgbClr val="A0AEC0"/>
                </a:solidFill>
              </a:defRPr>
            </a:pPr>
            <a:r>
              <a:t>• 고객 불만 증가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Before vs After</a:t>
            </a:r>
          </a:p>
        </p:txBody>
      </p:sp>
      <p:sp>
        <p:nvSpPr>
          <p:cNvPr id="3" name="Rounded Rectangle 2"/>
          <p:cNvSpPr/>
          <p:nvPr/>
        </p:nvSpPr>
        <p:spPr>
          <a:xfrm>
            <a:off x="274320" y="1097280"/>
            <a:ext cx="4023360" cy="53035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3657600" cy="457200"/>
          </a:xfrm>
          <a:prstGeom prst="rect">
            <a:avLst/>
          </a:prstGeom>
          <a:noFill/>
        </p:spPr>
        <p:txBody>
          <a:bodyPr wrap="none">
            <a:spAutoFit/>
          </a:bodyPr>
          <a:lstStyle/>
          <a:p>
            <a:pPr>
              <a:defRPr sz="2400" b="1">
                <a:solidFill>
                  <a:srgbClr val="F59E0B"/>
                </a:solidFill>
              </a:defRPr>
            </a:pPr>
            <a:r>
              <a:t>현재 (AS-IS)</a:t>
            </a:r>
          </a:p>
        </p:txBody>
      </p:sp>
      <p:sp>
        <p:nvSpPr>
          <p:cNvPr id="5" name="TextBox 4"/>
          <p:cNvSpPr txBox="1"/>
          <p:nvPr/>
        </p:nvSpPr>
        <p:spPr>
          <a:xfrm>
            <a:off x="457200" y="1828800"/>
            <a:ext cx="3657600" cy="4389120"/>
          </a:xfrm>
          <a:prstGeom prst="rect">
            <a:avLst/>
          </a:prstGeom>
          <a:noFill/>
        </p:spPr>
        <p:txBody>
          <a:bodyPr wrap="square">
            <a:spAutoFit/>
          </a:bodyPr>
          <a:lstStyle/>
          <a:p>
            <a:pPr>
              <a:spcBef>
                <a:spcPts val="800"/>
              </a:spcBef>
              <a:defRPr sz="1600">
                <a:solidFill>
                  <a:srgbClr val="A0AEC0"/>
                </a:solidFill>
              </a:defRPr>
            </a:pPr>
            <a:r>
              <a:t>• 유지보수 인력 확보 어려움</a:t>
            </a:r>
          </a:p>
          <a:p>
            <a:pPr>
              <a:spcBef>
                <a:spcPts val="800"/>
              </a:spcBef>
              <a:defRPr sz="1600">
                <a:solidFill>
                  <a:srgbClr val="A0AEC0"/>
                </a:solidFill>
              </a:defRPr>
            </a:pPr>
            <a:r>
              <a:t>• 수기 대장 작성 병행</a:t>
            </a:r>
          </a:p>
          <a:p>
            <a:pPr>
              <a:spcBef>
                <a:spcPts val="800"/>
              </a:spcBef>
              <a:defRPr sz="1600">
                <a:solidFill>
                  <a:srgbClr val="A0AEC0"/>
                </a:solidFill>
              </a:defRPr>
            </a:pPr>
            <a:r>
              <a:t>• 운전기사 대기 시간 45분</a:t>
            </a:r>
          </a:p>
          <a:p>
            <a:pPr>
              <a:spcBef>
                <a:spcPts val="800"/>
              </a:spcBef>
              <a:defRPr sz="1600">
                <a:solidFill>
                  <a:srgbClr val="A0AEC0"/>
                </a:solidFill>
              </a:defRPr>
            </a:pPr>
            <a:r>
              <a:t>• 실시간 현황 파악 어려움</a:t>
            </a:r>
          </a:p>
        </p:txBody>
      </p:sp>
      <p:sp>
        <p:nvSpPr>
          <p:cNvPr id="6" name="Rounded Rectangle 5"/>
          <p:cNvSpPr/>
          <p:nvPr/>
        </p:nvSpPr>
        <p:spPr>
          <a:xfrm>
            <a:off x="4846320" y="1097280"/>
            <a:ext cx="4023360" cy="53035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0" y="1280160"/>
            <a:ext cx="3657600" cy="457200"/>
          </a:xfrm>
          <a:prstGeom prst="rect">
            <a:avLst/>
          </a:prstGeom>
          <a:noFill/>
        </p:spPr>
        <p:txBody>
          <a:bodyPr wrap="none">
            <a:spAutoFit/>
          </a:bodyPr>
          <a:lstStyle/>
          <a:p>
            <a:pPr>
              <a:defRPr sz="2400" b="1">
                <a:solidFill>
                  <a:srgbClr val="10B981"/>
                </a:solidFill>
              </a:defRPr>
            </a:pPr>
            <a:r>
              <a:t>미래 (TO-BE)</a:t>
            </a:r>
          </a:p>
        </p:txBody>
      </p:sp>
      <p:sp>
        <p:nvSpPr>
          <p:cNvPr id="8" name="TextBox 7"/>
          <p:cNvSpPr txBox="1"/>
          <p:nvPr/>
        </p:nvSpPr>
        <p:spPr>
          <a:xfrm>
            <a:off x="5029200" y="1828800"/>
            <a:ext cx="3657600" cy="4389120"/>
          </a:xfrm>
          <a:prstGeom prst="rect">
            <a:avLst/>
          </a:prstGeom>
          <a:noFill/>
        </p:spPr>
        <p:txBody>
          <a:bodyPr wrap="square">
            <a:spAutoFit/>
          </a:bodyPr>
          <a:lstStyle/>
          <a:p>
            <a:pPr>
              <a:spcBef>
                <a:spcPts val="800"/>
              </a:spcBef>
              <a:defRPr sz="1600">
                <a:solidFill>
                  <a:srgbClr val="A0AEC0"/>
                </a:solidFill>
              </a:defRPr>
            </a:pPr>
            <a:r>
              <a:t>• 시세 데이터 실시간 갱신 지연시간 5초 이내</a:t>
            </a:r>
          </a:p>
          <a:p>
            <a:pPr>
              <a:spcBef>
                <a:spcPts val="800"/>
              </a:spcBef>
              <a:defRPr sz="1600">
                <a:solidFill>
                  <a:srgbClr val="A0AEC0"/>
                </a:solidFill>
              </a:defRPr>
            </a:pPr>
            <a:r>
              <a:t>• 대시보드 초기 로딩 시간 3초 이내</a:t>
            </a:r>
          </a:p>
          <a:p>
            <a:pPr>
              <a:spcBef>
                <a:spcPts val="800"/>
              </a:spcBef>
              <a:defRPr sz="1600">
                <a:solidFill>
                  <a:srgbClr val="A0AEC0"/>
                </a:solidFill>
              </a:defRPr>
            </a:pPr>
            <a:r>
              <a:t>• 일일 활성 사용자(DAU) 출시 3개월 내 1,000명 달성</a:t>
            </a:r>
          </a:p>
          <a:p>
            <a:pPr>
              <a:spcBef>
                <a:spcPts val="800"/>
              </a:spcBef>
              <a:defRPr sz="1600">
                <a:solidFill>
                  <a:srgbClr val="A0AEC0"/>
                </a:solidFill>
              </a:defRPr>
            </a:pPr>
            <a:r>
              <a:t>• 사용자 평균 세션 체류시간 5분 이상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7200" b="1">
                <a:solidFill>
                  <a:srgbClr val="7C3AED"/>
                </a:solidFill>
              </a:defRPr>
            </a:pPr>
            <a:r>
              <a:t>02</a:t>
            </a:r>
          </a:p>
        </p:txBody>
      </p:sp>
      <p:sp>
        <p:nvSpPr>
          <p:cNvPr id="3" name="TextBox 2"/>
          <p:cNvSpPr txBox="1"/>
          <p:nvPr/>
        </p:nvSpPr>
        <p:spPr>
          <a:xfrm>
            <a:off x="457200" y="3200400"/>
            <a:ext cx="8229600" cy="914400"/>
          </a:xfrm>
          <a:prstGeom prst="rect">
            <a:avLst/>
          </a:prstGeom>
          <a:noFill/>
        </p:spPr>
        <p:txBody>
          <a:bodyPr wrap="none">
            <a:spAutoFit/>
          </a:bodyPr>
          <a:lstStyle/>
          <a:p>
            <a:pPr algn="ctr">
              <a:defRPr sz="4000" b="1">
                <a:solidFill>
                  <a:srgbClr val="FFFFFF"/>
                </a:solidFill>
              </a:defRPr>
            </a:pPr>
            <a:r>
              <a:t>프로젝트 목표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목표 및 핵심 KPI</a:t>
            </a:r>
          </a:p>
        </p:txBody>
      </p:sp>
      <p:sp>
        <p:nvSpPr>
          <p:cNvPr id="3" name="Rounded Rectangle 2"/>
          <p:cNvSpPr/>
          <p:nvPr/>
        </p:nvSpPr>
        <p:spPr>
          <a:xfrm>
            <a:off x="274320" y="1188720"/>
            <a:ext cx="4114800" cy="219456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3657600" cy="365760"/>
          </a:xfrm>
          <a:prstGeom prst="rect">
            <a:avLst/>
          </a:prstGeom>
          <a:noFill/>
        </p:spPr>
        <p:txBody>
          <a:bodyPr wrap="none">
            <a:spAutoFit/>
          </a:bodyPr>
          <a:lstStyle/>
          <a:p>
            <a:pPr>
              <a:defRPr sz="1600">
                <a:solidFill>
                  <a:srgbClr val="A0AEC0"/>
                </a:solidFill>
              </a:defRPr>
            </a:pPr>
            <a:r>
              <a:t>시세 데이터 실시간 갱신 지연시간 5</a:t>
            </a:r>
          </a:p>
        </p:txBody>
      </p:sp>
      <p:sp>
        <p:nvSpPr>
          <p:cNvPr id="5" name="TextBox 4"/>
          <p:cNvSpPr txBox="1"/>
          <p:nvPr/>
        </p:nvSpPr>
        <p:spPr>
          <a:xfrm>
            <a:off x="457200" y="1828800"/>
            <a:ext cx="3657600" cy="731520"/>
          </a:xfrm>
          <a:prstGeom prst="rect">
            <a:avLst/>
          </a:prstGeom>
          <a:noFill/>
        </p:spPr>
        <p:txBody>
          <a:bodyPr wrap="none">
            <a:spAutoFit/>
          </a:bodyPr>
          <a:lstStyle/>
          <a:p>
            <a:pPr>
              <a:defRPr sz="2800" b="1">
                <a:solidFill>
                  <a:srgbClr val="7C3AED"/>
                </a:solidFill>
              </a:defRPr>
            </a:pPr>
            <a:r>
              <a:t>- → 시세 데이터 실시간 갱신 지연시간 5초 이내</a:t>
            </a:r>
          </a:p>
        </p:txBody>
      </p:sp>
      <p:sp>
        <p:nvSpPr>
          <p:cNvPr id="6" name="TextBox 5"/>
          <p:cNvSpPr txBox="1"/>
          <p:nvPr/>
        </p:nvSpPr>
        <p:spPr>
          <a:xfrm>
            <a:off x="457200" y="2651760"/>
            <a:ext cx="3657600" cy="457200"/>
          </a:xfrm>
          <a:prstGeom prst="rect">
            <a:avLst/>
          </a:prstGeom>
          <a:noFill/>
        </p:spPr>
        <p:txBody>
          <a:bodyPr wrap="none">
            <a:spAutoFit/>
          </a:bodyPr>
          <a:lstStyle/>
          <a:p>
            <a:pPr>
              <a:defRPr sz="1800">
                <a:solidFill>
                  <a:srgbClr val="10B981"/>
                </a:solidFill>
              </a:defRPr>
            </a:pPr>
          </a:p>
        </p:txBody>
      </p:sp>
      <p:sp>
        <p:nvSpPr>
          <p:cNvPr id="7" name="Rounded Rectangle 6"/>
          <p:cNvSpPr/>
          <p:nvPr/>
        </p:nvSpPr>
        <p:spPr>
          <a:xfrm>
            <a:off x="4572000" y="1188720"/>
            <a:ext cx="4114800" cy="219456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1371600"/>
            <a:ext cx="3657600" cy="365760"/>
          </a:xfrm>
          <a:prstGeom prst="rect">
            <a:avLst/>
          </a:prstGeom>
          <a:noFill/>
        </p:spPr>
        <p:txBody>
          <a:bodyPr wrap="none">
            <a:spAutoFit/>
          </a:bodyPr>
          <a:lstStyle/>
          <a:p>
            <a:pPr>
              <a:defRPr sz="1600">
                <a:solidFill>
                  <a:srgbClr val="A0AEC0"/>
                </a:solidFill>
              </a:defRPr>
            </a:pPr>
            <a:r>
              <a:t>대시보드 초기 로딩 시간 3초 이내</a:t>
            </a:r>
          </a:p>
        </p:txBody>
      </p:sp>
      <p:sp>
        <p:nvSpPr>
          <p:cNvPr id="9" name="TextBox 8"/>
          <p:cNvSpPr txBox="1"/>
          <p:nvPr/>
        </p:nvSpPr>
        <p:spPr>
          <a:xfrm>
            <a:off x="4754880" y="1828800"/>
            <a:ext cx="3657600" cy="731520"/>
          </a:xfrm>
          <a:prstGeom prst="rect">
            <a:avLst/>
          </a:prstGeom>
          <a:noFill/>
        </p:spPr>
        <p:txBody>
          <a:bodyPr wrap="none">
            <a:spAutoFit/>
          </a:bodyPr>
          <a:lstStyle/>
          <a:p>
            <a:pPr>
              <a:defRPr sz="2800" b="1">
                <a:solidFill>
                  <a:srgbClr val="7C3AED"/>
                </a:solidFill>
              </a:defRPr>
            </a:pPr>
            <a:r>
              <a:t>- → 대시보드 초기 로딩 시간 3초 이내</a:t>
            </a:r>
          </a:p>
        </p:txBody>
      </p:sp>
      <p:sp>
        <p:nvSpPr>
          <p:cNvPr id="10" name="TextBox 9"/>
          <p:cNvSpPr txBox="1"/>
          <p:nvPr/>
        </p:nvSpPr>
        <p:spPr>
          <a:xfrm>
            <a:off x="4754880" y="2651760"/>
            <a:ext cx="3657600" cy="457200"/>
          </a:xfrm>
          <a:prstGeom prst="rect">
            <a:avLst/>
          </a:prstGeom>
          <a:noFill/>
        </p:spPr>
        <p:txBody>
          <a:bodyPr wrap="none">
            <a:spAutoFit/>
          </a:bodyPr>
          <a:lstStyle/>
          <a:p>
            <a:pPr>
              <a:defRPr sz="1800">
                <a:solidFill>
                  <a:srgbClr val="10B981"/>
                </a:solidFill>
              </a:defRPr>
            </a:pPr>
          </a:p>
        </p:txBody>
      </p:sp>
      <p:sp>
        <p:nvSpPr>
          <p:cNvPr id="11" name="Rounded Rectangle 10"/>
          <p:cNvSpPr/>
          <p:nvPr/>
        </p:nvSpPr>
        <p:spPr>
          <a:xfrm>
            <a:off x="274320" y="3657600"/>
            <a:ext cx="4114800" cy="219456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840480"/>
            <a:ext cx="3657600" cy="365760"/>
          </a:xfrm>
          <a:prstGeom prst="rect">
            <a:avLst/>
          </a:prstGeom>
          <a:noFill/>
        </p:spPr>
        <p:txBody>
          <a:bodyPr wrap="none">
            <a:spAutoFit/>
          </a:bodyPr>
          <a:lstStyle/>
          <a:p>
            <a:pPr>
              <a:defRPr sz="1600">
                <a:solidFill>
                  <a:srgbClr val="A0AEC0"/>
                </a:solidFill>
              </a:defRPr>
            </a:pPr>
            <a:r>
              <a:t>일일 활성 사용자(DAU) 출시 3개</a:t>
            </a:r>
          </a:p>
        </p:txBody>
      </p:sp>
      <p:sp>
        <p:nvSpPr>
          <p:cNvPr id="13" name="TextBox 12"/>
          <p:cNvSpPr txBox="1"/>
          <p:nvPr/>
        </p:nvSpPr>
        <p:spPr>
          <a:xfrm>
            <a:off x="457200" y="4297680"/>
            <a:ext cx="3657600" cy="731520"/>
          </a:xfrm>
          <a:prstGeom prst="rect">
            <a:avLst/>
          </a:prstGeom>
          <a:noFill/>
        </p:spPr>
        <p:txBody>
          <a:bodyPr wrap="none">
            <a:spAutoFit/>
          </a:bodyPr>
          <a:lstStyle/>
          <a:p>
            <a:pPr>
              <a:defRPr sz="2800" b="1">
                <a:solidFill>
                  <a:srgbClr val="7C3AED"/>
                </a:solidFill>
              </a:defRPr>
            </a:pPr>
            <a:r>
              <a:t>- → 일일 활성 사용자(DAU) 출시 3개월 내 1,000명 달성</a:t>
            </a:r>
          </a:p>
        </p:txBody>
      </p:sp>
      <p:sp>
        <p:nvSpPr>
          <p:cNvPr id="14" name="TextBox 13"/>
          <p:cNvSpPr txBox="1"/>
          <p:nvPr/>
        </p:nvSpPr>
        <p:spPr>
          <a:xfrm>
            <a:off x="457200" y="5120640"/>
            <a:ext cx="3657600" cy="457200"/>
          </a:xfrm>
          <a:prstGeom prst="rect">
            <a:avLst/>
          </a:prstGeom>
          <a:noFill/>
        </p:spPr>
        <p:txBody>
          <a:bodyPr wrap="none">
            <a:spAutoFit/>
          </a:bodyPr>
          <a:lstStyle/>
          <a:p>
            <a:pPr>
              <a:defRPr sz="1800">
                <a:solidFill>
                  <a:srgbClr val="10B981"/>
                </a:solidFill>
              </a:defRPr>
            </a:pPr>
          </a:p>
        </p:txBody>
      </p:sp>
      <p:sp>
        <p:nvSpPr>
          <p:cNvPr id="15" name="Rounded Rectangle 14"/>
          <p:cNvSpPr/>
          <p:nvPr/>
        </p:nvSpPr>
        <p:spPr>
          <a:xfrm>
            <a:off x="4572000" y="3657600"/>
            <a:ext cx="4114800" cy="219456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3840480"/>
            <a:ext cx="3657600" cy="365760"/>
          </a:xfrm>
          <a:prstGeom prst="rect">
            <a:avLst/>
          </a:prstGeom>
          <a:noFill/>
        </p:spPr>
        <p:txBody>
          <a:bodyPr wrap="none">
            <a:spAutoFit/>
          </a:bodyPr>
          <a:lstStyle/>
          <a:p>
            <a:pPr>
              <a:defRPr sz="1600">
                <a:solidFill>
                  <a:srgbClr val="A0AEC0"/>
                </a:solidFill>
              </a:defRPr>
            </a:pPr>
            <a:r>
              <a:t>사용자 평균 세션 체류시간 5분 이상</a:t>
            </a:r>
          </a:p>
        </p:txBody>
      </p:sp>
      <p:sp>
        <p:nvSpPr>
          <p:cNvPr id="17" name="TextBox 16"/>
          <p:cNvSpPr txBox="1"/>
          <p:nvPr/>
        </p:nvSpPr>
        <p:spPr>
          <a:xfrm>
            <a:off x="4754880" y="4297680"/>
            <a:ext cx="3657600" cy="731520"/>
          </a:xfrm>
          <a:prstGeom prst="rect">
            <a:avLst/>
          </a:prstGeom>
          <a:noFill/>
        </p:spPr>
        <p:txBody>
          <a:bodyPr wrap="none">
            <a:spAutoFit/>
          </a:bodyPr>
          <a:lstStyle/>
          <a:p>
            <a:pPr>
              <a:defRPr sz="2800" b="1">
                <a:solidFill>
                  <a:srgbClr val="7C3AED"/>
                </a:solidFill>
              </a:defRPr>
            </a:pPr>
            <a:r>
              <a:t>- → 사용자 평균 세션 체류시간 5분 이상</a:t>
            </a:r>
          </a:p>
        </p:txBody>
      </p:sp>
      <p:sp>
        <p:nvSpPr>
          <p:cNvPr id="18" name="TextBox 17"/>
          <p:cNvSpPr txBox="1"/>
          <p:nvPr/>
        </p:nvSpPr>
        <p:spPr>
          <a:xfrm>
            <a:off x="4754880" y="5120640"/>
            <a:ext cx="3657600" cy="457200"/>
          </a:xfrm>
          <a:prstGeom prst="rect">
            <a:avLst/>
          </a:prstGeom>
          <a:noFill/>
        </p:spPr>
        <p:txBody>
          <a:bodyPr wrap="none">
            <a:spAutoFit/>
          </a:bodyPr>
          <a:lstStyle/>
          <a:p>
            <a:pPr>
              <a:defRPr sz="1800">
                <a:solidFill>
                  <a:srgbClr val="10B981"/>
                </a:solidFill>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7200" b="1">
                <a:solidFill>
                  <a:srgbClr val="7C3AED"/>
                </a:solidFill>
              </a:defRPr>
            </a:pPr>
            <a:r>
              <a:t>03</a:t>
            </a:r>
          </a:p>
        </p:txBody>
      </p:sp>
      <p:sp>
        <p:nvSpPr>
          <p:cNvPr id="3" name="TextBox 2"/>
          <p:cNvSpPr txBox="1"/>
          <p:nvPr/>
        </p:nvSpPr>
        <p:spPr>
          <a:xfrm>
            <a:off x="457200" y="3200400"/>
            <a:ext cx="8229600" cy="914400"/>
          </a:xfrm>
          <a:prstGeom prst="rect">
            <a:avLst/>
          </a:prstGeom>
          <a:noFill/>
        </p:spPr>
        <p:txBody>
          <a:bodyPr wrap="none">
            <a:spAutoFit/>
          </a:bodyPr>
          <a:lstStyle/>
          <a:p>
            <a:pPr algn="ctr">
              <a:defRPr sz="4000" b="1">
                <a:solidFill>
                  <a:srgbClr val="FFFFFF"/>
                </a:solidFill>
              </a:defRPr>
            </a:pPr>
            <a:r>
              <a:t>우리의 솔루션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286000"/>
            <a:ext cx="8229600" cy="1828800"/>
          </a:xfrm>
          <a:prstGeom prst="rect">
            <a:avLst/>
          </a:prstGeom>
          <a:noFill/>
        </p:spPr>
        <p:txBody>
          <a:bodyPr wrap="none">
            <a:spAutoFit/>
          </a:bodyPr>
          <a:lstStyle/>
          <a:p>
            <a:pPr algn="ctr">
              <a:defRPr sz="4400" b="1">
                <a:solidFill>
                  <a:srgbClr val="FFFFFF"/>
                </a:solidFill>
              </a:defRPr>
            </a:pPr>
            <a:r>
              <a:t>손으로 쓰던 전표가 스마트폰으로</a:t>
            </a:r>
          </a:p>
        </p:txBody>
      </p:sp>
      <p:sp>
        <p:nvSpPr>
          <p:cNvPr id="3" name="TextBox 2"/>
          <p:cNvSpPr txBox="1"/>
          <p:nvPr/>
        </p:nvSpPr>
        <p:spPr>
          <a:xfrm>
            <a:off x="457200" y="4114800"/>
            <a:ext cx="8229600" cy="914400"/>
          </a:xfrm>
          <a:prstGeom prst="rect">
            <a:avLst/>
          </a:prstGeom>
          <a:noFill/>
        </p:spPr>
        <p:txBody>
          <a:bodyPr wrap="none">
            <a:spAutoFit/>
          </a:bodyPr>
          <a:lstStyle/>
          <a:p>
            <a:pPr algn="ctr">
              <a:defRPr sz="2400">
                <a:solidFill>
                  <a:srgbClr val="06B6D4"/>
                </a:solidFill>
              </a:defRPr>
            </a:pPr>
            <a:r>
              <a:t>주식, 암호화폐, 금/은 등 다양한 금융 자산의 시세와 차트를 실시간으로 모니터링할 수 있는 웹 기반 대시보드 포털을 구축합니다. 사용자는 단일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작업 범위 (Scope)</a:t>
            </a:r>
          </a:p>
        </p:txBody>
      </p:sp>
      <p:sp>
        <p:nvSpPr>
          <p:cNvPr id="3" name="Rounded Rectangle 2"/>
          <p:cNvSpPr/>
          <p:nvPr/>
        </p:nvSpPr>
        <p:spPr>
          <a:xfrm>
            <a:off x="274320" y="1097280"/>
            <a:ext cx="4023360" cy="53035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3657600" cy="457200"/>
          </a:xfrm>
          <a:prstGeom prst="rect">
            <a:avLst/>
          </a:prstGeom>
          <a:noFill/>
        </p:spPr>
        <p:txBody>
          <a:bodyPr wrap="none">
            <a:spAutoFit/>
          </a:bodyPr>
          <a:lstStyle/>
          <a:p>
            <a:pPr>
              <a:defRPr sz="2400" b="1">
                <a:solidFill>
                  <a:srgbClr val="F59E0B"/>
                </a:solidFill>
              </a:defRPr>
            </a:pPr>
            <a:r>
              <a:t>포함 (In-Scope)</a:t>
            </a:r>
          </a:p>
        </p:txBody>
      </p:sp>
      <p:sp>
        <p:nvSpPr>
          <p:cNvPr id="5" name="TextBox 4"/>
          <p:cNvSpPr txBox="1"/>
          <p:nvPr/>
        </p:nvSpPr>
        <p:spPr>
          <a:xfrm>
            <a:off x="457200" y="1828800"/>
            <a:ext cx="3657600" cy="4389120"/>
          </a:xfrm>
          <a:prstGeom prst="rect">
            <a:avLst/>
          </a:prstGeom>
          <a:noFill/>
        </p:spPr>
        <p:txBody>
          <a:bodyPr wrap="square">
            <a:spAutoFit/>
          </a:bodyPr>
          <a:lstStyle/>
          <a:p>
            <a:pPr>
              <a:spcBef>
                <a:spcPts val="800"/>
              </a:spcBef>
              <a:defRPr sz="1600">
                <a:solidFill>
                  <a:srgbClr val="A0AEC0"/>
                </a:solidFill>
              </a:defRPr>
            </a:pPr>
            <a:r>
              <a:t>• : 주식 시세 조회, 실시간 차트, 종목 상세정보, 뉴스 피드, 금/은 시세, 암호화폐 시세, 국내 시장지수(KOSPI, KOSDAQ 등), 해외 시장지수(S&amp;P500, NASDAQ, 다우존스 등)를 포함하는 웹 기반 대시보드 포털 개발</a:t>
            </a:r>
          </a:p>
          <a:p>
            <a:pPr>
              <a:spcBef>
                <a:spcPts val="800"/>
              </a:spcBef>
              <a:defRPr sz="1600">
                <a:solidFill>
                  <a:srgbClr val="A0AEC0"/>
                </a:solidFill>
              </a:defRPr>
            </a:pPr>
            <a:r>
              <a:t>• : 주식 웹 포털 대시보드 구축</a:t>
            </a:r>
          </a:p>
          <a:p>
            <a:pPr>
              <a:spcBef>
                <a:spcPts val="800"/>
              </a:spcBef>
              <a:defRPr sz="1600">
                <a:solidFill>
                  <a:srgbClr val="A0AEC0"/>
                </a:solidFill>
              </a:defRPr>
            </a:pPr>
            <a:r>
              <a:t>• : 주식 차트 표시 (실시간 업데이트, 조회 전용)</a:t>
            </a:r>
          </a:p>
          <a:p>
            <a:pPr>
              <a:spcBef>
                <a:spcPts val="800"/>
              </a:spcBef>
              <a:defRPr sz="1600">
                <a:solidFill>
                  <a:srgbClr val="A0AEC0"/>
                </a:solidFill>
              </a:defRPr>
            </a:pPr>
            <a:r>
              <a:t>• : 국내주식 시세 표시 (에스피지, 에코프로, 셀트리온)</a:t>
            </a:r>
          </a:p>
          <a:p>
            <a:pPr>
              <a:spcBef>
                <a:spcPts val="800"/>
              </a:spcBef>
              <a:defRPr sz="1600">
                <a:solidFill>
                  <a:srgbClr val="A0AEC0"/>
                </a:solidFill>
              </a:defRPr>
            </a:pPr>
            <a:r>
              <a:t>• : 해외주식 시세 표시 (비트마인, 알파벳 C, 피그마)</a:t>
            </a:r>
          </a:p>
        </p:txBody>
      </p:sp>
      <p:sp>
        <p:nvSpPr>
          <p:cNvPr id="6" name="Rounded Rectangle 5"/>
          <p:cNvSpPr/>
          <p:nvPr/>
        </p:nvSpPr>
        <p:spPr>
          <a:xfrm>
            <a:off x="4846320" y="1097280"/>
            <a:ext cx="4023360" cy="53035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0" y="1280160"/>
            <a:ext cx="3657600" cy="457200"/>
          </a:xfrm>
          <a:prstGeom prst="rect">
            <a:avLst/>
          </a:prstGeom>
          <a:noFill/>
        </p:spPr>
        <p:txBody>
          <a:bodyPr wrap="none">
            <a:spAutoFit/>
          </a:bodyPr>
          <a:lstStyle/>
          <a:p>
            <a:pPr>
              <a:defRPr sz="2400" b="1">
                <a:solidFill>
                  <a:srgbClr val="10B981"/>
                </a:solidFill>
              </a:defRPr>
            </a:pPr>
            <a:r>
              <a:t>제외 (Out of Scope)</a:t>
            </a:r>
          </a:p>
        </p:txBody>
      </p:sp>
      <p:sp>
        <p:nvSpPr>
          <p:cNvPr id="8" name="TextBox 7"/>
          <p:cNvSpPr txBox="1"/>
          <p:nvPr/>
        </p:nvSpPr>
        <p:spPr>
          <a:xfrm>
            <a:off x="5029200" y="1828800"/>
            <a:ext cx="3657600" cy="4389120"/>
          </a:xfrm>
          <a:prstGeom prst="rect">
            <a:avLst/>
          </a:prstGeom>
          <a:noFill/>
        </p:spPr>
        <p:txBody>
          <a:bodyPr wrap="square">
            <a:spAutoFit/>
          </a:bodyPr>
          <a:lstStyle/>
          <a:p>
            <a:pPr>
              <a:spcBef>
                <a:spcPts val="800"/>
              </a:spcBef>
              <a:defRPr sz="1600">
                <a:solidFill>
                  <a:srgbClr val="A0AEC0"/>
                </a:solidFill>
              </a:defRPr>
            </a:pPr>
            <a:r>
              <a:t>• 실제 매매/주문 기능 (트레이딩 기능)</a:t>
            </a:r>
          </a:p>
          <a:p>
            <a:pPr>
              <a:spcBef>
                <a:spcPts val="800"/>
              </a:spcBef>
              <a:defRPr sz="1600">
                <a:solidFill>
                  <a:srgbClr val="A0AEC0"/>
                </a:solidFill>
              </a:defRPr>
            </a:pPr>
            <a:r>
              <a:t>• 사용자 포트폴리오 관리 및 수익률 추적</a:t>
            </a:r>
          </a:p>
          <a:p>
            <a:pPr>
              <a:spcBef>
                <a:spcPts val="800"/>
              </a:spcBef>
              <a:defRPr sz="1600">
                <a:solidFill>
                  <a:srgbClr val="A0AEC0"/>
                </a:solidFill>
              </a:defRPr>
            </a:pPr>
            <a:r>
              <a:t>• 모바일 네이티브 앱 개발</a:t>
            </a:r>
          </a:p>
          <a:p>
            <a:pPr>
              <a:spcBef>
                <a:spcPts val="800"/>
              </a:spcBef>
              <a:defRPr sz="1600">
                <a:solidFill>
                  <a:srgbClr val="A0AEC0"/>
                </a:solidFill>
              </a:defRPr>
            </a:pPr>
            <a:r>
              <a:t>• 증권사 계좌 연동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FFFFFF"/>
                </a:solidFill>
              </a:defRPr>
            </a:pPr>
            <a:r>
              <a:t>기술 스택 (Technology Stack)</a:t>
            </a:r>
          </a:p>
        </p:txBody>
      </p:sp>
      <p:sp>
        <p:nvSpPr>
          <p:cNvPr id="3" name="TextBox 2"/>
          <p:cNvSpPr txBox="1"/>
          <p:nvPr/>
        </p:nvSpPr>
        <p:spPr>
          <a:xfrm>
            <a:off x="457200" y="1371600"/>
            <a:ext cx="8229600" cy="4572000"/>
          </a:xfrm>
          <a:prstGeom prst="rect">
            <a:avLst/>
          </a:prstGeom>
          <a:noFill/>
        </p:spPr>
        <p:txBody>
          <a:bodyPr wrap="square">
            <a:spAutoFit/>
          </a:bodyPr>
          <a:lstStyle/>
          <a:p>
            <a:pPr>
              <a:spcBef>
                <a:spcPts val="1200"/>
              </a:spcBef>
              <a:defRPr sz="2000">
                <a:solidFill>
                  <a:srgbClr val="A0AEC0"/>
                </a:solidFill>
              </a:defRPr>
            </a:pPr>
            <a:r>
              <a:t>• 프론트엔드: Next.js 14, TypeScript, Tailwind CSS</a:t>
            </a:r>
          </a:p>
          <a:p>
            <a:pPr>
              <a:spcBef>
                <a:spcPts val="1200"/>
              </a:spcBef>
              <a:defRPr sz="2000">
                <a:solidFill>
                  <a:srgbClr val="A0AEC0"/>
                </a:solidFill>
              </a:defRPr>
            </a:pPr>
            <a:r>
              <a:t>• 차트: TradingView Lightweight Charts (오픈소스)</a:t>
            </a:r>
          </a:p>
          <a:p>
            <a:pPr>
              <a:spcBef>
                <a:spcPts val="1200"/>
              </a:spcBef>
              <a:defRPr sz="2000">
                <a:solidFill>
                  <a:srgbClr val="A0AEC0"/>
                </a:solidFill>
              </a:defRPr>
            </a:pPr>
            <a:r>
              <a:t>• 데이터 페칭: TanStack Query (React Query)</a:t>
            </a:r>
          </a:p>
          <a:p>
            <a:pPr>
              <a:spcBef>
                <a:spcPts val="1200"/>
              </a:spcBef>
              <a:defRPr sz="2000">
                <a:solidFill>
                  <a:srgbClr val="A0AEC0"/>
                </a:solidFill>
              </a:defRPr>
            </a:pPr>
            <a:r>
              <a:t>• 백엔드: Python 3.12, FastAPI</a:t>
            </a:r>
          </a:p>
          <a:p>
            <a:pPr>
              <a:spcBef>
                <a:spcPts val="1200"/>
              </a:spcBef>
              <a:defRPr sz="2000">
                <a:solidFill>
                  <a:srgbClr val="A0AEC0"/>
                </a:solidFill>
              </a:defRPr>
            </a:pPr>
            <a:r>
              <a:t>• 실시간 통신: WebSocket (FastAPI WebSocket)</a:t>
            </a:r>
          </a:p>
          <a:p>
            <a:pPr>
              <a:spcBef>
                <a:spcPts val="1200"/>
              </a:spcBef>
              <a:defRPr sz="2000">
                <a:solidFill>
                  <a:srgbClr val="A0AEC0"/>
                </a:solidFill>
              </a:defRPr>
            </a:pPr>
            <a:r>
              <a:t>• 데이터베이스: PostgreSQL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7200" b="1">
                <a:solidFill>
                  <a:srgbClr val="7C3AED"/>
                </a:solidFill>
              </a:defRPr>
            </a:pPr>
            <a:r>
              <a:t>04</a:t>
            </a:r>
          </a:p>
        </p:txBody>
      </p:sp>
      <p:sp>
        <p:nvSpPr>
          <p:cNvPr id="3" name="TextBox 2"/>
          <p:cNvSpPr txBox="1"/>
          <p:nvPr/>
        </p:nvSpPr>
        <p:spPr>
          <a:xfrm>
            <a:off x="457200" y="3200400"/>
            <a:ext cx="8229600" cy="914400"/>
          </a:xfrm>
          <a:prstGeom prst="rect">
            <a:avLst/>
          </a:prstGeom>
          <a:noFill/>
        </p:spPr>
        <p:txBody>
          <a:bodyPr wrap="none">
            <a:spAutoFit/>
          </a:bodyPr>
          <a:lstStyle/>
          <a:p>
            <a:pPr algn="ctr">
              <a:defRPr sz="4000" b="1">
                <a:solidFill>
                  <a:srgbClr val="FFFFFF"/>
                </a:solidFill>
              </a:defRPr>
            </a:pPr>
            <a:r>
              <a:t>일정 계획</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프로젝트 타임라인 (6개월)</a:t>
            </a:r>
          </a:p>
        </p:txBody>
      </p:sp>
      <p:sp>
        <p:nvSpPr>
          <p:cNvPr id="3" name="Rounded Rectangle 2"/>
          <p:cNvSpPr/>
          <p:nvPr/>
        </p:nvSpPr>
        <p:spPr>
          <a:xfrm>
            <a:off x="457200" y="2743200"/>
            <a:ext cx="2651760" cy="54864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0"/>
            <a:ext cx="2743200" cy="548640"/>
          </a:xfrm>
          <a:prstGeom prst="rect">
            <a:avLst/>
          </a:prstGeom>
          <a:noFill/>
        </p:spPr>
        <p:txBody>
          <a:bodyPr wrap="none">
            <a:spAutoFit/>
          </a:bodyPr>
          <a:lstStyle/>
          <a:p>
            <a:pPr algn="ctr">
              <a:defRPr sz="1600" b="1">
                <a:solidFill>
                  <a:srgbClr val="FFFFFF"/>
                </a:solidFill>
              </a:defRPr>
            </a:pPr>
            <a:r>
              <a:t>Phase 1 - MVP (핵심 대시보드)</a:t>
            </a:r>
          </a:p>
        </p:txBody>
      </p:sp>
      <p:sp>
        <p:nvSpPr>
          <p:cNvPr id="5" name="TextBox 4"/>
          <p:cNvSpPr txBox="1"/>
          <p:nvPr/>
        </p:nvSpPr>
        <p:spPr>
          <a:xfrm>
            <a:off x="457200" y="3474720"/>
            <a:ext cx="2743200" cy="731520"/>
          </a:xfrm>
          <a:prstGeom prst="rect">
            <a:avLst/>
          </a:prstGeom>
          <a:noFill/>
        </p:spPr>
        <p:txBody>
          <a:bodyPr wrap="none">
            <a:spAutoFit/>
          </a:bodyPr>
          <a:lstStyle/>
          <a:p>
            <a:pPr algn="ctr">
              <a:defRPr sz="1400">
                <a:solidFill>
                  <a:srgbClr val="A0AEC0"/>
                </a:solidFill>
              </a:defRPr>
            </a:pPr>
            <a:r>
              <a:t>6주</a:t>
            </a:r>
            <a:br/>
            <a:r>
              <a:t>핵심 대시보드 프레임워크 및 실시간 데이터 기반 구축</a:t>
            </a:r>
          </a:p>
        </p:txBody>
      </p:sp>
      <p:sp>
        <p:nvSpPr>
          <p:cNvPr id="6" name="Rounded Rectangle 5"/>
          <p:cNvSpPr/>
          <p:nvPr/>
        </p:nvSpPr>
        <p:spPr>
          <a:xfrm>
            <a:off x="3200400" y="2743200"/>
            <a:ext cx="2651760" cy="5486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0" y="2011680"/>
            <a:ext cx="2743200" cy="548640"/>
          </a:xfrm>
          <a:prstGeom prst="rect">
            <a:avLst/>
          </a:prstGeom>
          <a:noFill/>
        </p:spPr>
        <p:txBody>
          <a:bodyPr wrap="none">
            <a:spAutoFit/>
          </a:bodyPr>
          <a:lstStyle/>
          <a:p>
            <a:pPr algn="ctr">
              <a:defRPr sz="1600" b="1">
                <a:solidFill>
                  <a:srgbClr val="FFFFFF"/>
                </a:solidFill>
              </a:defRPr>
            </a:pPr>
            <a:r>
              <a:t>Phase 2 - 해외주식 및 추가 자산군</a:t>
            </a:r>
          </a:p>
        </p:txBody>
      </p:sp>
      <p:sp>
        <p:nvSpPr>
          <p:cNvPr id="8" name="TextBox 7"/>
          <p:cNvSpPr txBox="1"/>
          <p:nvPr/>
        </p:nvSpPr>
        <p:spPr>
          <a:xfrm>
            <a:off x="3200400" y="3474720"/>
            <a:ext cx="2743200" cy="731520"/>
          </a:xfrm>
          <a:prstGeom prst="rect">
            <a:avLst/>
          </a:prstGeom>
          <a:noFill/>
        </p:spPr>
        <p:txBody>
          <a:bodyPr wrap="none">
            <a:spAutoFit/>
          </a:bodyPr>
          <a:lstStyle/>
          <a:p>
            <a:pPr algn="ctr">
              <a:defRPr sz="1400">
                <a:solidFill>
                  <a:srgbClr val="A0AEC0"/>
                </a:solidFill>
              </a:defRPr>
            </a:pPr>
            <a:r>
              <a:t>6주</a:t>
            </a:r>
            <a:br/>
            <a:r>
              <a:t>해외 자산 및 원자재/환율 시세 통합</a:t>
            </a:r>
          </a:p>
        </p:txBody>
      </p:sp>
      <p:sp>
        <p:nvSpPr>
          <p:cNvPr id="9" name="Rounded Rectangle 8"/>
          <p:cNvSpPr/>
          <p:nvPr/>
        </p:nvSpPr>
        <p:spPr>
          <a:xfrm>
            <a:off x="5943600" y="2743200"/>
            <a:ext cx="2651760" cy="5486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0" y="2011680"/>
            <a:ext cx="2743200" cy="548640"/>
          </a:xfrm>
          <a:prstGeom prst="rect">
            <a:avLst/>
          </a:prstGeom>
          <a:noFill/>
        </p:spPr>
        <p:txBody>
          <a:bodyPr wrap="none">
            <a:spAutoFit/>
          </a:bodyPr>
          <a:lstStyle/>
          <a:p>
            <a:pPr algn="ctr">
              <a:defRPr sz="1600" b="1">
                <a:solidFill>
                  <a:srgbClr val="FFFFFF"/>
                </a:solidFill>
              </a:defRPr>
            </a:pPr>
            <a:r>
              <a:t>Phase 3 - 뉴스 및 종합 기능</a:t>
            </a:r>
          </a:p>
        </p:txBody>
      </p:sp>
      <p:sp>
        <p:nvSpPr>
          <p:cNvPr id="11" name="TextBox 10"/>
          <p:cNvSpPr txBox="1"/>
          <p:nvPr/>
        </p:nvSpPr>
        <p:spPr>
          <a:xfrm>
            <a:off x="5943600" y="3474720"/>
            <a:ext cx="2743200" cy="731520"/>
          </a:xfrm>
          <a:prstGeom prst="rect">
            <a:avLst/>
          </a:prstGeom>
          <a:noFill/>
        </p:spPr>
        <p:txBody>
          <a:bodyPr wrap="none">
            <a:spAutoFit/>
          </a:bodyPr>
          <a:lstStyle/>
          <a:p>
            <a:pPr algn="ctr">
              <a:defRPr sz="1400">
                <a:solidFill>
                  <a:srgbClr val="A0AEC0"/>
                </a:solidFill>
              </a:defRPr>
            </a:pPr>
            <a:r>
              <a:t>6주</a:t>
            </a:r>
            <a:br/>
            <a:r>
              <a:t>정보 통합 및 UX 완성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프로젝트 팀 구성</a:t>
            </a:r>
          </a:p>
        </p:txBody>
      </p:sp>
      <p:sp>
        <p:nvSpPr>
          <p:cNvPr id="3" name="Rounded Rectangle 2"/>
          <p:cNvSpPr/>
          <p:nvPr/>
        </p:nvSpPr>
        <p:spPr>
          <a:xfrm>
            <a:off x="274320" y="1097280"/>
            <a:ext cx="2743200" cy="21031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79" y="1234439"/>
            <a:ext cx="2468880" cy="457200"/>
          </a:xfrm>
          <a:prstGeom prst="rect">
            <a:avLst/>
          </a:prstGeom>
          <a:noFill/>
        </p:spPr>
        <p:txBody>
          <a:bodyPr wrap="none">
            <a:spAutoFit/>
          </a:bodyPr>
          <a:lstStyle/>
          <a:p>
            <a:pPr>
              <a:defRPr sz="1800" b="1">
                <a:solidFill>
                  <a:srgbClr val="7C3AED"/>
                </a:solidFill>
              </a:defRPr>
            </a:pPr>
            <a:r>
              <a:t>PM</a:t>
            </a:r>
          </a:p>
        </p:txBody>
      </p:sp>
      <p:sp>
        <p:nvSpPr>
          <p:cNvPr id="5" name="TextBox 4"/>
          <p:cNvSpPr txBox="1"/>
          <p:nvPr/>
        </p:nvSpPr>
        <p:spPr>
          <a:xfrm>
            <a:off x="411479" y="1691640"/>
            <a:ext cx="2468880" cy="365760"/>
          </a:xfrm>
          <a:prstGeom prst="rect">
            <a:avLst/>
          </a:prstGeom>
          <a:noFill/>
        </p:spPr>
        <p:txBody>
          <a:bodyPr wrap="none">
            <a:spAutoFit/>
          </a:bodyPr>
          <a:lstStyle/>
          <a:p>
            <a:pPr>
              <a:defRPr sz="2400" b="1">
                <a:solidFill>
                  <a:srgbClr val="FFFFFF"/>
                </a:solidFill>
              </a:defRPr>
            </a:pPr>
            <a:r>
              <a:t>1명</a:t>
            </a:r>
          </a:p>
        </p:txBody>
      </p:sp>
      <p:sp>
        <p:nvSpPr>
          <p:cNvPr id="6" name="TextBox 5"/>
          <p:cNvSpPr txBox="1"/>
          <p:nvPr/>
        </p:nvSpPr>
        <p:spPr>
          <a:xfrm>
            <a:off x="411479" y="2194560"/>
            <a:ext cx="2468880" cy="914400"/>
          </a:xfrm>
          <a:prstGeom prst="rect">
            <a:avLst/>
          </a:prstGeom>
          <a:noFill/>
        </p:spPr>
        <p:txBody>
          <a:bodyPr wrap="square">
            <a:spAutoFit/>
          </a:bodyPr>
          <a:lstStyle/>
          <a:p>
            <a:pPr>
              <a:defRPr sz="1200">
                <a:solidFill>
                  <a:srgbClr val="A0AEC0"/>
                </a:solidFill>
              </a:defRPr>
            </a:pPr>
            <a:r>
              <a:t>프로젝트 관리, 일정 관리</a:t>
            </a:r>
          </a:p>
        </p:txBody>
      </p:sp>
      <p:sp>
        <p:nvSpPr>
          <p:cNvPr id="7" name="Rounded Rectangle 6"/>
          <p:cNvSpPr/>
          <p:nvPr/>
        </p:nvSpPr>
        <p:spPr>
          <a:xfrm>
            <a:off x="3200400" y="1097280"/>
            <a:ext cx="2743200" cy="21031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234439"/>
            <a:ext cx="2468880" cy="457200"/>
          </a:xfrm>
          <a:prstGeom prst="rect">
            <a:avLst/>
          </a:prstGeom>
          <a:noFill/>
        </p:spPr>
        <p:txBody>
          <a:bodyPr wrap="none">
            <a:spAutoFit/>
          </a:bodyPr>
          <a:lstStyle/>
          <a:p>
            <a:pPr>
              <a:defRPr sz="1800" b="1">
                <a:solidFill>
                  <a:srgbClr val="7C3AED"/>
                </a:solidFill>
              </a:defRPr>
            </a:pPr>
            <a:r>
              <a:t>기획자</a:t>
            </a:r>
          </a:p>
        </p:txBody>
      </p:sp>
      <p:sp>
        <p:nvSpPr>
          <p:cNvPr id="9" name="TextBox 8"/>
          <p:cNvSpPr txBox="1"/>
          <p:nvPr/>
        </p:nvSpPr>
        <p:spPr>
          <a:xfrm>
            <a:off x="3337560" y="1691640"/>
            <a:ext cx="2468880" cy="365760"/>
          </a:xfrm>
          <a:prstGeom prst="rect">
            <a:avLst/>
          </a:prstGeom>
          <a:noFill/>
        </p:spPr>
        <p:txBody>
          <a:bodyPr wrap="none">
            <a:spAutoFit/>
          </a:bodyPr>
          <a:lstStyle/>
          <a:p>
            <a:pPr>
              <a:defRPr sz="2400" b="1">
                <a:solidFill>
                  <a:srgbClr val="FFFFFF"/>
                </a:solidFill>
              </a:defRPr>
            </a:pPr>
            <a:r>
              <a:t>1명</a:t>
            </a:r>
          </a:p>
        </p:txBody>
      </p:sp>
      <p:sp>
        <p:nvSpPr>
          <p:cNvPr id="10" name="TextBox 9"/>
          <p:cNvSpPr txBox="1"/>
          <p:nvPr/>
        </p:nvSpPr>
        <p:spPr>
          <a:xfrm>
            <a:off x="3337560" y="2194560"/>
            <a:ext cx="2468880" cy="914400"/>
          </a:xfrm>
          <a:prstGeom prst="rect">
            <a:avLst/>
          </a:prstGeom>
          <a:noFill/>
        </p:spPr>
        <p:txBody>
          <a:bodyPr wrap="square">
            <a:spAutoFit/>
          </a:bodyPr>
          <a:lstStyle/>
          <a:p>
            <a:pPr>
              <a:defRPr sz="1200">
                <a:solidFill>
                  <a:srgbClr val="A0AEC0"/>
                </a:solidFill>
              </a:defRPr>
            </a:pPr>
            <a:r>
              <a:t>요구사항 분석, 기능 정의</a:t>
            </a:r>
          </a:p>
        </p:txBody>
      </p:sp>
      <p:sp>
        <p:nvSpPr>
          <p:cNvPr id="11" name="Rounded Rectangle 10"/>
          <p:cNvSpPr/>
          <p:nvPr/>
        </p:nvSpPr>
        <p:spPr>
          <a:xfrm>
            <a:off x="6126480" y="1097280"/>
            <a:ext cx="2743200" cy="21031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234439"/>
            <a:ext cx="2468880" cy="457200"/>
          </a:xfrm>
          <a:prstGeom prst="rect">
            <a:avLst/>
          </a:prstGeom>
          <a:noFill/>
        </p:spPr>
        <p:txBody>
          <a:bodyPr wrap="none">
            <a:spAutoFit/>
          </a:bodyPr>
          <a:lstStyle/>
          <a:p>
            <a:pPr>
              <a:defRPr sz="1800" b="1">
                <a:solidFill>
                  <a:srgbClr val="7C3AED"/>
                </a:solidFill>
              </a:defRPr>
            </a:pPr>
            <a:r>
              <a:t>UI/UX 디자이너</a:t>
            </a:r>
          </a:p>
        </p:txBody>
      </p:sp>
      <p:sp>
        <p:nvSpPr>
          <p:cNvPr id="13" name="TextBox 12"/>
          <p:cNvSpPr txBox="1"/>
          <p:nvPr/>
        </p:nvSpPr>
        <p:spPr>
          <a:xfrm>
            <a:off x="6263640" y="1691640"/>
            <a:ext cx="2468880" cy="365760"/>
          </a:xfrm>
          <a:prstGeom prst="rect">
            <a:avLst/>
          </a:prstGeom>
          <a:noFill/>
        </p:spPr>
        <p:txBody>
          <a:bodyPr wrap="none">
            <a:spAutoFit/>
          </a:bodyPr>
          <a:lstStyle/>
          <a:p>
            <a:pPr>
              <a:defRPr sz="2400" b="1">
                <a:solidFill>
                  <a:srgbClr val="FFFFFF"/>
                </a:solidFill>
              </a:defRPr>
            </a:pPr>
            <a:r>
              <a:t>1명</a:t>
            </a:r>
          </a:p>
        </p:txBody>
      </p:sp>
      <p:sp>
        <p:nvSpPr>
          <p:cNvPr id="14" name="TextBox 13"/>
          <p:cNvSpPr txBox="1"/>
          <p:nvPr/>
        </p:nvSpPr>
        <p:spPr>
          <a:xfrm>
            <a:off x="6263640" y="2194560"/>
            <a:ext cx="2468880" cy="914400"/>
          </a:xfrm>
          <a:prstGeom prst="rect">
            <a:avLst/>
          </a:prstGeom>
          <a:noFill/>
        </p:spPr>
        <p:txBody>
          <a:bodyPr wrap="square">
            <a:spAutoFit/>
          </a:bodyPr>
          <a:lstStyle/>
          <a:p>
            <a:pPr>
              <a:defRPr sz="1200">
                <a:solidFill>
                  <a:srgbClr val="A0AEC0"/>
                </a:solidFill>
              </a:defRPr>
            </a:pPr>
            <a:r>
              <a:t>화면 설계, 프로토타입 제작</a:t>
            </a:r>
          </a:p>
        </p:txBody>
      </p:sp>
      <p:sp>
        <p:nvSpPr>
          <p:cNvPr id="15" name="Rounded Rectangle 14"/>
          <p:cNvSpPr/>
          <p:nvPr/>
        </p:nvSpPr>
        <p:spPr>
          <a:xfrm>
            <a:off x="274320" y="3474720"/>
            <a:ext cx="2743200" cy="21031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3611879"/>
            <a:ext cx="2468880" cy="457200"/>
          </a:xfrm>
          <a:prstGeom prst="rect">
            <a:avLst/>
          </a:prstGeom>
          <a:noFill/>
        </p:spPr>
        <p:txBody>
          <a:bodyPr wrap="none">
            <a:spAutoFit/>
          </a:bodyPr>
          <a:lstStyle/>
          <a:p>
            <a:pPr>
              <a:defRPr sz="1800" b="1">
                <a:solidFill>
                  <a:srgbClr val="7C3AED"/>
                </a:solidFill>
              </a:defRPr>
            </a:pPr>
            <a:r>
              <a:t>프론트엔드 개발자</a:t>
            </a:r>
          </a:p>
        </p:txBody>
      </p:sp>
      <p:sp>
        <p:nvSpPr>
          <p:cNvPr id="17" name="TextBox 16"/>
          <p:cNvSpPr txBox="1"/>
          <p:nvPr/>
        </p:nvSpPr>
        <p:spPr>
          <a:xfrm>
            <a:off x="411479" y="4069080"/>
            <a:ext cx="2468880" cy="365760"/>
          </a:xfrm>
          <a:prstGeom prst="rect">
            <a:avLst/>
          </a:prstGeom>
          <a:noFill/>
        </p:spPr>
        <p:txBody>
          <a:bodyPr wrap="none">
            <a:spAutoFit/>
          </a:bodyPr>
          <a:lstStyle/>
          <a:p>
            <a:pPr>
              <a:defRPr sz="2400" b="1">
                <a:solidFill>
                  <a:srgbClr val="FFFFFF"/>
                </a:solidFill>
              </a:defRPr>
            </a:pPr>
            <a:r>
              <a:t>2명</a:t>
            </a:r>
          </a:p>
        </p:txBody>
      </p:sp>
      <p:sp>
        <p:nvSpPr>
          <p:cNvPr id="18" name="TextBox 17"/>
          <p:cNvSpPr txBox="1"/>
          <p:nvPr/>
        </p:nvSpPr>
        <p:spPr>
          <a:xfrm>
            <a:off x="411479" y="4572000"/>
            <a:ext cx="2468880" cy="914400"/>
          </a:xfrm>
          <a:prstGeom prst="rect">
            <a:avLst/>
          </a:prstGeom>
          <a:noFill/>
        </p:spPr>
        <p:txBody>
          <a:bodyPr wrap="square">
            <a:spAutoFit/>
          </a:bodyPr>
          <a:lstStyle/>
          <a:p>
            <a:pPr>
              <a:defRPr sz="1200">
                <a:solidFill>
                  <a:srgbClr val="A0AEC0"/>
                </a:solidFill>
              </a:defRPr>
            </a:pPr>
            <a:r>
              <a:t>웹/앱 UI 개발</a:t>
            </a:r>
          </a:p>
        </p:txBody>
      </p:sp>
      <p:sp>
        <p:nvSpPr>
          <p:cNvPr id="19" name="Rounded Rectangle 18"/>
          <p:cNvSpPr/>
          <p:nvPr/>
        </p:nvSpPr>
        <p:spPr>
          <a:xfrm>
            <a:off x="3200400" y="3474720"/>
            <a:ext cx="2743200" cy="21031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3611879"/>
            <a:ext cx="2468880" cy="457200"/>
          </a:xfrm>
          <a:prstGeom prst="rect">
            <a:avLst/>
          </a:prstGeom>
          <a:noFill/>
        </p:spPr>
        <p:txBody>
          <a:bodyPr wrap="none">
            <a:spAutoFit/>
          </a:bodyPr>
          <a:lstStyle/>
          <a:p>
            <a:pPr>
              <a:defRPr sz="1800" b="1">
                <a:solidFill>
                  <a:srgbClr val="7C3AED"/>
                </a:solidFill>
              </a:defRPr>
            </a:pPr>
            <a:r>
              <a:t>백엔드 개발자</a:t>
            </a:r>
          </a:p>
        </p:txBody>
      </p:sp>
      <p:sp>
        <p:nvSpPr>
          <p:cNvPr id="21" name="TextBox 20"/>
          <p:cNvSpPr txBox="1"/>
          <p:nvPr/>
        </p:nvSpPr>
        <p:spPr>
          <a:xfrm>
            <a:off x="3337560" y="4069080"/>
            <a:ext cx="2468880" cy="365760"/>
          </a:xfrm>
          <a:prstGeom prst="rect">
            <a:avLst/>
          </a:prstGeom>
          <a:noFill/>
        </p:spPr>
        <p:txBody>
          <a:bodyPr wrap="none">
            <a:spAutoFit/>
          </a:bodyPr>
          <a:lstStyle/>
          <a:p>
            <a:pPr>
              <a:defRPr sz="2400" b="1">
                <a:solidFill>
                  <a:srgbClr val="FFFFFF"/>
                </a:solidFill>
              </a:defRPr>
            </a:pPr>
            <a:r>
              <a:t>2명</a:t>
            </a:r>
          </a:p>
        </p:txBody>
      </p:sp>
      <p:sp>
        <p:nvSpPr>
          <p:cNvPr id="22" name="TextBox 21"/>
          <p:cNvSpPr txBox="1"/>
          <p:nvPr/>
        </p:nvSpPr>
        <p:spPr>
          <a:xfrm>
            <a:off x="3337560" y="4572000"/>
            <a:ext cx="2468880" cy="914400"/>
          </a:xfrm>
          <a:prstGeom prst="rect">
            <a:avLst/>
          </a:prstGeom>
          <a:noFill/>
        </p:spPr>
        <p:txBody>
          <a:bodyPr wrap="square">
            <a:spAutoFit/>
          </a:bodyPr>
          <a:lstStyle/>
          <a:p>
            <a:pPr>
              <a:defRPr sz="1200">
                <a:solidFill>
                  <a:srgbClr val="A0AEC0"/>
                </a:solidFill>
              </a:defRPr>
            </a:pPr>
            <a:r>
              <a:t>서버 개발, API 개발</a:t>
            </a:r>
          </a:p>
        </p:txBody>
      </p:sp>
      <p:sp>
        <p:nvSpPr>
          <p:cNvPr id="23" name="Rounded Rectangle 22"/>
          <p:cNvSpPr/>
          <p:nvPr/>
        </p:nvSpPr>
        <p:spPr>
          <a:xfrm>
            <a:off x="6126480" y="3474720"/>
            <a:ext cx="2743200" cy="210312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611879"/>
            <a:ext cx="2468880" cy="457200"/>
          </a:xfrm>
          <a:prstGeom prst="rect">
            <a:avLst/>
          </a:prstGeom>
          <a:noFill/>
        </p:spPr>
        <p:txBody>
          <a:bodyPr wrap="none">
            <a:spAutoFit/>
          </a:bodyPr>
          <a:lstStyle/>
          <a:p>
            <a:pPr>
              <a:defRPr sz="1800" b="1">
                <a:solidFill>
                  <a:srgbClr val="7C3AED"/>
                </a:solidFill>
              </a:defRPr>
            </a:pPr>
            <a:r>
              <a:t>QA</a:t>
            </a:r>
          </a:p>
        </p:txBody>
      </p:sp>
      <p:sp>
        <p:nvSpPr>
          <p:cNvPr id="25" name="TextBox 24"/>
          <p:cNvSpPr txBox="1"/>
          <p:nvPr/>
        </p:nvSpPr>
        <p:spPr>
          <a:xfrm>
            <a:off x="6263640" y="4069080"/>
            <a:ext cx="2468880" cy="365760"/>
          </a:xfrm>
          <a:prstGeom prst="rect">
            <a:avLst/>
          </a:prstGeom>
          <a:noFill/>
        </p:spPr>
        <p:txBody>
          <a:bodyPr wrap="none">
            <a:spAutoFit/>
          </a:bodyPr>
          <a:lstStyle/>
          <a:p>
            <a:pPr>
              <a:defRPr sz="2400" b="1">
                <a:solidFill>
                  <a:srgbClr val="FFFFFF"/>
                </a:solidFill>
              </a:defRPr>
            </a:pPr>
            <a:r>
              <a:t>1명</a:t>
            </a:r>
          </a:p>
        </p:txBody>
      </p:sp>
      <p:sp>
        <p:nvSpPr>
          <p:cNvPr id="26" name="TextBox 25"/>
          <p:cNvSpPr txBox="1"/>
          <p:nvPr/>
        </p:nvSpPr>
        <p:spPr>
          <a:xfrm>
            <a:off x="6263640" y="4572000"/>
            <a:ext cx="2468880" cy="914400"/>
          </a:xfrm>
          <a:prstGeom prst="rect">
            <a:avLst/>
          </a:prstGeom>
          <a:noFill/>
        </p:spPr>
        <p:txBody>
          <a:bodyPr wrap="square">
            <a:spAutoFit/>
          </a:bodyPr>
          <a:lstStyle/>
          <a:p>
            <a:pPr>
              <a:defRPr sz="1200">
                <a:solidFill>
                  <a:srgbClr val="A0AEC0"/>
                </a:solidFill>
              </a:defRPr>
            </a:pPr>
            <a:r>
              <a:t>테스트 수행, 품질 관리</a:t>
            </a:r>
          </a:p>
        </p:txBody>
      </p:sp>
      <p:sp>
        <p:nvSpPr>
          <p:cNvPr id="27" name="TextBox 26"/>
          <p:cNvSpPr txBox="1"/>
          <p:nvPr/>
        </p:nvSpPr>
        <p:spPr>
          <a:xfrm>
            <a:off x="457200" y="5943600"/>
            <a:ext cx="8229600" cy="457200"/>
          </a:xfrm>
          <a:prstGeom prst="rect">
            <a:avLst/>
          </a:prstGeom>
          <a:noFill/>
        </p:spPr>
        <p:txBody>
          <a:bodyPr wrap="none">
            <a:spAutoFit/>
          </a:bodyPr>
          <a:lstStyle/>
          <a:p>
            <a:pPr algn="ctr">
              <a:defRPr sz="2000" b="1">
                <a:solidFill>
                  <a:srgbClr val="06B6D4"/>
                </a:solidFill>
              </a:defRPr>
            </a:pPr>
            <a:r>
              <a:t>총 공수: 38.4 Man-Months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리스크 관리</a:t>
            </a:r>
          </a:p>
        </p:txBody>
      </p:sp>
      <p:sp>
        <p:nvSpPr>
          <p:cNvPr id="3" name="Rounded Rectangle 2"/>
          <p:cNvSpPr/>
          <p:nvPr/>
        </p:nvSpPr>
        <p:spPr>
          <a:xfrm>
            <a:off x="274320" y="1097280"/>
            <a:ext cx="8595360" cy="91440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188720"/>
            <a:ext cx="731520" cy="365760"/>
          </a:xfrm>
          <a:prstGeom prst="rect">
            <a:avLst/>
          </a:prstGeom>
          <a:noFill/>
        </p:spPr>
        <p:txBody>
          <a:bodyPr wrap="none">
            <a:spAutoFit/>
          </a:bodyPr>
          <a:lstStyle/>
          <a:p>
            <a:pPr>
              <a:defRPr sz="1200" b="1">
                <a:solidFill>
                  <a:srgbClr val="F59E0B"/>
                </a:solidFill>
              </a:defRPr>
            </a:pPr>
            <a:r>
              <a:t>HIGH</a:t>
            </a:r>
          </a:p>
        </p:txBody>
      </p:sp>
      <p:sp>
        <p:nvSpPr>
          <p:cNvPr id="5" name="TextBox 4"/>
          <p:cNvSpPr txBox="1"/>
          <p:nvPr/>
        </p:nvSpPr>
        <p:spPr>
          <a:xfrm>
            <a:off x="1188720" y="1188720"/>
            <a:ext cx="3657600" cy="365760"/>
          </a:xfrm>
          <a:prstGeom prst="rect">
            <a:avLst/>
          </a:prstGeom>
          <a:noFill/>
        </p:spPr>
        <p:txBody>
          <a:bodyPr wrap="none">
            <a:spAutoFit/>
          </a:bodyPr>
          <a:lstStyle/>
          <a:p>
            <a:pPr>
              <a:defRPr sz="1400" b="1">
                <a:solidFill>
                  <a:srgbClr val="FFFFFF"/>
                </a:solidFill>
              </a:defRPr>
            </a:pPr>
            <a:r>
              <a:t>외부 API 장애·변경</a:t>
            </a:r>
          </a:p>
        </p:txBody>
      </p:sp>
      <p:sp>
        <p:nvSpPr>
          <p:cNvPr id="6" name="TextBox 5"/>
          <p:cNvSpPr txBox="1"/>
          <p:nvPr/>
        </p:nvSpPr>
        <p:spPr>
          <a:xfrm>
            <a:off x="1188720" y="1554480"/>
            <a:ext cx="7498079" cy="365760"/>
          </a:xfrm>
          <a:prstGeom prst="rect">
            <a:avLst/>
          </a:prstGeom>
          <a:noFill/>
        </p:spPr>
        <p:txBody>
          <a:bodyPr wrap="square">
            <a:spAutoFit/>
          </a:bodyPr>
          <a:lstStyle/>
          <a:p>
            <a:pPr>
              <a:defRPr sz="1200">
                <a:solidFill>
                  <a:srgbClr val="A0AEC0"/>
                </a:solidFill>
              </a:defRPr>
            </a:pPr>
            <a:r>
              <a:t>→ API별 Fallback 로직 구현, 캐시 데이터로 최종 시세 유지, 장애 알림 설정</a:t>
            </a:r>
          </a:p>
        </p:txBody>
      </p:sp>
      <p:sp>
        <p:nvSpPr>
          <p:cNvPr id="7" name="Rounded Rectangle 6"/>
          <p:cNvSpPr/>
          <p:nvPr/>
        </p:nvSpPr>
        <p:spPr>
          <a:xfrm>
            <a:off x="274320" y="2103120"/>
            <a:ext cx="8595360" cy="91440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194560"/>
            <a:ext cx="731520" cy="365760"/>
          </a:xfrm>
          <a:prstGeom prst="rect">
            <a:avLst/>
          </a:prstGeom>
          <a:noFill/>
        </p:spPr>
        <p:txBody>
          <a:bodyPr wrap="none">
            <a:spAutoFit/>
          </a:bodyPr>
          <a:lstStyle/>
          <a:p>
            <a:pPr>
              <a:defRPr sz="1200" b="1">
                <a:solidFill>
                  <a:srgbClr val="06B6D4"/>
                </a:solidFill>
              </a:defRPr>
            </a:pPr>
            <a:r>
              <a:t>MEDIUM</a:t>
            </a:r>
          </a:p>
        </p:txBody>
      </p:sp>
      <p:sp>
        <p:nvSpPr>
          <p:cNvPr id="9" name="TextBox 8"/>
          <p:cNvSpPr txBox="1"/>
          <p:nvPr/>
        </p:nvSpPr>
        <p:spPr>
          <a:xfrm>
            <a:off x="1188720" y="2194560"/>
            <a:ext cx="3657600" cy="365760"/>
          </a:xfrm>
          <a:prstGeom prst="rect">
            <a:avLst/>
          </a:prstGeom>
          <a:noFill/>
        </p:spPr>
        <p:txBody>
          <a:bodyPr wrap="none">
            <a:spAutoFit/>
          </a:bodyPr>
          <a:lstStyle/>
          <a:p>
            <a:pPr>
              <a:defRPr sz="1400" b="1">
                <a:solidFill>
                  <a:srgbClr val="FFFFFF"/>
                </a:solidFill>
              </a:defRPr>
            </a:pPr>
            <a:r>
              <a:t>키움증권 API 호출 제한</a:t>
            </a:r>
          </a:p>
        </p:txBody>
      </p:sp>
      <p:sp>
        <p:nvSpPr>
          <p:cNvPr id="10" name="TextBox 9"/>
          <p:cNvSpPr txBox="1"/>
          <p:nvPr/>
        </p:nvSpPr>
        <p:spPr>
          <a:xfrm>
            <a:off x="1188720" y="2560320"/>
            <a:ext cx="7498079" cy="365760"/>
          </a:xfrm>
          <a:prstGeom prst="rect">
            <a:avLst/>
          </a:prstGeom>
          <a:noFill/>
        </p:spPr>
        <p:txBody>
          <a:bodyPr wrap="square">
            <a:spAutoFit/>
          </a:bodyPr>
          <a:lstStyle/>
          <a:p>
            <a:pPr>
              <a:defRPr sz="1200">
                <a:solidFill>
                  <a:srgbClr val="A0AEC0"/>
                </a:solidFill>
              </a:defRPr>
            </a:pPr>
            <a:r>
              <a:t>→ Redis 캐싱으로 호출 최소화, 호출 스케줄링 최적화</a:t>
            </a:r>
          </a:p>
        </p:txBody>
      </p:sp>
      <p:sp>
        <p:nvSpPr>
          <p:cNvPr id="11" name="Rounded Rectangle 10"/>
          <p:cNvSpPr/>
          <p:nvPr/>
        </p:nvSpPr>
        <p:spPr>
          <a:xfrm>
            <a:off x="274320" y="3108960"/>
            <a:ext cx="8595360" cy="91440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200400"/>
            <a:ext cx="731520" cy="365760"/>
          </a:xfrm>
          <a:prstGeom prst="rect">
            <a:avLst/>
          </a:prstGeom>
          <a:noFill/>
        </p:spPr>
        <p:txBody>
          <a:bodyPr wrap="none">
            <a:spAutoFit/>
          </a:bodyPr>
          <a:lstStyle/>
          <a:p>
            <a:pPr>
              <a:defRPr sz="1200" b="1">
                <a:solidFill>
                  <a:srgbClr val="06B6D4"/>
                </a:solidFill>
              </a:defRPr>
            </a:pPr>
            <a:r>
              <a:t>MEDIUM</a:t>
            </a:r>
          </a:p>
        </p:txBody>
      </p:sp>
      <p:sp>
        <p:nvSpPr>
          <p:cNvPr id="13" name="TextBox 12"/>
          <p:cNvSpPr txBox="1"/>
          <p:nvPr/>
        </p:nvSpPr>
        <p:spPr>
          <a:xfrm>
            <a:off x="1188720" y="3200400"/>
            <a:ext cx="3657600" cy="365760"/>
          </a:xfrm>
          <a:prstGeom prst="rect">
            <a:avLst/>
          </a:prstGeom>
          <a:noFill/>
        </p:spPr>
        <p:txBody>
          <a:bodyPr wrap="none">
            <a:spAutoFit/>
          </a:bodyPr>
          <a:lstStyle/>
          <a:p>
            <a:pPr>
              <a:defRPr sz="1400" b="1">
                <a:solidFill>
                  <a:srgbClr val="FFFFFF"/>
                </a:solidFill>
              </a:defRPr>
            </a:pPr>
            <a:r>
              <a:t>WebSocket 동시접속 부하</a:t>
            </a:r>
          </a:p>
        </p:txBody>
      </p:sp>
      <p:sp>
        <p:nvSpPr>
          <p:cNvPr id="14" name="TextBox 13"/>
          <p:cNvSpPr txBox="1"/>
          <p:nvPr/>
        </p:nvSpPr>
        <p:spPr>
          <a:xfrm>
            <a:off x="1188720" y="3566160"/>
            <a:ext cx="7498079" cy="365760"/>
          </a:xfrm>
          <a:prstGeom prst="rect">
            <a:avLst/>
          </a:prstGeom>
          <a:noFill/>
        </p:spPr>
        <p:txBody>
          <a:bodyPr wrap="square">
            <a:spAutoFit/>
          </a:bodyPr>
          <a:lstStyle/>
          <a:p>
            <a:pPr>
              <a:defRPr sz="1200">
                <a:solidFill>
                  <a:srgbClr val="A0AEC0"/>
                </a:solidFill>
              </a:defRPr>
            </a:pPr>
            <a:r>
              <a:t>→ Redis Pub/Sub 기반 메시지 분산, 커넥션 풀 관리</a:t>
            </a:r>
          </a:p>
        </p:txBody>
      </p:sp>
      <p:sp>
        <p:nvSpPr>
          <p:cNvPr id="15" name="Rounded Rectangle 14"/>
          <p:cNvSpPr/>
          <p:nvPr/>
        </p:nvSpPr>
        <p:spPr>
          <a:xfrm>
            <a:off x="274320" y="4114800"/>
            <a:ext cx="8595360" cy="91440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4206240"/>
            <a:ext cx="731520" cy="365760"/>
          </a:xfrm>
          <a:prstGeom prst="rect">
            <a:avLst/>
          </a:prstGeom>
          <a:noFill/>
        </p:spPr>
        <p:txBody>
          <a:bodyPr wrap="none">
            <a:spAutoFit/>
          </a:bodyPr>
          <a:lstStyle/>
          <a:p>
            <a:pPr>
              <a:defRPr sz="1200" b="1">
                <a:solidFill>
                  <a:srgbClr val="06B6D4"/>
                </a:solidFill>
              </a:defRPr>
            </a:pPr>
            <a:r>
              <a:t>MEDIUM</a:t>
            </a:r>
          </a:p>
        </p:txBody>
      </p:sp>
      <p:sp>
        <p:nvSpPr>
          <p:cNvPr id="17" name="TextBox 16"/>
          <p:cNvSpPr txBox="1"/>
          <p:nvPr/>
        </p:nvSpPr>
        <p:spPr>
          <a:xfrm>
            <a:off x="1188720" y="4206240"/>
            <a:ext cx="3657600" cy="365760"/>
          </a:xfrm>
          <a:prstGeom prst="rect">
            <a:avLst/>
          </a:prstGeom>
          <a:noFill/>
        </p:spPr>
        <p:txBody>
          <a:bodyPr wrap="none">
            <a:spAutoFit/>
          </a:bodyPr>
          <a:lstStyle/>
          <a:p>
            <a:pPr>
              <a:defRPr sz="1400" b="1">
                <a:solidFill>
                  <a:srgbClr val="FFFFFF"/>
                </a:solidFill>
              </a:defRPr>
            </a:pPr>
            <a:r>
              <a:t>외부 데이터 포맷 불일치</a:t>
            </a:r>
          </a:p>
        </p:txBody>
      </p:sp>
      <p:sp>
        <p:nvSpPr>
          <p:cNvPr id="18" name="TextBox 17"/>
          <p:cNvSpPr txBox="1"/>
          <p:nvPr/>
        </p:nvSpPr>
        <p:spPr>
          <a:xfrm>
            <a:off x="1188720" y="4572000"/>
            <a:ext cx="7498079" cy="365760"/>
          </a:xfrm>
          <a:prstGeom prst="rect">
            <a:avLst/>
          </a:prstGeom>
          <a:noFill/>
        </p:spPr>
        <p:txBody>
          <a:bodyPr wrap="square">
            <a:spAutoFit/>
          </a:bodyPr>
          <a:lstStyle/>
          <a:p>
            <a:pPr>
              <a:defRPr sz="1200">
                <a:solidFill>
                  <a:srgbClr val="A0AEC0"/>
                </a:solidFill>
              </a:defRPr>
            </a:pPr>
            <a:r>
              <a:t>→ 데이터 정규화 레이어 구축, API별 어댑터 패턴 적용</a:t>
            </a:r>
          </a:p>
        </p:txBody>
      </p:sp>
      <p:sp>
        <p:nvSpPr>
          <p:cNvPr id="19" name="Rounded Rectangle 18"/>
          <p:cNvSpPr/>
          <p:nvPr/>
        </p:nvSpPr>
        <p:spPr>
          <a:xfrm>
            <a:off x="274320" y="5120640"/>
            <a:ext cx="8595360" cy="914400"/>
          </a:xfrm>
          <a:prstGeom prst="roundRect">
            <a:avLst/>
          </a:prstGeom>
          <a:solidFill>
            <a:srgbClr val="2D2D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5212080"/>
            <a:ext cx="731520" cy="365760"/>
          </a:xfrm>
          <a:prstGeom prst="rect">
            <a:avLst/>
          </a:prstGeom>
          <a:noFill/>
        </p:spPr>
        <p:txBody>
          <a:bodyPr wrap="none">
            <a:spAutoFit/>
          </a:bodyPr>
          <a:lstStyle/>
          <a:p>
            <a:pPr>
              <a:defRPr sz="1200" b="1">
                <a:solidFill>
                  <a:srgbClr val="06B6D4"/>
                </a:solidFill>
              </a:defRPr>
            </a:pPr>
            <a:r>
              <a:t>LOW</a:t>
            </a:r>
          </a:p>
        </p:txBody>
      </p:sp>
      <p:sp>
        <p:nvSpPr>
          <p:cNvPr id="21" name="TextBox 20"/>
          <p:cNvSpPr txBox="1"/>
          <p:nvPr/>
        </p:nvSpPr>
        <p:spPr>
          <a:xfrm>
            <a:off x="1188720" y="5212080"/>
            <a:ext cx="3657600" cy="365760"/>
          </a:xfrm>
          <a:prstGeom prst="rect">
            <a:avLst/>
          </a:prstGeom>
          <a:noFill/>
        </p:spPr>
        <p:txBody>
          <a:bodyPr wrap="none">
            <a:spAutoFit/>
          </a:bodyPr>
          <a:lstStyle/>
          <a:p>
            <a:pPr>
              <a:defRPr sz="1400" b="1">
                <a:solidFill>
                  <a:srgbClr val="FFFFFF"/>
                </a:solidFill>
              </a:defRPr>
            </a:pPr>
            <a:r>
              <a:t>무료 인프라 성능 한계</a:t>
            </a:r>
          </a:p>
        </p:txBody>
      </p:sp>
      <p:sp>
        <p:nvSpPr>
          <p:cNvPr id="22" name="TextBox 21"/>
          <p:cNvSpPr txBox="1"/>
          <p:nvPr/>
        </p:nvSpPr>
        <p:spPr>
          <a:xfrm>
            <a:off x="1188720" y="5577840"/>
            <a:ext cx="7498079" cy="365760"/>
          </a:xfrm>
          <a:prstGeom prst="rect">
            <a:avLst/>
          </a:prstGeom>
          <a:noFill/>
        </p:spPr>
        <p:txBody>
          <a:bodyPr wrap="square">
            <a:spAutoFit/>
          </a:bodyPr>
          <a:lstStyle/>
          <a:p>
            <a:pPr>
              <a:defRPr sz="1200">
                <a:solidFill>
                  <a:srgbClr val="A0AEC0"/>
                </a:solidFill>
              </a:defRPr>
            </a:pPr>
            <a:r>
              <a:t>→ 자체 서버 전환 계획 수립, 수평 확장 아키텍처 설계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286000"/>
            <a:ext cx="8229600" cy="1828800"/>
          </a:xfrm>
          <a:prstGeom prst="rect">
            <a:avLst/>
          </a:prstGeom>
          <a:noFill/>
        </p:spPr>
        <p:txBody>
          <a:bodyPr wrap="none">
            <a:spAutoFit/>
          </a:bodyPr>
          <a:lstStyle/>
          <a:p>
            <a:pPr algn="ctr">
              <a:defRPr sz="4400" b="1">
                <a:solidFill>
                  <a:srgbClr val="FFFFFF"/>
                </a:solidFill>
              </a:defRPr>
            </a:pPr>
            <a:r>
              <a:t>현재 → 포트폴리오 모니터링 효율 약 50% 개선 – 별도 앱·</a:t>
            </a:r>
          </a:p>
        </p:txBody>
      </p:sp>
      <p:sp>
        <p:nvSpPr>
          <p:cNvPr id="3" name="TextBox 2"/>
          <p:cNvSpPr txBox="1"/>
          <p:nvPr/>
        </p:nvSpPr>
        <p:spPr>
          <a:xfrm>
            <a:off x="457200" y="4114800"/>
            <a:ext cx="8229600" cy="914400"/>
          </a:xfrm>
          <a:prstGeom prst="rect">
            <a:avLst/>
          </a:prstGeom>
          <a:noFill/>
        </p:spPr>
        <p:txBody>
          <a:bodyPr wrap="none">
            <a:spAutoFit/>
          </a:bodyPr>
          <a:lstStyle/>
          <a:p>
            <a:pPr algn="ctr">
              <a:defRPr sz="2400">
                <a:solidFill>
                  <a:srgbClr val="06B6D4"/>
                </a:solidFill>
              </a:defRPr>
            </a:pPr>
            <a:r>
              <a:t>단기 개선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FFFFFF"/>
                </a:solidFill>
              </a:defRPr>
            </a:pPr>
            <a:r>
              <a:t>다음 단계 (Next Steps)</a:t>
            </a:r>
          </a:p>
        </p:txBody>
      </p:sp>
      <p:sp>
        <p:nvSpPr>
          <p:cNvPr id="3" name="Oval 2"/>
          <p:cNvSpPr/>
          <p:nvPr/>
        </p:nvSpPr>
        <p:spPr>
          <a:xfrm>
            <a:off x="457200" y="1371600"/>
            <a:ext cx="548640" cy="5486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48640" cy="365760"/>
          </a:xfrm>
          <a:prstGeom prst="rect">
            <a:avLst/>
          </a:prstGeom>
          <a:noFill/>
        </p:spPr>
        <p:txBody>
          <a:bodyPr wrap="none">
            <a:spAutoFit/>
          </a:bodyPr>
          <a:lstStyle/>
          <a:p>
            <a:pPr algn="ctr">
              <a:defRPr sz="2000" b="1">
                <a:solidFill>
                  <a:srgbClr val="FFFFFF"/>
                </a:solidFill>
              </a:defRPr>
            </a:pPr>
            <a:r>
              <a:t>1</a:t>
            </a:r>
          </a:p>
        </p:txBody>
      </p:sp>
      <p:sp>
        <p:nvSpPr>
          <p:cNvPr id="5" name="TextBox 4"/>
          <p:cNvSpPr txBox="1"/>
          <p:nvPr/>
        </p:nvSpPr>
        <p:spPr>
          <a:xfrm>
            <a:off x="1188720" y="1463040"/>
            <a:ext cx="5486400" cy="457200"/>
          </a:xfrm>
          <a:prstGeom prst="rect">
            <a:avLst/>
          </a:prstGeom>
          <a:noFill/>
        </p:spPr>
        <p:txBody>
          <a:bodyPr wrap="none">
            <a:spAutoFit/>
          </a:bodyPr>
          <a:lstStyle/>
          <a:p>
            <a:pPr>
              <a:defRPr sz="2000">
                <a:solidFill>
                  <a:srgbClr val="FFFFFF"/>
                </a:solidFill>
              </a:defRPr>
            </a:pPr>
            <a:r>
              <a:t>제안서 검토 및 Q&amp;A 세션</a:t>
            </a:r>
          </a:p>
        </p:txBody>
      </p:sp>
      <p:sp>
        <p:nvSpPr>
          <p:cNvPr id="6" name="TextBox 5"/>
          <p:cNvSpPr txBox="1"/>
          <p:nvPr/>
        </p:nvSpPr>
        <p:spPr>
          <a:xfrm>
            <a:off x="6858000" y="1463040"/>
            <a:ext cx="1828800" cy="457200"/>
          </a:xfrm>
          <a:prstGeom prst="rect">
            <a:avLst/>
          </a:prstGeom>
          <a:noFill/>
        </p:spPr>
        <p:txBody>
          <a:bodyPr wrap="none">
            <a:spAutoFit/>
          </a:bodyPr>
          <a:lstStyle/>
          <a:p>
            <a:pPr algn="r">
              <a:defRPr sz="1600">
                <a:solidFill>
                  <a:srgbClr val="06B6D4"/>
                </a:solidFill>
              </a:defRPr>
            </a:pPr>
          </a:p>
        </p:txBody>
      </p:sp>
      <p:sp>
        <p:nvSpPr>
          <p:cNvPr id="7" name="Oval 6"/>
          <p:cNvSpPr/>
          <p:nvPr/>
        </p:nvSpPr>
        <p:spPr>
          <a:xfrm>
            <a:off x="457200" y="2377440"/>
            <a:ext cx="548640" cy="5486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468880"/>
            <a:ext cx="548640" cy="365760"/>
          </a:xfrm>
          <a:prstGeom prst="rect">
            <a:avLst/>
          </a:prstGeom>
          <a:noFill/>
        </p:spPr>
        <p:txBody>
          <a:bodyPr wrap="none">
            <a:spAutoFit/>
          </a:bodyPr>
          <a:lstStyle/>
          <a:p>
            <a:pPr algn="ctr">
              <a:defRPr sz="2000" b="1">
                <a:solidFill>
                  <a:srgbClr val="FFFFFF"/>
                </a:solidFill>
              </a:defRPr>
            </a:pPr>
            <a:r>
              <a:t>2</a:t>
            </a:r>
          </a:p>
        </p:txBody>
      </p:sp>
      <p:sp>
        <p:nvSpPr>
          <p:cNvPr id="9" name="TextBox 8"/>
          <p:cNvSpPr txBox="1"/>
          <p:nvPr/>
        </p:nvSpPr>
        <p:spPr>
          <a:xfrm>
            <a:off x="1188720" y="2468880"/>
            <a:ext cx="5486400" cy="457200"/>
          </a:xfrm>
          <a:prstGeom prst="rect">
            <a:avLst/>
          </a:prstGeom>
          <a:noFill/>
        </p:spPr>
        <p:txBody>
          <a:bodyPr wrap="none">
            <a:spAutoFit/>
          </a:bodyPr>
          <a:lstStyle/>
          <a:p>
            <a:pPr>
              <a:defRPr sz="2000">
                <a:solidFill>
                  <a:srgbClr val="FFFFFF"/>
                </a:solidFill>
              </a:defRPr>
            </a:pPr>
            <a:r>
              <a:t>상세 범위 및 일정 협의</a:t>
            </a:r>
          </a:p>
        </p:txBody>
      </p:sp>
      <p:sp>
        <p:nvSpPr>
          <p:cNvPr id="10" name="TextBox 9"/>
          <p:cNvSpPr txBox="1"/>
          <p:nvPr/>
        </p:nvSpPr>
        <p:spPr>
          <a:xfrm>
            <a:off x="6858000" y="2468880"/>
            <a:ext cx="1828800" cy="457200"/>
          </a:xfrm>
          <a:prstGeom prst="rect">
            <a:avLst/>
          </a:prstGeom>
          <a:noFill/>
        </p:spPr>
        <p:txBody>
          <a:bodyPr wrap="none">
            <a:spAutoFit/>
          </a:bodyPr>
          <a:lstStyle/>
          <a:p>
            <a:pPr algn="r">
              <a:defRPr sz="1600">
                <a:solidFill>
                  <a:srgbClr val="06B6D4"/>
                </a:solidFill>
              </a:defRPr>
            </a:pPr>
          </a:p>
        </p:txBody>
      </p:sp>
      <p:sp>
        <p:nvSpPr>
          <p:cNvPr id="11" name="Oval 10"/>
          <p:cNvSpPr/>
          <p:nvPr/>
        </p:nvSpPr>
        <p:spPr>
          <a:xfrm>
            <a:off x="457200" y="3383280"/>
            <a:ext cx="548640" cy="5486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74720"/>
            <a:ext cx="548640" cy="365760"/>
          </a:xfrm>
          <a:prstGeom prst="rect">
            <a:avLst/>
          </a:prstGeom>
          <a:noFill/>
        </p:spPr>
        <p:txBody>
          <a:bodyPr wrap="none">
            <a:spAutoFit/>
          </a:bodyPr>
          <a:lstStyle/>
          <a:p>
            <a:pPr algn="ctr">
              <a:defRPr sz="2000" b="1">
                <a:solidFill>
                  <a:srgbClr val="FFFFFF"/>
                </a:solidFill>
              </a:defRPr>
            </a:pPr>
            <a:r>
              <a:t>3</a:t>
            </a:r>
          </a:p>
        </p:txBody>
      </p:sp>
      <p:sp>
        <p:nvSpPr>
          <p:cNvPr id="13" name="TextBox 12"/>
          <p:cNvSpPr txBox="1"/>
          <p:nvPr/>
        </p:nvSpPr>
        <p:spPr>
          <a:xfrm>
            <a:off x="1188720" y="3474720"/>
            <a:ext cx="5486400" cy="457200"/>
          </a:xfrm>
          <a:prstGeom prst="rect">
            <a:avLst/>
          </a:prstGeom>
          <a:noFill/>
        </p:spPr>
        <p:txBody>
          <a:bodyPr wrap="none">
            <a:spAutoFit/>
          </a:bodyPr>
          <a:lstStyle/>
          <a:p>
            <a:pPr>
              <a:defRPr sz="2000">
                <a:solidFill>
                  <a:srgbClr val="FFFFFF"/>
                </a:solidFill>
              </a:defRPr>
            </a:pPr>
            <a:r>
              <a:t>계약 조건 협의</a:t>
            </a:r>
          </a:p>
        </p:txBody>
      </p:sp>
      <p:sp>
        <p:nvSpPr>
          <p:cNvPr id="14" name="TextBox 13"/>
          <p:cNvSpPr txBox="1"/>
          <p:nvPr/>
        </p:nvSpPr>
        <p:spPr>
          <a:xfrm>
            <a:off x="6858000" y="3474720"/>
            <a:ext cx="1828800" cy="457200"/>
          </a:xfrm>
          <a:prstGeom prst="rect">
            <a:avLst/>
          </a:prstGeom>
          <a:noFill/>
        </p:spPr>
        <p:txBody>
          <a:bodyPr wrap="none">
            <a:spAutoFit/>
          </a:bodyPr>
          <a:lstStyle/>
          <a:p>
            <a:pPr algn="r">
              <a:defRPr sz="1600">
                <a:solidFill>
                  <a:srgbClr val="06B6D4"/>
                </a:solidFill>
              </a:defRPr>
            </a:pPr>
          </a:p>
        </p:txBody>
      </p:sp>
      <p:sp>
        <p:nvSpPr>
          <p:cNvPr id="15" name="Oval 14"/>
          <p:cNvSpPr/>
          <p:nvPr/>
        </p:nvSpPr>
        <p:spPr>
          <a:xfrm>
            <a:off x="457200" y="4389120"/>
            <a:ext cx="548640" cy="5486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480560"/>
            <a:ext cx="548640" cy="365760"/>
          </a:xfrm>
          <a:prstGeom prst="rect">
            <a:avLst/>
          </a:prstGeom>
          <a:noFill/>
        </p:spPr>
        <p:txBody>
          <a:bodyPr wrap="none">
            <a:spAutoFit/>
          </a:bodyPr>
          <a:lstStyle/>
          <a:p>
            <a:pPr algn="ctr">
              <a:defRPr sz="2000" b="1">
                <a:solidFill>
                  <a:srgbClr val="FFFFFF"/>
                </a:solidFill>
              </a:defRPr>
            </a:pPr>
            <a:r>
              <a:t>4</a:t>
            </a:r>
          </a:p>
        </p:txBody>
      </p:sp>
      <p:sp>
        <p:nvSpPr>
          <p:cNvPr id="17" name="TextBox 16"/>
          <p:cNvSpPr txBox="1"/>
          <p:nvPr/>
        </p:nvSpPr>
        <p:spPr>
          <a:xfrm>
            <a:off x="1188720" y="4480560"/>
            <a:ext cx="5486400" cy="457200"/>
          </a:xfrm>
          <a:prstGeom prst="rect">
            <a:avLst/>
          </a:prstGeom>
          <a:noFill/>
        </p:spPr>
        <p:txBody>
          <a:bodyPr wrap="none">
            <a:spAutoFit/>
          </a:bodyPr>
          <a:lstStyle/>
          <a:p>
            <a:pPr>
              <a:defRPr sz="2000">
                <a:solidFill>
                  <a:srgbClr val="FFFFFF"/>
                </a:solidFill>
              </a:defRPr>
            </a:pPr>
            <a:r>
              <a:t>계약 체결</a:t>
            </a:r>
          </a:p>
        </p:txBody>
      </p:sp>
      <p:sp>
        <p:nvSpPr>
          <p:cNvPr id="18" name="TextBox 17"/>
          <p:cNvSpPr txBox="1"/>
          <p:nvPr/>
        </p:nvSpPr>
        <p:spPr>
          <a:xfrm>
            <a:off x="6858000" y="4480560"/>
            <a:ext cx="1828800" cy="457200"/>
          </a:xfrm>
          <a:prstGeom prst="rect">
            <a:avLst/>
          </a:prstGeom>
          <a:noFill/>
        </p:spPr>
        <p:txBody>
          <a:bodyPr wrap="none">
            <a:spAutoFit/>
          </a:bodyPr>
          <a:lstStyle/>
          <a:p>
            <a:pPr algn="r">
              <a:defRPr sz="1600">
                <a:solidFill>
                  <a:srgbClr val="06B6D4"/>
                </a:solidFill>
              </a:defRPr>
            </a:pPr>
          </a:p>
        </p:txBody>
      </p:sp>
      <p:sp>
        <p:nvSpPr>
          <p:cNvPr id="19" name="Oval 18"/>
          <p:cNvSpPr/>
          <p:nvPr/>
        </p:nvSpPr>
        <p:spPr>
          <a:xfrm>
            <a:off x="457200" y="5394960"/>
            <a:ext cx="548640" cy="54864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486400"/>
            <a:ext cx="548640" cy="365760"/>
          </a:xfrm>
          <a:prstGeom prst="rect">
            <a:avLst/>
          </a:prstGeom>
          <a:noFill/>
        </p:spPr>
        <p:txBody>
          <a:bodyPr wrap="none">
            <a:spAutoFit/>
          </a:bodyPr>
          <a:lstStyle/>
          <a:p>
            <a:pPr algn="ctr">
              <a:defRPr sz="2000" b="1">
                <a:solidFill>
                  <a:srgbClr val="FFFFFF"/>
                </a:solidFill>
              </a:defRPr>
            </a:pPr>
            <a:r>
              <a:t>5</a:t>
            </a:r>
          </a:p>
        </p:txBody>
      </p:sp>
      <p:sp>
        <p:nvSpPr>
          <p:cNvPr id="21" name="TextBox 20"/>
          <p:cNvSpPr txBox="1"/>
          <p:nvPr/>
        </p:nvSpPr>
        <p:spPr>
          <a:xfrm>
            <a:off x="1188720" y="5486400"/>
            <a:ext cx="5486400" cy="457200"/>
          </a:xfrm>
          <a:prstGeom prst="rect">
            <a:avLst/>
          </a:prstGeom>
          <a:noFill/>
        </p:spPr>
        <p:txBody>
          <a:bodyPr wrap="none">
            <a:spAutoFit/>
          </a:bodyPr>
          <a:lstStyle/>
          <a:p>
            <a:pPr>
              <a:defRPr sz="2000">
                <a:solidFill>
                  <a:srgbClr val="FFFFFF"/>
                </a:solidFill>
              </a:defRPr>
            </a:pPr>
            <a:r>
              <a:t>킥오프 미팅 및 프로젝트 착수</a:t>
            </a:r>
          </a:p>
        </p:txBody>
      </p:sp>
      <p:sp>
        <p:nvSpPr>
          <p:cNvPr id="22" name="TextBox 21"/>
          <p:cNvSpPr txBox="1"/>
          <p:nvPr/>
        </p:nvSpPr>
        <p:spPr>
          <a:xfrm>
            <a:off x="6858000" y="5486400"/>
            <a:ext cx="1828800" cy="457200"/>
          </a:xfrm>
          <a:prstGeom prst="rect">
            <a:avLst/>
          </a:prstGeom>
          <a:noFill/>
        </p:spPr>
        <p:txBody>
          <a:bodyPr wrap="none">
            <a:spAutoFit/>
          </a:bodyPr>
          <a:lstStyle/>
          <a:p>
            <a:pPr algn="r">
              <a:defRPr sz="1600">
                <a:solidFill>
                  <a:srgbClr val="06B6D4"/>
                </a:solidFill>
              </a:defRPr>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1E2E"/>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none">
            <a:spAutoFit/>
          </a:bodyPr>
          <a:lstStyle/>
          <a:p>
            <a:pPr algn="ctr">
              <a:defRPr sz="5600" b="1">
                <a:solidFill>
                  <a:srgbClr val="7C3AED"/>
                </a:solidFill>
              </a:defRPr>
            </a:pPr>
            <a:r>
              <a:t>감사합니다</a:t>
            </a:r>
          </a:p>
        </p:txBody>
      </p:sp>
      <p:sp>
        <p:nvSpPr>
          <p:cNvPr id="3" name="TextBox 2"/>
          <p:cNvSpPr txBox="1"/>
          <p:nvPr/>
        </p:nvSpPr>
        <p:spPr>
          <a:xfrm>
            <a:off x="457200" y="4114800"/>
            <a:ext cx="8229600" cy="914400"/>
          </a:xfrm>
          <a:prstGeom prst="rect">
            <a:avLst/>
          </a:prstGeom>
          <a:noFill/>
        </p:spPr>
        <p:txBody>
          <a:bodyPr wrap="none">
            <a:spAutoFit/>
          </a:bodyPr>
          <a:lstStyle/>
          <a:p>
            <a:pPr algn="ctr">
              <a:defRPr sz="2000">
                <a:solidFill>
                  <a:srgbClr val="A0AEC0"/>
                </a:solidFill>
              </a:defRPr>
            </a:pPr>
            <a:r>
              <a:t>Q&amp;A | 지금 바로 함께 시작하세요!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