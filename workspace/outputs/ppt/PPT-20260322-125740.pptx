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9144000" cy="640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
            <a:ext cx="201168" cy="672998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7772400" cy="1097280"/>
          </a:xfrm>
          <a:prstGeom prst="rect">
            <a:avLst/>
          </a:prstGeom>
          <a:noFill/>
        </p:spPr>
        <p:txBody>
          <a:bodyPr wrap="square">
            <a:spAutoFit/>
          </a:bodyPr>
          <a:lstStyle/>
          <a:p>
            <a:pPr algn="l">
              <a:defRPr sz="4200" b="1">
                <a:solidFill>
                  <a:srgbClr val="0F172A"/>
                </a:solidFill>
                <a:latin typeface="맑은 고딕"/>
              </a:defRPr>
            </a:pPr>
            <a:r>
              <a:t>귀사 시스템 모니터링 웹 대시보드</a:t>
            </a:r>
          </a:p>
        </p:txBody>
      </p:sp>
      <p:sp>
        <p:nvSpPr>
          <p:cNvPr id="5" name="Rounded Rectangle 4"/>
          <p:cNvSpPr/>
          <p:nvPr/>
        </p:nvSpPr>
        <p:spPr>
          <a:xfrm>
            <a:off x="731520" y="3200400"/>
            <a:ext cx="1828800" cy="3657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114800"/>
            <a:ext cx="7772400" cy="365760"/>
          </a:xfrm>
          <a:prstGeom prst="rect">
            <a:avLst/>
          </a:prstGeom>
          <a:noFill/>
        </p:spPr>
        <p:txBody>
          <a:bodyPr wrap="square">
            <a:spAutoFit/>
          </a:bodyPr>
          <a:lstStyle/>
          <a:p>
            <a:pPr algn="l">
              <a:defRPr sz="1400" b="0">
                <a:solidFill>
                  <a:srgbClr val="94A3B8"/>
                </a:solidFill>
                <a:latin typeface="맑은 고딕"/>
              </a:defRPr>
            </a:pPr>
            <a:r>
              <a:t>2026-03-22T12:57:29.201396</a:t>
            </a:r>
          </a:p>
        </p:txBody>
      </p:sp>
      <p:sp>
        <p:nvSpPr>
          <p:cNvPr id="7" name="Rounded Rectangle 6"/>
          <p:cNvSpPr/>
          <p:nvPr/>
        </p:nvSpPr>
        <p:spPr>
          <a:xfrm>
            <a:off x="0" y="6793992"/>
            <a:ext cx="9144000" cy="64008"/>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7315200" cy="365760"/>
          </a:xfrm>
          <a:prstGeom prst="rect">
            <a:avLst/>
          </a:prstGeom>
          <a:noFill/>
        </p:spPr>
        <p:txBody>
          <a:bodyPr wrap="square">
            <a:spAutoFit/>
          </a:bodyPr>
          <a:lstStyle/>
          <a:p>
            <a:pPr algn="l">
              <a:defRPr sz="1200" b="1">
                <a:solidFill>
                  <a:srgbClr val="2563EB"/>
                </a:solidFill>
                <a:latin typeface="맑은 고딕"/>
              </a:defRPr>
            </a:pPr>
            <a:r>
              <a:t>CONTENTS</a:t>
            </a:r>
          </a:p>
        </p:txBody>
      </p:sp>
      <p:sp>
        <p:nvSpPr>
          <p:cNvPr id="3" name="TextBox 2"/>
          <p:cNvSpPr txBox="1"/>
          <p:nvPr/>
        </p:nvSpPr>
        <p:spPr>
          <a:xfrm>
            <a:off x="731520" y="731520"/>
            <a:ext cx="7315200" cy="548640"/>
          </a:xfrm>
          <a:prstGeom prst="rect">
            <a:avLst/>
          </a:prstGeom>
          <a:noFill/>
        </p:spPr>
        <p:txBody>
          <a:bodyPr wrap="square">
            <a:spAutoFit/>
          </a:bodyPr>
          <a:lstStyle/>
          <a:p>
            <a:pPr algn="l">
              <a:defRPr sz="3000" b="1">
                <a:solidFill>
                  <a:srgbClr val="0F172A"/>
                </a:solidFill>
                <a:latin typeface="맑은 고딕"/>
              </a:defRPr>
            </a:pPr>
            <a:r>
              <a:t>목차</a:t>
            </a:r>
          </a:p>
        </p:txBody>
      </p:sp>
      <p:sp>
        <p:nvSpPr>
          <p:cNvPr id="4" name="Rounded Rectangle 3"/>
          <p:cNvSpPr/>
          <p:nvPr/>
        </p:nvSpPr>
        <p:spPr>
          <a:xfrm>
            <a:off x="731520" y="1280160"/>
            <a:ext cx="1371600" cy="3657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1645920"/>
            <a:ext cx="347472" cy="347472"/>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01</a:t>
            </a:r>
          </a:p>
        </p:txBody>
      </p:sp>
      <p:sp>
        <p:nvSpPr>
          <p:cNvPr id="6" name="TextBox 5"/>
          <p:cNvSpPr txBox="1"/>
          <p:nvPr/>
        </p:nvSpPr>
        <p:spPr>
          <a:xfrm>
            <a:off x="1051560" y="1655064"/>
            <a:ext cx="3474720" cy="347472"/>
          </a:xfrm>
          <a:prstGeom prst="rect">
            <a:avLst/>
          </a:prstGeom>
          <a:noFill/>
        </p:spPr>
        <p:txBody>
          <a:bodyPr wrap="square">
            <a:spAutoFit/>
          </a:bodyPr>
          <a:lstStyle/>
          <a:p>
            <a:pPr algn="l">
              <a:defRPr sz="1500" b="0">
                <a:solidFill>
                  <a:srgbClr val="334155"/>
                </a:solidFill>
                <a:latin typeface="맑은 고딕"/>
              </a:defRPr>
            </a:pPr>
            <a:r>
              <a:t>경영진 요약 (Executive Summary)</a:t>
            </a:r>
          </a:p>
        </p:txBody>
      </p:sp>
      <p:sp>
        <p:nvSpPr>
          <p:cNvPr id="7" name="Oval 6"/>
          <p:cNvSpPr/>
          <p:nvPr/>
        </p:nvSpPr>
        <p:spPr>
          <a:xfrm>
            <a:off x="548640" y="2084832"/>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02</a:t>
            </a:r>
          </a:p>
        </p:txBody>
      </p:sp>
      <p:sp>
        <p:nvSpPr>
          <p:cNvPr id="8" name="TextBox 7"/>
          <p:cNvSpPr txBox="1"/>
          <p:nvPr/>
        </p:nvSpPr>
        <p:spPr>
          <a:xfrm>
            <a:off x="1051560" y="2093976"/>
            <a:ext cx="3474720" cy="347472"/>
          </a:xfrm>
          <a:prstGeom prst="rect">
            <a:avLst/>
          </a:prstGeom>
          <a:noFill/>
        </p:spPr>
        <p:txBody>
          <a:bodyPr wrap="square">
            <a:spAutoFit/>
          </a:bodyPr>
          <a:lstStyle/>
          <a:p>
            <a:pPr algn="l">
              <a:defRPr sz="1500" b="0">
                <a:solidFill>
                  <a:srgbClr val="334155"/>
                </a:solidFill>
                <a:latin typeface="맑은 고딕"/>
              </a:defRPr>
            </a:pPr>
            <a:r>
              <a:t>현재 상황과 도전 (Challenges)</a:t>
            </a:r>
          </a:p>
        </p:txBody>
      </p:sp>
      <p:sp>
        <p:nvSpPr>
          <p:cNvPr id="9" name="Oval 8"/>
          <p:cNvSpPr/>
          <p:nvPr/>
        </p:nvSpPr>
        <p:spPr>
          <a:xfrm>
            <a:off x="548640" y="2523744"/>
            <a:ext cx="347472" cy="347472"/>
          </a:xfrm>
          <a:prstGeom prst="ellipse">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03</a:t>
            </a:r>
          </a:p>
        </p:txBody>
      </p:sp>
      <p:sp>
        <p:nvSpPr>
          <p:cNvPr id="10" name="TextBox 9"/>
          <p:cNvSpPr txBox="1"/>
          <p:nvPr/>
        </p:nvSpPr>
        <p:spPr>
          <a:xfrm>
            <a:off x="1051560" y="2532888"/>
            <a:ext cx="3474720" cy="347472"/>
          </a:xfrm>
          <a:prstGeom prst="rect">
            <a:avLst/>
          </a:prstGeom>
          <a:noFill/>
        </p:spPr>
        <p:txBody>
          <a:bodyPr wrap="square">
            <a:spAutoFit/>
          </a:bodyPr>
          <a:lstStyle/>
          <a:p>
            <a:pPr algn="l">
              <a:defRPr sz="1500" b="0">
                <a:solidFill>
                  <a:srgbClr val="334155"/>
                </a:solidFill>
                <a:latin typeface="맑은 고딕"/>
              </a:defRPr>
            </a:pPr>
            <a:r>
              <a:t>프로젝트 목표 (Objectives)</a:t>
            </a:r>
          </a:p>
        </p:txBody>
      </p:sp>
      <p:sp>
        <p:nvSpPr>
          <p:cNvPr id="11" name="Oval 10"/>
          <p:cNvSpPr/>
          <p:nvPr/>
        </p:nvSpPr>
        <p:spPr>
          <a:xfrm>
            <a:off x="548640" y="2962656"/>
            <a:ext cx="347472" cy="347472"/>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04</a:t>
            </a:r>
          </a:p>
        </p:txBody>
      </p:sp>
      <p:sp>
        <p:nvSpPr>
          <p:cNvPr id="12" name="TextBox 11"/>
          <p:cNvSpPr txBox="1"/>
          <p:nvPr/>
        </p:nvSpPr>
        <p:spPr>
          <a:xfrm>
            <a:off x="1051560" y="2971800"/>
            <a:ext cx="3474720" cy="347472"/>
          </a:xfrm>
          <a:prstGeom prst="rect">
            <a:avLst/>
          </a:prstGeom>
          <a:noFill/>
        </p:spPr>
        <p:txBody>
          <a:bodyPr wrap="square">
            <a:spAutoFit/>
          </a:bodyPr>
          <a:lstStyle/>
          <a:p>
            <a:pPr algn="l">
              <a:defRPr sz="1500" b="0">
                <a:solidFill>
                  <a:srgbClr val="334155"/>
                </a:solidFill>
                <a:latin typeface="맑은 고딕"/>
              </a:defRPr>
            </a:pPr>
            <a:r>
              <a:t>우리의 솔루션 (Solution)</a:t>
            </a:r>
          </a:p>
        </p:txBody>
      </p:sp>
      <p:sp>
        <p:nvSpPr>
          <p:cNvPr id="13" name="Oval 12"/>
          <p:cNvSpPr/>
          <p:nvPr/>
        </p:nvSpPr>
        <p:spPr>
          <a:xfrm>
            <a:off x="548640" y="3401568"/>
            <a:ext cx="347472" cy="347472"/>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05</a:t>
            </a:r>
          </a:p>
        </p:txBody>
      </p:sp>
      <p:sp>
        <p:nvSpPr>
          <p:cNvPr id="14" name="TextBox 13"/>
          <p:cNvSpPr txBox="1"/>
          <p:nvPr/>
        </p:nvSpPr>
        <p:spPr>
          <a:xfrm>
            <a:off x="1051560" y="3410712"/>
            <a:ext cx="3474720" cy="347472"/>
          </a:xfrm>
          <a:prstGeom prst="rect">
            <a:avLst/>
          </a:prstGeom>
          <a:noFill/>
        </p:spPr>
        <p:txBody>
          <a:bodyPr wrap="square">
            <a:spAutoFit/>
          </a:bodyPr>
          <a:lstStyle/>
          <a:p>
            <a:pPr algn="l">
              <a:defRPr sz="1500" b="0">
                <a:solidFill>
                  <a:srgbClr val="334155"/>
                </a:solidFill>
                <a:latin typeface="맑은 고딕"/>
              </a:defRPr>
            </a:pPr>
            <a:r>
              <a:t>핵심 기능 (Features)</a:t>
            </a:r>
          </a:p>
        </p:txBody>
      </p:sp>
      <p:sp>
        <p:nvSpPr>
          <p:cNvPr id="15" name="Oval 14"/>
          <p:cNvSpPr/>
          <p:nvPr/>
        </p:nvSpPr>
        <p:spPr>
          <a:xfrm>
            <a:off x="548640" y="3840480"/>
            <a:ext cx="347472" cy="347472"/>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06</a:t>
            </a:r>
          </a:p>
        </p:txBody>
      </p:sp>
      <p:sp>
        <p:nvSpPr>
          <p:cNvPr id="16" name="TextBox 15"/>
          <p:cNvSpPr txBox="1"/>
          <p:nvPr/>
        </p:nvSpPr>
        <p:spPr>
          <a:xfrm>
            <a:off x="1051560" y="3849624"/>
            <a:ext cx="3474720" cy="347472"/>
          </a:xfrm>
          <a:prstGeom prst="rect">
            <a:avLst/>
          </a:prstGeom>
          <a:noFill/>
        </p:spPr>
        <p:txBody>
          <a:bodyPr wrap="square">
            <a:spAutoFit/>
          </a:bodyPr>
          <a:lstStyle/>
          <a:p>
            <a:pPr algn="l">
              <a:defRPr sz="1500" b="0">
                <a:solidFill>
                  <a:srgbClr val="334155"/>
                </a:solidFill>
                <a:latin typeface="맑은 고딕"/>
              </a:defRPr>
            </a:pPr>
            <a:r>
              <a:t>기술 스택 (Tech Stack)</a:t>
            </a:r>
          </a:p>
        </p:txBody>
      </p:sp>
      <p:sp>
        <p:nvSpPr>
          <p:cNvPr id="17" name="Oval 16"/>
          <p:cNvSpPr/>
          <p:nvPr/>
        </p:nvSpPr>
        <p:spPr>
          <a:xfrm>
            <a:off x="4754880" y="1645920"/>
            <a:ext cx="347472" cy="347472"/>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07</a:t>
            </a:r>
          </a:p>
        </p:txBody>
      </p:sp>
      <p:sp>
        <p:nvSpPr>
          <p:cNvPr id="18" name="TextBox 17"/>
          <p:cNvSpPr txBox="1"/>
          <p:nvPr/>
        </p:nvSpPr>
        <p:spPr>
          <a:xfrm>
            <a:off x="5257800" y="1655064"/>
            <a:ext cx="3474720" cy="347472"/>
          </a:xfrm>
          <a:prstGeom prst="rect">
            <a:avLst/>
          </a:prstGeom>
          <a:noFill/>
        </p:spPr>
        <p:txBody>
          <a:bodyPr wrap="square">
            <a:spAutoFit/>
          </a:bodyPr>
          <a:lstStyle/>
          <a:p>
            <a:pPr algn="l">
              <a:defRPr sz="1500" b="0">
                <a:solidFill>
                  <a:srgbClr val="334155"/>
                </a:solidFill>
                <a:latin typeface="맑은 고딕"/>
              </a:defRPr>
            </a:pPr>
            <a:r>
              <a:t>시스템 아키텍처 (Architecture)</a:t>
            </a:r>
          </a:p>
        </p:txBody>
      </p:sp>
      <p:sp>
        <p:nvSpPr>
          <p:cNvPr id="19" name="Oval 18"/>
          <p:cNvSpPr/>
          <p:nvPr/>
        </p:nvSpPr>
        <p:spPr>
          <a:xfrm>
            <a:off x="4754880" y="2084832"/>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08</a:t>
            </a:r>
          </a:p>
        </p:txBody>
      </p:sp>
      <p:sp>
        <p:nvSpPr>
          <p:cNvPr id="20" name="TextBox 19"/>
          <p:cNvSpPr txBox="1"/>
          <p:nvPr/>
        </p:nvSpPr>
        <p:spPr>
          <a:xfrm>
            <a:off x="5257800" y="2093976"/>
            <a:ext cx="3474720" cy="347472"/>
          </a:xfrm>
          <a:prstGeom prst="rect">
            <a:avLst/>
          </a:prstGeom>
          <a:noFill/>
        </p:spPr>
        <p:txBody>
          <a:bodyPr wrap="square">
            <a:spAutoFit/>
          </a:bodyPr>
          <a:lstStyle/>
          <a:p>
            <a:pPr algn="l">
              <a:defRPr sz="1500" b="0">
                <a:solidFill>
                  <a:srgbClr val="334155"/>
                </a:solidFill>
                <a:latin typeface="맑은 고딕"/>
              </a:defRPr>
            </a:pPr>
            <a:r>
              <a:t>프로젝트 일정 (Timeline)</a:t>
            </a:r>
          </a:p>
        </p:txBody>
      </p:sp>
      <p:sp>
        <p:nvSpPr>
          <p:cNvPr id="21" name="Oval 20"/>
          <p:cNvSpPr/>
          <p:nvPr/>
        </p:nvSpPr>
        <p:spPr>
          <a:xfrm>
            <a:off x="4754880" y="2523744"/>
            <a:ext cx="347472" cy="347472"/>
          </a:xfrm>
          <a:prstGeom prst="ellipse">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09</a:t>
            </a:r>
          </a:p>
        </p:txBody>
      </p:sp>
      <p:sp>
        <p:nvSpPr>
          <p:cNvPr id="22" name="TextBox 21"/>
          <p:cNvSpPr txBox="1"/>
          <p:nvPr/>
        </p:nvSpPr>
        <p:spPr>
          <a:xfrm>
            <a:off x="5257800" y="2532888"/>
            <a:ext cx="3474720" cy="347472"/>
          </a:xfrm>
          <a:prstGeom prst="rect">
            <a:avLst/>
          </a:prstGeom>
          <a:noFill/>
        </p:spPr>
        <p:txBody>
          <a:bodyPr wrap="square">
            <a:spAutoFit/>
          </a:bodyPr>
          <a:lstStyle/>
          <a:p>
            <a:pPr algn="l">
              <a:defRPr sz="1500" b="0">
                <a:solidFill>
                  <a:srgbClr val="334155"/>
                </a:solidFill>
                <a:latin typeface="맑은 고딕"/>
              </a:defRPr>
            </a:pPr>
            <a:r>
              <a:t>투입 인력 (Team)</a:t>
            </a:r>
          </a:p>
        </p:txBody>
      </p:sp>
      <p:sp>
        <p:nvSpPr>
          <p:cNvPr id="23" name="Oval 22"/>
          <p:cNvSpPr/>
          <p:nvPr/>
        </p:nvSpPr>
        <p:spPr>
          <a:xfrm>
            <a:off x="4754880" y="2962656"/>
            <a:ext cx="347472" cy="347472"/>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10</a:t>
            </a:r>
          </a:p>
        </p:txBody>
      </p:sp>
      <p:sp>
        <p:nvSpPr>
          <p:cNvPr id="24" name="TextBox 23"/>
          <p:cNvSpPr txBox="1"/>
          <p:nvPr/>
        </p:nvSpPr>
        <p:spPr>
          <a:xfrm>
            <a:off x="5257800" y="2971800"/>
            <a:ext cx="3474720" cy="347472"/>
          </a:xfrm>
          <a:prstGeom prst="rect">
            <a:avLst/>
          </a:prstGeom>
          <a:noFill/>
        </p:spPr>
        <p:txBody>
          <a:bodyPr wrap="square">
            <a:spAutoFit/>
          </a:bodyPr>
          <a:lstStyle/>
          <a:p>
            <a:pPr algn="l">
              <a:defRPr sz="1500" b="0">
                <a:solidFill>
                  <a:srgbClr val="334155"/>
                </a:solidFill>
                <a:latin typeface="맑은 고딕"/>
              </a:defRPr>
            </a:pPr>
            <a:r>
              <a:t>리스크 관리 (Risks)</a:t>
            </a:r>
          </a:p>
        </p:txBody>
      </p:sp>
      <p:sp>
        <p:nvSpPr>
          <p:cNvPr id="25" name="Oval 24"/>
          <p:cNvSpPr/>
          <p:nvPr/>
        </p:nvSpPr>
        <p:spPr>
          <a:xfrm>
            <a:off x="4754880" y="3401568"/>
            <a:ext cx="347472" cy="347472"/>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11</a:t>
            </a:r>
          </a:p>
        </p:txBody>
      </p:sp>
      <p:sp>
        <p:nvSpPr>
          <p:cNvPr id="26" name="TextBox 25"/>
          <p:cNvSpPr txBox="1"/>
          <p:nvPr/>
        </p:nvSpPr>
        <p:spPr>
          <a:xfrm>
            <a:off x="5257800" y="3410712"/>
            <a:ext cx="3474720" cy="347472"/>
          </a:xfrm>
          <a:prstGeom prst="rect">
            <a:avLst/>
          </a:prstGeom>
          <a:noFill/>
        </p:spPr>
        <p:txBody>
          <a:bodyPr wrap="square">
            <a:spAutoFit/>
          </a:bodyPr>
          <a:lstStyle/>
          <a:p>
            <a:pPr algn="l">
              <a:defRPr sz="1500" b="0">
                <a:solidFill>
                  <a:srgbClr val="334155"/>
                </a:solidFill>
                <a:latin typeface="맑은 고딕"/>
              </a:defRPr>
            </a:pPr>
            <a:r>
              <a:t>기대 효과 (Benefits)</a:t>
            </a:r>
          </a:p>
        </p:txBody>
      </p:sp>
      <p:sp>
        <p:nvSpPr>
          <p:cNvPr id="27" name="Oval 26"/>
          <p:cNvSpPr/>
          <p:nvPr/>
        </p:nvSpPr>
        <p:spPr>
          <a:xfrm>
            <a:off x="4754880" y="3840480"/>
            <a:ext cx="347472" cy="347472"/>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12</a:t>
            </a:r>
          </a:p>
        </p:txBody>
      </p:sp>
      <p:sp>
        <p:nvSpPr>
          <p:cNvPr id="28" name="TextBox 27"/>
          <p:cNvSpPr txBox="1"/>
          <p:nvPr/>
        </p:nvSpPr>
        <p:spPr>
          <a:xfrm>
            <a:off x="5257800" y="3849624"/>
            <a:ext cx="3474720" cy="347472"/>
          </a:xfrm>
          <a:prstGeom prst="rect">
            <a:avLst/>
          </a:prstGeom>
          <a:noFill/>
        </p:spPr>
        <p:txBody>
          <a:bodyPr wrap="square">
            <a:spAutoFit/>
          </a:bodyPr>
          <a:lstStyle/>
          <a:p>
            <a:pPr algn="l">
              <a:defRPr sz="1500" b="0">
                <a:solidFill>
                  <a:srgbClr val="334155"/>
                </a:solidFill>
                <a:latin typeface="맑은 고딕"/>
              </a:defRPr>
            </a:pPr>
            <a:r>
              <a:t>다음 단계 (Next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200" b="1">
                <a:solidFill>
                  <a:srgbClr val="94A3B8"/>
                </a:solidFill>
                <a:latin typeface="맑은 고딕"/>
              </a:defRPr>
            </a:pPr>
            <a:r>
              <a:t>EXECUTIVE SUMMARY</a:t>
            </a:r>
          </a:p>
        </p:txBody>
      </p:sp>
      <p:sp>
        <p:nvSpPr>
          <p:cNvPr id="3" name="TextBox 2"/>
          <p:cNvSpPr txBox="1"/>
          <p:nvPr/>
        </p:nvSpPr>
        <p:spPr>
          <a:xfrm>
            <a:off x="731520" y="1005840"/>
            <a:ext cx="7680960" cy="1645920"/>
          </a:xfrm>
          <a:prstGeom prst="rect">
            <a:avLst/>
          </a:prstGeom>
          <a:noFill/>
        </p:spPr>
        <p:txBody>
          <a:bodyPr wrap="square">
            <a:spAutoFit/>
          </a:bodyPr>
          <a:lstStyle/>
          <a:p>
            <a:pPr algn="l">
              <a:defRPr sz="2400" b="1">
                <a:solidFill>
                  <a:srgbClr val="FFFFFF"/>
                </a:solidFill>
                <a:latin typeface="맑은 고딕"/>
              </a:defRPr>
            </a:pPr>
            <a:r>
              <a:t>현재 귀사의 IT 운영팀은 CLI 기반 도구에 의존하여 서버 상태를 확인하고 있어, 시스템 이상 징후를 신속히 포착하기 어렵고 장애 대응이 지연되고 있습니다. 이로 인해 서버 다운타임 증가와 운영 비용 상승이 반복되며, 안정적인 서비스 제공에 직접적인 위협이 되고 있습</a:t>
            </a:r>
          </a:p>
        </p:txBody>
      </p:sp>
      <p:sp>
        <p:nvSpPr>
          <p:cNvPr id="4" name="Rounded Rectangle 3"/>
          <p:cNvSpPr/>
          <p:nvPr/>
        </p:nvSpPr>
        <p:spPr>
          <a:xfrm>
            <a:off x="1005840" y="3474720"/>
            <a:ext cx="2194560" cy="1645920"/>
          </a:xfrm>
          <a:prstGeom prst="roundRect">
            <a:avLst>
              <a:gd name="adj" fmla="val 6000"/>
            </a:avLst>
          </a:prstGeom>
          <a:solidFill>
            <a:srgbClr val="1E4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3611880"/>
            <a:ext cx="1920240" cy="320040"/>
          </a:xfrm>
          <a:prstGeom prst="rect">
            <a:avLst/>
          </a:prstGeom>
          <a:noFill/>
        </p:spPr>
        <p:txBody>
          <a:bodyPr wrap="square">
            <a:spAutoFit/>
          </a:bodyPr>
          <a:lstStyle/>
          <a:p>
            <a:pPr algn="l">
              <a:defRPr sz="1100" b="0">
                <a:solidFill>
                  <a:srgbClr val="94A3B8"/>
                </a:solidFill>
                <a:latin typeface="맑은 고딕"/>
              </a:defRPr>
            </a:pPr>
            <a:r>
              <a:t>프로젝트 기간</a:t>
            </a:r>
          </a:p>
        </p:txBody>
      </p:sp>
      <p:sp>
        <p:nvSpPr>
          <p:cNvPr id="6" name="TextBox 5"/>
          <p:cNvSpPr txBox="1"/>
          <p:nvPr/>
        </p:nvSpPr>
        <p:spPr>
          <a:xfrm>
            <a:off x="1143000" y="3977639"/>
            <a:ext cx="1920240" cy="548640"/>
          </a:xfrm>
          <a:prstGeom prst="rect">
            <a:avLst/>
          </a:prstGeom>
          <a:noFill/>
        </p:spPr>
        <p:txBody>
          <a:bodyPr wrap="square">
            <a:spAutoFit/>
          </a:bodyPr>
          <a:lstStyle/>
          <a:p>
            <a:pPr algn="ctr">
              <a:defRPr sz="2200" b="1">
                <a:solidFill>
                  <a:srgbClr val="FFFFFF"/>
                </a:solidFill>
                <a:latin typeface="맑은 고딕"/>
              </a:defRPr>
            </a:pPr>
            <a:r>
              <a:t>6개월</a:t>
            </a:r>
          </a:p>
        </p:txBody>
      </p:sp>
      <p:sp>
        <p:nvSpPr>
          <p:cNvPr id="7" name="Rounded Rectangle 6"/>
          <p:cNvSpPr/>
          <p:nvPr/>
        </p:nvSpPr>
        <p:spPr>
          <a:xfrm>
            <a:off x="3474720" y="3474720"/>
            <a:ext cx="2194560" cy="1645920"/>
          </a:xfrm>
          <a:prstGeom prst="roundRect">
            <a:avLst>
              <a:gd name="adj" fmla="val 6000"/>
            </a:avLst>
          </a:prstGeom>
          <a:solidFill>
            <a:srgbClr val="1E4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3611880"/>
            <a:ext cx="1920240" cy="320040"/>
          </a:xfrm>
          <a:prstGeom prst="rect">
            <a:avLst/>
          </a:prstGeom>
          <a:noFill/>
        </p:spPr>
        <p:txBody>
          <a:bodyPr wrap="square">
            <a:spAutoFit/>
          </a:bodyPr>
          <a:lstStyle/>
          <a:p>
            <a:pPr algn="l">
              <a:defRPr sz="1100" b="0">
                <a:solidFill>
                  <a:srgbClr val="94A3B8"/>
                </a:solidFill>
                <a:latin typeface="맑은 고딕"/>
              </a:defRPr>
            </a:pPr>
            <a:r>
              <a:t>투입 공수</a:t>
            </a:r>
          </a:p>
        </p:txBody>
      </p:sp>
      <p:sp>
        <p:nvSpPr>
          <p:cNvPr id="9" name="TextBox 8"/>
          <p:cNvSpPr txBox="1"/>
          <p:nvPr/>
        </p:nvSpPr>
        <p:spPr>
          <a:xfrm>
            <a:off x="3611880" y="3977639"/>
            <a:ext cx="1920240" cy="548640"/>
          </a:xfrm>
          <a:prstGeom prst="rect">
            <a:avLst/>
          </a:prstGeom>
          <a:noFill/>
        </p:spPr>
        <p:txBody>
          <a:bodyPr wrap="square">
            <a:spAutoFit/>
          </a:bodyPr>
          <a:lstStyle/>
          <a:p>
            <a:pPr algn="ctr">
              <a:defRPr sz="2200" b="1">
                <a:solidFill>
                  <a:srgbClr val="FFFFFF"/>
                </a:solidFill>
                <a:latin typeface="맑은 고딕"/>
              </a:defRPr>
            </a:pPr>
            <a:r>
              <a:t>38.4 M/M</a:t>
            </a:r>
          </a:p>
        </p:txBody>
      </p:sp>
      <p:sp>
        <p:nvSpPr>
          <p:cNvPr id="10" name="Rounded Rectangle 9"/>
          <p:cNvSpPr/>
          <p:nvPr/>
        </p:nvSpPr>
        <p:spPr>
          <a:xfrm>
            <a:off x="5943600" y="3474720"/>
            <a:ext cx="2194560" cy="1645920"/>
          </a:xfrm>
          <a:prstGeom prst="roundRect">
            <a:avLst>
              <a:gd name="adj" fmla="val 6000"/>
            </a:avLst>
          </a:prstGeom>
          <a:solidFill>
            <a:srgbClr val="1E4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3611880"/>
            <a:ext cx="1920240" cy="320040"/>
          </a:xfrm>
          <a:prstGeom prst="rect">
            <a:avLst/>
          </a:prstGeom>
          <a:noFill/>
        </p:spPr>
        <p:txBody>
          <a:bodyPr wrap="square">
            <a:spAutoFit/>
          </a:bodyPr>
          <a:lstStyle/>
          <a:p>
            <a:pPr algn="l">
              <a:defRPr sz="1100" b="0">
                <a:solidFill>
                  <a:srgbClr val="94A3B8"/>
                </a:solidFill>
                <a:latin typeface="맑은 고딕"/>
              </a:defRPr>
            </a:pPr>
            <a:r>
              <a:t>핵심 효과</a:t>
            </a:r>
          </a:p>
        </p:txBody>
      </p:sp>
      <p:sp>
        <p:nvSpPr>
          <p:cNvPr id="12" name="TextBox 11"/>
          <p:cNvSpPr txBox="1"/>
          <p:nvPr/>
        </p:nvSpPr>
        <p:spPr>
          <a:xfrm>
            <a:off x="6080760" y="3977639"/>
            <a:ext cx="1920240" cy="548640"/>
          </a:xfrm>
          <a:prstGeom prst="rect">
            <a:avLst/>
          </a:prstGeom>
          <a:noFill/>
        </p:spPr>
        <p:txBody>
          <a:bodyPr wrap="square">
            <a:spAutoFit/>
          </a:bodyPr>
          <a:lstStyle/>
          <a:p>
            <a:pPr algn="ctr">
              <a:defRPr sz="2200" b="1">
                <a:solidFill>
                  <a:srgbClr val="FFFFFF"/>
                </a:solidFill>
                <a:latin typeface="맑은 고딕"/>
              </a:defRPr>
            </a:pPr>
            <a:r>
              <a:t>시스템 장애 감지 시간 70% 단축</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7315200" cy="365760"/>
          </a:xfrm>
          <a:prstGeom prst="rect">
            <a:avLst/>
          </a:prstGeom>
          <a:noFill/>
        </p:spPr>
        <p:txBody>
          <a:bodyPr wrap="square">
            <a:spAutoFit/>
          </a:bodyPr>
          <a:lstStyle/>
          <a:p>
            <a:pPr algn="l">
              <a:defRPr sz="1200" b="1">
                <a:solidFill>
                  <a:srgbClr val="2563EB"/>
                </a:solidFill>
                <a:latin typeface="맑은 고딕"/>
              </a:defRPr>
            </a:pPr>
            <a:r>
              <a:t>EXECUTIVE SUMMARY</a:t>
            </a:r>
          </a:p>
        </p:txBody>
      </p:sp>
      <p:sp>
        <p:nvSpPr>
          <p:cNvPr id="3" name="TextBox 2"/>
          <p:cNvSpPr txBox="1"/>
          <p:nvPr/>
        </p:nvSpPr>
        <p:spPr>
          <a:xfrm>
            <a:off x="731520" y="731520"/>
            <a:ext cx="7315200" cy="548640"/>
          </a:xfrm>
          <a:prstGeom prst="rect">
            <a:avLst/>
          </a:prstGeom>
          <a:noFill/>
        </p:spPr>
        <p:txBody>
          <a:bodyPr wrap="square">
            <a:spAutoFit/>
          </a:bodyPr>
          <a:lstStyle/>
          <a:p>
            <a:pPr algn="l">
              <a:defRPr sz="3000" b="1">
                <a:solidFill>
                  <a:srgbClr val="0F172A"/>
                </a:solidFill>
                <a:latin typeface="맑은 고딕"/>
              </a:defRPr>
            </a:pPr>
            <a:r>
              <a:t>프로젝트 개요</a:t>
            </a:r>
          </a:p>
        </p:txBody>
      </p:sp>
      <p:sp>
        <p:nvSpPr>
          <p:cNvPr id="4" name="Rounded Rectangle 3"/>
          <p:cNvSpPr/>
          <p:nvPr/>
        </p:nvSpPr>
        <p:spPr>
          <a:xfrm>
            <a:off x="731520" y="1280160"/>
            <a:ext cx="1371600" cy="3657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645920"/>
            <a:ext cx="8229600" cy="704088"/>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080" y="1769364"/>
            <a:ext cx="411480" cy="41148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P</a:t>
            </a:r>
          </a:p>
        </p:txBody>
      </p:sp>
      <p:sp>
        <p:nvSpPr>
          <p:cNvPr id="7" name="TextBox 6"/>
          <p:cNvSpPr txBox="1"/>
          <p:nvPr/>
        </p:nvSpPr>
        <p:spPr>
          <a:xfrm>
            <a:off x="1234440" y="1719072"/>
            <a:ext cx="2011680" cy="274320"/>
          </a:xfrm>
          <a:prstGeom prst="rect">
            <a:avLst/>
          </a:prstGeom>
          <a:noFill/>
        </p:spPr>
        <p:txBody>
          <a:bodyPr wrap="square">
            <a:spAutoFit/>
          </a:bodyPr>
          <a:lstStyle/>
          <a:p>
            <a:pPr algn="l">
              <a:defRPr sz="1200" b="1">
                <a:solidFill>
                  <a:srgbClr val="2563EB"/>
                </a:solidFill>
                <a:latin typeface="맑은 고딕"/>
              </a:defRPr>
            </a:pPr>
            <a:r>
              <a:t>해결할 문제</a:t>
            </a:r>
          </a:p>
        </p:txBody>
      </p:sp>
      <p:sp>
        <p:nvSpPr>
          <p:cNvPr id="8" name="TextBox 7"/>
          <p:cNvSpPr txBox="1"/>
          <p:nvPr/>
        </p:nvSpPr>
        <p:spPr>
          <a:xfrm>
            <a:off x="1234440" y="1993392"/>
            <a:ext cx="7132320" cy="320040"/>
          </a:xfrm>
          <a:prstGeom prst="rect">
            <a:avLst/>
          </a:prstGeom>
          <a:noFill/>
        </p:spPr>
        <p:txBody>
          <a:bodyPr wrap="square">
            <a:spAutoFit/>
          </a:bodyPr>
          <a:lstStyle/>
          <a:p>
            <a:pPr algn="l">
              <a:defRPr sz="1400" b="0">
                <a:solidFill>
                  <a:srgbClr val="334155"/>
                </a:solidFill>
                <a:latin typeface="맑은 고딕"/>
              </a:defRPr>
            </a:pPr>
            <a:r>
              <a:t>현재 귀사의 IT 운영팀은 CLI 기반 도구에 의존하여 서버 상태를 확인하고 있어, 시스템 이상 징후를 신속히 포착하기 어렵고 장애 대응이 지연</a:t>
            </a:r>
          </a:p>
        </p:txBody>
      </p:sp>
      <p:sp>
        <p:nvSpPr>
          <p:cNvPr id="9" name="Rounded Rectangle 8"/>
          <p:cNvSpPr/>
          <p:nvPr/>
        </p:nvSpPr>
        <p:spPr>
          <a:xfrm>
            <a:off x="457200" y="2423160"/>
            <a:ext cx="8229600" cy="704088"/>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0080" y="2546603"/>
            <a:ext cx="411480" cy="41148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S</a:t>
            </a:r>
          </a:p>
        </p:txBody>
      </p:sp>
      <p:sp>
        <p:nvSpPr>
          <p:cNvPr id="11" name="TextBox 10"/>
          <p:cNvSpPr txBox="1"/>
          <p:nvPr/>
        </p:nvSpPr>
        <p:spPr>
          <a:xfrm>
            <a:off x="1234440" y="2496312"/>
            <a:ext cx="2011680" cy="274320"/>
          </a:xfrm>
          <a:prstGeom prst="rect">
            <a:avLst/>
          </a:prstGeom>
          <a:noFill/>
        </p:spPr>
        <p:txBody>
          <a:bodyPr wrap="square">
            <a:spAutoFit/>
          </a:bodyPr>
          <a:lstStyle/>
          <a:p>
            <a:pPr algn="l">
              <a:defRPr sz="1200" b="1">
                <a:solidFill>
                  <a:srgbClr val="2563EB"/>
                </a:solidFill>
                <a:latin typeface="맑은 고딕"/>
              </a:defRPr>
            </a:pPr>
            <a:r>
              <a:t>예상 기간</a:t>
            </a:r>
          </a:p>
        </p:txBody>
      </p:sp>
      <p:sp>
        <p:nvSpPr>
          <p:cNvPr id="12" name="TextBox 11"/>
          <p:cNvSpPr txBox="1"/>
          <p:nvPr/>
        </p:nvSpPr>
        <p:spPr>
          <a:xfrm>
            <a:off x="1234440" y="2770632"/>
            <a:ext cx="7132320" cy="320040"/>
          </a:xfrm>
          <a:prstGeom prst="rect">
            <a:avLst/>
          </a:prstGeom>
          <a:noFill/>
        </p:spPr>
        <p:txBody>
          <a:bodyPr wrap="square">
            <a:spAutoFit/>
          </a:bodyPr>
          <a:lstStyle/>
          <a:p>
            <a:pPr algn="l">
              <a:defRPr sz="1400" b="0">
                <a:solidFill>
                  <a:srgbClr val="334155"/>
                </a:solidFill>
                <a:latin typeface="맑은 고딕"/>
              </a:defRPr>
            </a:pPr>
            <a:r>
              <a:t>6개월</a:t>
            </a:r>
          </a:p>
        </p:txBody>
      </p:sp>
      <p:sp>
        <p:nvSpPr>
          <p:cNvPr id="13" name="Rounded Rectangle 12"/>
          <p:cNvSpPr/>
          <p:nvPr/>
        </p:nvSpPr>
        <p:spPr>
          <a:xfrm>
            <a:off x="457200" y="3200400"/>
            <a:ext cx="8229600" cy="704088"/>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080" y="3323844"/>
            <a:ext cx="411480" cy="411480"/>
          </a:xfrm>
          <a:prstGeom prst="ellipse">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T</a:t>
            </a:r>
          </a:p>
        </p:txBody>
      </p:sp>
      <p:sp>
        <p:nvSpPr>
          <p:cNvPr id="15" name="TextBox 14"/>
          <p:cNvSpPr txBox="1"/>
          <p:nvPr/>
        </p:nvSpPr>
        <p:spPr>
          <a:xfrm>
            <a:off x="1234440" y="3273552"/>
            <a:ext cx="2011680" cy="274320"/>
          </a:xfrm>
          <a:prstGeom prst="rect">
            <a:avLst/>
          </a:prstGeom>
          <a:noFill/>
        </p:spPr>
        <p:txBody>
          <a:bodyPr wrap="square">
            <a:spAutoFit/>
          </a:bodyPr>
          <a:lstStyle/>
          <a:p>
            <a:pPr algn="l">
              <a:defRPr sz="1200" b="1">
                <a:solidFill>
                  <a:srgbClr val="2563EB"/>
                </a:solidFill>
                <a:latin typeface="맑은 고딕"/>
              </a:defRPr>
            </a:pPr>
            <a:r>
              <a:t>투입 공수</a:t>
            </a:r>
          </a:p>
        </p:txBody>
      </p:sp>
      <p:sp>
        <p:nvSpPr>
          <p:cNvPr id="16" name="TextBox 15"/>
          <p:cNvSpPr txBox="1"/>
          <p:nvPr/>
        </p:nvSpPr>
        <p:spPr>
          <a:xfrm>
            <a:off x="1234440" y="3547872"/>
            <a:ext cx="7132320" cy="320040"/>
          </a:xfrm>
          <a:prstGeom prst="rect">
            <a:avLst/>
          </a:prstGeom>
          <a:noFill/>
        </p:spPr>
        <p:txBody>
          <a:bodyPr wrap="square">
            <a:spAutoFit/>
          </a:bodyPr>
          <a:lstStyle/>
          <a:p>
            <a:pPr algn="l">
              <a:defRPr sz="1400" b="0">
                <a:solidFill>
                  <a:srgbClr val="334155"/>
                </a:solidFill>
                <a:latin typeface="맑은 고딕"/>
              </a:defRPr>
            </a:pPr>
            <a:r>
              <a:t>38.4 M/M</a:t>
            </a:r>
          </a:p>
        </p:txBody>
      </p:sp>
      <p:sp>
        <p:nvSpPr>
          <p:cNvPr id="17" name="Rounded Rectangle 16"/>
          <p:cNvSpPr/>
          <p:nvPr/>
        </p:nvSpPr>
        <p:spPr>
          <a:xfrm>
            <a:off x="457200" y="3977639"/>
            <a:ext cx="8229600" cy="704088"/>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0080" y="4101083"/>
            <a:ext cx="411480" cy="41148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E</a:t>
            </a:r>
          </a:p>
        </p:txBody>
      </p:sp>
      <p:sp>
        <p:nvSpPr>
          <p:cNvPr id="19" name="TextBox 18"/>
          <p:cNvSpPr txBox="1"/>
          <p:nvPr/>
        </p:nvSpPr>
        <p:spPr>
          <a:xfrm>
            <a:off x="1234440" y="4050791"/>
            <a:ext cx="2011680" cy="274320"/>
          </a:xfrm>
          <a:prstGeom prst="rect">
            <a:avLst/>
          </a:prstGeom>
          <a:noFill/>
        </p:spPr>
        <p:txBody>
          <a:bodyPr wrap="square">
            <a:spAutoFit/>
          </a:bodyPr>
          <a:lstStyle/>
          <a:p>
            <a:pPr algn="l">
              <a:defRPr sz="1200" b="1">
                <a:solidFill>
                  <a:srgbClr val="2563EB"/>
                </a:solidFill>
                <a:latin typeface="맑은 고딕"/>
              </a:defRPr>
            </a:pPr>
            <a:r>
              <a:t>핵심 효과</a:t>
            </a:r>
          </a:p>
        </p:txBody>
      </p:sp>
      <p:sp>
        <p:nvSpPr>
          <p:cNvPr id="20" name="TextBox 19"/>
          <p:cNvSpPr txBox="1"/>
          <p:nvPr/>
        </p:nvSpPr>
        <p:spPr>
          <a:xfrm>
            <a:off x="1234440" y="4325112"/>
            <a:ext cx="7132320" cy="320040"/>
          </a:xfrm>
          <a:prstGeom prst="rect">
            <a:avLst/>
          </a:prstGeom>
          <a:noFill/>
        </p:spPr>
        <p:txBody>
          <a:bodyPr wrap="square">
            <a:spAutoFit/>
          </a:bodyPr>
          <a:lstStyle/>
          <a:p>
            <a:pPr algn="l">
              <a:defRPr sz="1400" b="0">
                <a:solidFill>
                  <a:srgbClr val="334155"/>
                </a:solidFill>
                <a:latin typeface="맑은 고딕"/>
              </a:defRPr>
            </a:pPr>
            <a:r>
              <a:t>시스템 장애 감지 시간 70% 단축</a:t>
            </a:r>
          </a:p>
        </p:txBody>
      </p:sp>
      <p:sp>
        <p:nvSpPr>
          <p:cNvPr id="21" name="Rounded Rectangle 20"/>
          <p:cNvSpPr/>
          <p:nvPr/>
        </p:nvSpPr>
        <p:spPr>
          <a:xfrm>
            <a:off x="457200" y="4754880"/>
            <a:ext cx="8229600" cy="704088"/>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0080" y="4878324"/>
            <a:ext cx="411480" cy="41148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K</a:t>
            </a:r>
          </a:p>
        </p:txBody>
      </p:sp>
      <p:sp>
        <p:nvSpPr>
          <p:cNvPr id="23" name="TextBox 22"/>
          <p:cNvSpPr txBox="1"/>
          <p:nvPr/>
        </p:nvSpPr>
        <p:spPr>
          <a:xfrm>
            <a:off x="1234440" y="4828032"/>
            <a:ext cx="2011680" cy="274320"/>
          </a:xfrm>
          <a:prstGeom prst="rect">
            <a:avLst/>
          </a:prstGeom>
          <a:noFill/>
        </p:spPr>
        <p:txBody>
          <a:bodyPr wrap="square">
            <a:spAutoFit/>
          </a:bodyPr>
          <a:lstStyle/>
          <a:p>
            <a:pPr algn="l">
              <a:defRPr sz="1200" b="1">
                <a:solidFill>
                  <a:srgbClr val="2563EB"/>
                </a:solidFill>
                <a:latin typeface="맑은 고딕"/>
              </a:defRPr>
            </a:pPr>
            <a:r>
              <a:t>핵심 효과</a:t>
            </a:r>
          </a:p>
        </p:txBody>
      </p:sp>
      <p:sp>
        <p:nvSpPr>
          <p:cNvPr id="24" name="TextBox 23"/>
          <p:cNvSpPr txBox="1"/>
          <p:nvPr/>
        </p:nvSpPr>
        <p:spPr>
          <a:xfrm>
            <a:off x="1234440" y="5102352"/>
            <a:ext cx="7132320" cy="320040"/>
          </a:xfrm>
          <a:prstGeom prst="rect">
            <a:avLst/>
          </a:prstGeom>
          <a:noFill/>
        </p:spPr>
        <p:txBody>
          <a:bodyPr wrap="square">
            <a:spAutoFit/>
          </a:bodyPr>
          <a:lstStyle/>
          <a:p>
            <a:pPr algn="l">
              <a:defRPr sz="1400" b="0">
                <a:solidFill>
                  <a:srgbClr val="334155"/>
                </a:solidFill>
                <a:latin typeface="맑은 고딕"/>
              </a:defRPr>
            </a:pPr>
            <a:r>
              <a:t>운영자 모니터링 업무 시간 60% 절감</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TextBox 1"/>
          <p:cNvSpPr txBox="1"/>
          <p:nvPr/>
        </p:nvSpPr>
        <p:spPr>
          <a:xfrm>
            <a:off x="731520" y="1828800"/>
            <a:ext cx="7315200" cy="822960"/>
          </a:xfrm>
          <a:prstGeom prst="rect">
            <a:avLst/>
          </a:prstGeom>
          <a:noFill/>
        </p:spPr>
        <p:txBody>
          <a:bodyPr wrap="square">
            <a:spAutoFit/>
          </a:bodyPr>
          <a:lstStyle/>
          <a:p>
            <a:pPr algn="l">
              <a:defRPr sz="6400" b="1">
                <a:solidFill>
                  <a:srgbClr val="3B82F6"/>
                </a:solidFill>
                <a:latin typeface="맑은 고딕"/>
              </a:defRPr>
            </a:pPr>
            <a:r>
              <a:t>01</a:t>
            </a:r>
          </a:p>
        </p:txBody>
      </p:sp>
      <p:sp>
        <p:nvSpPr>
          <p:cNvPr id="3" name="Rounded Rectangle 2"/>
          <p:cNvSpPr/>
          <p:nvPr/>
        </p:nvSpPr>
        <p:spPr>
          <a:xfrm>
            <a:off x="731520" y="2743200"/>
            <a:ext cx="1828800" cy="4572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017520"/>
            <a:ext cx="7315200" cy="822960"/>
          </a:xfrm>
          <a:prstGeom prst="rect">
            <a:avLst/>
          </a:prstGeom>
          <a:noFill/>
        </p:spPr>
        <p:txBody>
          <a:bodyPr wrap="square">
            <a:spAutoFit/>
          </a:bodyPr>
          <a:lstStyle/>
          <a:p>
            <a:pPr algn="l">
              <a:defRPr sz="3600" b="1">
                <a:solidFill>
                  <a:srgbClr val="FFFFFF"/>
                </a:solidFill>
                <a:latin typeface="맑은 고딕"/>
              </a:defRPr>
            </a:pPr>
            <a:r>
              <a:t>현재 상황</a:t>
            </a:r>
          </a:p>
        </p:txBody>
      </p:sp>
      <p:sp>
        <p:nvSpPr>
          <p:cNvPr id="5" name="TextBox 4"/>
          <p:cNvSpPr txBox="1"/>
          <p:nvPr/>
        </p:nvSpPr>
        <p:spPr>
          <a:xfrm>
            <a:off x="731520" y="3840480"/>
            <a:ext cx="7315200" cy="457200"/>
          </a:xfrm>
          <a:prstGeom prst="rect">
            <a:avLst/>
          </a:prstGeom>
          <a:noFill/>
        </p:spPr>
        <p:txBody>
          <a:bodyPr wrap="square">
            <a:spAutoFit/>
          </a:bodyPr>
          <a:lstStyle/>
          <a:p>
            <a:pPr algn="l">
              <a:defRPr sz="1600" b="0">
                <a:solidFill>
                  <a:srgbClr val="94A3B8"/>
                </a:solidFill>
                <a:latin typeface="맑은 고딕"/>
              </a:defRPr>
            </a:pPr>
            <a:r>
              <a:t>Current Challenges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7315200" cy="365760"/>
          </a:xfrm>
          <a:prstGeom prst="rect">
            <a:avLst/>
          </a:prstGeom>
          <a:noFill/>
        </p:spPr>
        <p:txBody>
          <a:bodyPr wrap="square">
            <a:spAutoFit/>
          </a:bodyPr>
          <a:lstStyle/>
          <a:p>
            <a:pPr algn="l">
              <a:defRPr sz="1200" b="1">
                <a:solidFill>
                  <a:srgbClr val="DC2626"/>
                </a:solidFill>
                <a:latin typeface="맑은 고딕"/>
              </a:defRPr>
            </a:pPr>
            <a:r>
              <a:t>CHALLENGES</a:t>
            </a:r>
          </a:p>
        </p:txBody>
      </p:sp>
      <p:sp>
        <p:nvSpPr>
          <p:cNvPr id="3" name="TextBox 2"/>
          <p:cNvSpPr txBox="1"/>
          <p:nvPr/>
        </p:nvSpPr>
        <p:spPr>
          <a:xfrm>
            <a:off x="731520" y="731520"/>
            <a:ext cx="7315200" cy="548640"/>
          </a:xfrm>
          <a:prstGeom prst="rect">
            <a:avLst/>
          </a:prstGeom>
          <a:noFill/>
        </p:spPr>
        <p:txBody>
          <a:bodyPr wrap="square">
            <a:spAutoFit/>
          </a:bodyPr>
          <a:lstStyle/>
          <a:p>
            <a:pPr algn="l">
              <a:defRPr sz="3000" b="1">
                <a:solidFill>
                  <a:srgbClr val="0F172A"/>
                </a:solidFill>
                <a:latin typeface="맑은 고딕"/>
              </a:defRPr>
            </a:pPr>
            <a:r>
              <a:t>현재의 도전과 과제</a:t>
            </a:r>
          </a:p>
        </p:txBody>
      </p:sp>
      <p:sp>
        <p:nvSpPr>
          <p:cNvPr id="4" name="Rounded Rectangle 3"/>
          <p:cNvSpPr/>
          <p:nvPr/>
        </p:nvSpPr>
        <p:spPr>
          <a:xfrm>
            <a:off x="731520" y="1280160"/>
            <a:ext cx="1371600" cy="36576"/>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39" y="1645920"/>
            <a:ext cx="3840480" cy="219456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85799" y="1783080"/>
            <a:ext cx="347472" cy="347472"/>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a:t>
            </a:r>
          </a:p>
        </p:txBody>
      </p:sp>
      <p:sp>
        <p:nvSpPr>
          <p:cNvPr id="7" name="TextBox 6"/>
          <p:cNvSpPr txBox="1"/>
          <p:nvPr/>
        </p:nvSpPr>
        <p:spPr>
          <a:xfrm>
            <a:off x="1142999" y="1783080"/>
            <a:ext cx="3063240" cy="320040"/>
          </a:xfrm>
          <a:prstGeom prst="rect">
            <a:avLst/>
          </a:prstGeom>
          <a:noFill/>
        </p:spPr>
        <p:txBody>
          <a:bodyPr wrap="square">
            <a:spAutoFit/>
          </a:bodyPr>
          <a:lstStyle/>
          <a:p>
            <a:pPr algn="l">
              <a:defRPr sz="1400" b="1">
                <a:solidFill>
                  <a:srgbClr val="0F172A"/>
                </a:solidFill>
                <a:latin typeface="맑은 고딕"/>
              </a:defRPr>
            </a:pPr>
            <a:r>
              <a:t>현황 1</a:t>
            </a:r>
          </a:p>
        </p:txBody>
      </p:sp>
      <p:sp>
        <p:nvSpPr>
          <p:cNvPr id="8" name="TextBox 7"/>
          <p:cNvSpPr txBox="1"/>
          <p:nvPr/>
        </p:nvSpPr>
        <p:spPr>
          <a:xfrm>
            <a:off x="685799" y="2240280"/>
            <a:ext cx="3566160" cy="1463039"/>
          </a:xfrm>
          <a:prstGeom prst="rect">
            <a:avLst/>
          </a:prstGeom>
          <a:noFill/>
        </p:spPr>
        <p:txBody>
          <a:bodyPr wrap="square">
            <a:spAutoFit/>
          </a:bodyPr>
          <a:lstStyle/>
          <a:p>
            <a:pPr algn="l">
              <a:defRPr sz="1200" b="0">
                <a:solidFill>
                  <a:srgbClr val="334155"/>
                </a:solidFill>
                <a:latin typeface="맑은 고딕"/>
              </a:defRPr>
            </a:pPr>
            <a:r>
              <a:t>현대 IT 인프라 운영에서 서버 및 시스템 리소스의 실시간 모니터링은 안정적인 서비스 운영의 핵심 요소이다.</a:t>
            </a:r>
          </a:p>
        </p:txBody>
      </p:sp>
      <p:sp>
        <p:nvSpPr>
          <p:cNvPr id="9" name="Rounded Rectangle 8"/>
          <p:cNvSpPr/>
          <p:nvPr/>
        </p:nvSpPr>
        <p:spPr>
          <a:xfrm>
            <a:off x="4754880" y="1645920"/>
            <a:ext cx="3840480" cy="219456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892040" y="1783080"/>
            <a:ext cx="347472" cy="347472"/>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a:t>
            </a:r>
          </a:p>
        </p:txBody>
      </p:sp>
      <p:sp>
        <p:nvSpPr>
          <p:cNvPr id="11" name="TextBox 10"/>
          <p:cNvSpPr txBox="1"/>
          <p:nvPr/>
        </p:nvSpPr>
        <p:spPr>
          <a:xfrm>
            <a:off x="5349240" y="1783080"/>
            <a:ext cx="3063240" cy="320040"/>
          </a:xfrm>
          <a:prstGeom prst="rect">
            <a:avLst/>
          </a:prstGeom>
          <a:noFill/>
        </p:spPr>
        <p:txBody>
          <a:bodyPr wrap="square">
            <a:spAutoFit/>
          </a:bodyPr>
          <a:lstStyle/>
          <a:p>
            <a:pPr algn="l">
              <a:defRPr sz="1400" b="1">
                <a:solidFill>
                  <a:srgbClr val="0F172A"/>
                </a:solidFill>
                <a:latin typeface="맑은 고딕"/>
              </a:defRPr>
            </a:pPr>
            <a:r>
              <a:t>현황 2</a:t>
            </a:r>
          </a:p>
        </p:txBody>
      </p:sp>
      <p:sp>
        <p:nvSpPr>
          <p:cNvPr id="12" name="TextBox 11"/>
          <p:cNvSpPr txBox="1"/>
          <p:nvPr/>
        </p:nvSpPr>
        <p:spPr>
          <a:xfrm>
            <a:off x="4892040" y="2240280"/>
            <a:ext cx="3566160" cy="1463039"/>
          </a:xfrm>
          <a:prstGeom prst="rect">
            <a:avLst/>
          </a:prstGeom>
          <a:noFill/>
        </p:spPr>
        <p:txBody>
          <a:bodyPr wrap="square">
            <a:spAutoFit/>
          </a:bodyPr>
          <a:lstStyle/>
          <a:p>
            <a:pPr algn="l">
              <a:defRPr sz="1200" b="0">
                <a:solidFill>
                  <a:srgbClr val="334155"/>
                </a:solidFill>
                <a:latin typeface="맑은 고딕"/>
              </a:defRPr>
            </a:pPr>
            <a:r>
              <a:t>CLI 기반 도구의 한계를 극복하고 직관적인 웹 기반 대시보드를 통해 CPU, 메모리, 디스크, 네트워크 트래픽을 실시간으로 시각화하여 운영자가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7315200" cy="365760"/>
          </a:xfrm>
          <a:prstGeom prst="rect">
            <a:avLst/>
          </a:prstGeom>
          <a:noFill/>
        </p:spPr>
        <p:txBody>
          <a:bodyPr wrap="square">
            <a:spAutoFit/>
          </a:bodyPr>
          <a:lstStyle/>
          <a:p>
            <a:pPr algn="l">
              <a:defRPr sz="1200" b="1">
                <a:solidFill>
                  <a:srgbClr val="DC2626"/>
                </a:solidFill>
                <a:latin typeface="맑은 고딕"/>
              </a:defRPr>
            </a:pPr>
            <a:r>
              <a:t>IF NO CHANGE</a:t>
            </a:r>
          </a:p>
        </p:txBody>
      </p:sp>
      <p:sp>
        <p:nvSpPr>
          <p:cNvPr id="3" name="TextBox 2"/>
          <p:cNvSpPr txBox="1"/>
          <p:nvPr/>
        </p:nvSpPr>
        <p:spPr>
          <a:xfrm>
            <a:off x="731520" y="731520"/>
            <a:ext cx="7315200" cy="548640"/>
          </a:xfrm>
          <a:prstGeom prst="rect">
            <a:avLst/>
          </a:prstGeom>
          <a:noFill/>
        </p:spPr>
        <p:txBody>
          <a:bodyPr wrap="square">
            <a:spAutoFit/>
          </a:bodyPr>
          <a:lstStyle/>
          <a:p>
            <a:pPr algn="l">
              <a:defRPr sz="3000" b="1">
                <a:solidFill>
                  <a:srgbClr val="0F172A"/>
                </a:solidFill>
                <a:latin typeface="맑은 고딕"/>
              </a:defRPr>
            </a:pPr>
            <a:r>
              <a:t>변화하지 않으면?</a:t>
            </a:r>
          </a:p>
        </p:txBody>
      </p:sp>
      <p:sp>
        <p:nvSpPr>
          <p:cNvPr id="4" name="Rounded Rectangle 3"/>
          <p:cNvSpPr/>
          <p:nvPr/>
        </p:nvSpPr>
        <p:spPr>
          <a:xfrm>
            <a:off x="731520" y="1280160"/>
            <a:ext cx="1371600" cy="36576"/>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645920"/>
            <a:ext cx="8229600" cy="704088"/>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080" y="1778508"/>
            <a:ext cx="384048" cy="384048"/>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1</a:t>
            </a:r>
          </a:p>
        </p:txBody>
      </p:sp>
      <p:sp>
        <p:nvSpPr>
          <p:cNvPr id="7" name="TextBox 6"/>
          <p:cNvSpPr txBox="1"/>
          <p:nvPr/>
        </p:nvSpPr>
        <p:spPr>
          <a:xfrm>
            <a:off x="1234440" y="1815084"/>
            <a:ext cx="7132320" cy="365760"/>
          </a:xfrm>
          <a:prstGeom prst="rect">
            <a:avLst/>
          </a:prstGeom>
          <a:noFill/>
        </p:spPr>
        <p:txBody>
          <a:bodyPr wrap="square">
            <a:spAutoFit/>
          </a:bodyPr>
          <a:lstStyle/>
          <a:p>
            <a:pPr algn="l">
              <a:defRPr sz="1500" b="0">
                <a:solidFill>
                  <a:srgbClr val="334155"/>
                </a:solidFill>
                <a:latin typeface="맑은 고딕"/>
              </a:defRPr>
            </a:pPr>
            <a:r>
              <a:t>4가지 핵심 시스템 리소스(CPU, 메모리, 디스크, 네트워크)를 실시간으로 모니터링할 수 있는 웹 대시보드 제공 미달성 시 서비스 품질 저하</a:t>
            </a:r>
          </a:p>
        </p:txBody>
      </p:sp>
      <p:sp>
        <p:nvSpPr>
          <p:cNvPr id="8" name="Rounded Rectangle 7"/>
          <p:cNvSpPr/>
          <p:nvPr/>
        </p:nvSpPr>
        <p:spPr>
          <a:xfrm>
            <a:off x="457200" y="2423160"/>
            <a:ext cx="8229600" cy="704088"/>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0080" y="2555748"/>
            <a:ext cx="384048" cy="384048"/>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2</a:t>
            </a:r>
          </a:p>
        </p:txBody>
      </p:sp>
      <p:sp>
        <p:nvSpPr>
          <p:cNvPr id="10" name="TextBox 9"/>
          <p:cNvSpPr txBox="1"/>
          <p:nvPr/>
        </p:nvSpPr>
        <p:spPr>
          <a:xfrm>
            <a:off x="1234440" y="2592324"/>
            <a:ext cx="7132320" cy="365760"/>
          </a:xfrm>
          <a:prstGeom prst="rect">
            <a:avLst/>
          </a:prstGeom>
          <a:noFill/>
        </p:spPr>
        <p:txBody>
          <a:bodyPr wrap="square">
            <a:spAutoFit/>
          </a:bodyPr>
          <a:lstStyle/>
          <a:p>
            <a:pPr algn="l">
              <a:defRPr sz="1500" b="0">
                <a:solidFill>
                  <a:srgbClr val="334155"/>
                </a:solidFill>
                <a:latin typeface="맑은 고딕"/>
              </a:defRPr>
            </a:pPr>
            <a:r>
              <a:t>3초 간격의 자동 갱신을 통해 준 실시간(Near Real-Time) 모니터링 환경 구현 미달성 시 서비스 품질 저하</a:t>
            </a:r>
          </a:p>
        </p:txBody>
      </p:sp>
      <p:sp>
        <p:nvSpPr>
          <p:cNvPr id="11" name="Rounded Rectangle 10"/>
          <p:cNvSpPr/>
          <p:nvPr/>
        </p:nvSpPr>
        <p:spPr>
          <a:xfrm>
            <a:off x="457200" y="3200400"/>
            <a:ext cx="8229600" cy="704088"/>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0080" y="3332988"/>
            <a:ext cx="384048" cy="384048"/>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3</a:t>
            </a:r>
          </a:p>
        </p:txBody>
      </p:sp>
      <p:sp>
        <p:nvSpPr>
          <p:cNvPr id="13" name="TextBox 12"/>
          <p:cNvSpPr txBox="1"/>
          <p:nvPr/>
        </p:nvSpPr>
        <p:spPr>
          <a:xfrm>
            <a:off x="1234440" y="3369564"/>
            <a:ext cx="7132320" cy="365760"/>
          </a:xfrm>
          <a:prstGeom prst="rect">
            <a:avLst/>
          </a:prstGeom>
          <a:noFill/>
        </p:spPr>
        <p:txBody>
          <a:bodyPr wrap="square">
            <a:spAutoFit/>
          </a:bodyPr>
          <a:lstStyle/>
          <a:p>
            <a:pPr algn="l">
              <a:defRPr sz="1500" b="0">
                <a:solidFill>
                  <a:srgbClr val="334155"/>
                </a:solidFill>
                <a:latin typeface="맑은 고딕"/>
              </a:defRPr>
            </a:pPr>
            <a:r>
              <a:t>다크 테마 기반의 직관적이고 깔끔한 UI/UX 제공 미달성 시 서비스 품질 저하</a:t>
            </a:r>
          </a:p>
        </p:txBody>
      </p:sp>
      <p:sp>
        <p:nvSpPr>
          <p:cNvPr id="14" name="Rounded Rectangle 13"/>
          <p:cNvSpPr/>
          <p:nvPr/>
        </p:nvSpPr>
        <p:spPr>
          <a:xfrm>
            <a:off x="457200" y="3977639"/>
            <a:ext cx="8229600" cy="704088"/>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0080" y="4110227"/>
            <a:ext cx="384048" cy="384048"/>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4</a:t>
            </a:r>
          </a:p>
        </p:txBody>
      </p:sp>
      <p:sp>
        <p:nvSpPr>
          <p:cNvPr id="16" name="TextBox 15"/>
          <p:cNvSpPr txBox="1"/>
          <p:nvPr/>
        </p:nvSpPr>
        <p:spPr>
          <a:xfrm>
            <a:off x="1234440" y="4146803"/>
            <a:ext cx="7132320" cy="365760"/>
          </a:xfrm>
          <a:prstGeom prst="rect">
            <a:avLst/>
          </a:prstGeom>
          <a:noFill/>
        </p:spPr>
        <p:txBody>
          <a:bodyPr wrap="square">
            <a:spAutoFit/>
          </a:bodyPr>
          <a:lstStyle/>
          <a:p>
            <a:pPr algn="l">
              <a:defRPr sz="1500" b="0">
                <a:solidFill>
                  <a:srgbClr val="334155"/>
                </a:solidFill>
                <a:latin typeface="맑은 고딕"/>
              </a:defRPr>
            </a:pPr>
            <a:r>
              <a:t>반응형 레이아웃으로 다양한 화면 크기에서 최적의 사용 경험 보장 미달성 시 서비스 품질 저하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7315200" cy="365760"/>
          </a:xfrm>
          <a:prstGeom prst="rect">
            <a:avLst/>
          </a:prstGeom>
          <a:noFill/>
        </p:spPr>
        <p:txBody>
          <a:bodyPr wrap="square">
            <a:spAutoFit/>
          </a:bodyPr>
          <a:lstStyle/>
          <a:p>
            <a:pPr algn="l">
              <a:defRPr sz="1200" b="1">
                <a:solidFill>
                  <a:srgbClr val="2563EB"/>
                </a:solidFill>
                <a:latin typeface="맑은 고딕"/>
              </a:defRPr>
            </a:pPr>
            <a:r>
              <a:t>COMPARISON</a:t>
            </a:r>
          </a:p>
        </p:txBody>
      </p:sp>
      <p:sp>
        <p:nvSpPr>
          <p:cNvPr id="3" name="TextBox 2"/>
          <p:cNvSpPr txBox="1"/>
          <p:nvPr/>
        </p:nvSpPr>
        <p:spPr>
          <a:xfrm>
            <a:off x="731520" y="731520"/>
            <a:ext cx="7315200" cy="548640"/>
          </a:xfrm>
          <a:prstGeom prst="rect">
            <a:avLst/>
          </a:prstGeom>
          <a:noFill/>
        </p:spPr>
        <p:txBody>
          <a:bodyPr wrap="square">
            <a:spAutoFit/>
          </a:bodyPr>
          <a:lstStyle/>
          <a:p>
            <a:pPr algn="l">
              <a:defRPr sz="3000" b="1">
                <a:solidFill>
                  <a:srgbClr val="0F172A"/>
                </a:solidFill>
                <a:latin typeface="맑은 고딕"/>
              </a:defRPr>
            </a:pPr>
            <a:r>
              <a:t>Before vs After</a:t>
            </a:r>
          </a:p>
        </p:txBody>
      </p:sp>
      <p:sp>
        <p:nvSpPr>
          <p:cNvPr id="4" name="Rounded Rectangle 3"/>
          <p:cNvSpPr/>
          <p:nvPr/>
        </p:nvSpPr>
        <p:spPr>
          <a:xfrm>
            <a:off x="731520" y="1280160"/>
            <a:ext cx="1371600" cy="3657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645920"/>
            <a:ext cx="3657600" cy="4846320"/>
          </a:xfrm>
          <a:prstGeom prst="roundRect">
            <a:avLst>
              <a:gd name="adj" fmla="val 6000"/>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02920" y="1755648"/>
            <a:ext cx="365760" cy="36576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X</a:t>
            </a:r>
          </a:p>
        </p:txBody>
      </p:sp>
      <p:sp>
        <p:nvSpPr>
          <p:cNvPr id="7" name="TextBox 6"/>
          <p:cNvSpPr txBox="1"/>
          <p:nvPr/>
        </p:nvSpPr>
        <p:spPr>
          <a:xfrm>
            <a:off x="1005840" y="1755648"/>
            <a:ext cx="2560320" cy="365760"/>
          </a:xfrm>
          <a:prstGeom prst="rect">
            <a:avLst/>
          </a:prstGeom>
          <a:noFill/>
        </p:spPr>
        <p:txBody>
          <a:bodyPr wrap="square">
            <a:spAutoFit/>
          </a:bodyPr>
          <a:lstStyle/>
          <a:p>
            <a:pPr algn="l">
              <a:defRPr sz="1700" b="1">
                <a:solidFill>
                  <a:srgbClr val="DC2626"/>
                </a:solidFill>
                <a:latin typeface="맑은 고딕"/>
              </a:defRPr>
            </a:pPr>
            <a:r>
              <a:t>AS-IS (현재)</a:t>
            </a:r>
          </a:p>
        </p:txBody>
      </p:sp>
      <p:sp>
        <p:nvSpPr>
          <p:cNvPr id="8" name="TextBox 7"/>
          <p:cNvSpPr txBox="1"/>
          <p:nvPr/>
        </p:nvSpPr>
        <p:spPr>
          <a:xfrm>
            <a:off x="548640" y="2286000"/>
            <a:ext cx="3291840" cy="365760"/>
          </a:xfrm>
          <a:prstGeom prst="rect">
            <a:avLst/>
          </a:prstGeom>
          <a:noFill/>
        </p:spPr>
        <p:txBody>
          <a:bodyPr wrap="square">
            <a:spAutoFit/>
          </a:bodyPr>
          <a:lstStyle/>
          <a:p>
            <a:pPr algn="l">
              <a:defRPr sz="1300" b="0">
                <a:solidFill>
                  <a:srgbClr val="334155"/>
                </a:solidFill>
                <a:latin typeface="맑은 고딕"/>
              </a:defRPr>
            </a:pPr>
            <a:r>
              <a:t>현대 IT 인프라 운영에서 서버 및 시스템 리소스의 실시간 모니터링은 안정적인 서비스 운영의 핵심 요소이다.</a:t>
            </a:r>
          </a:p>
        </p:txBody>
      </p:sp>
      <p:sp>
        <p:nvSpPr>
          <p:cNvPr id="9" name="TextBox 8"/>
          <p:cNvSpPr txBox="1"/>
          <p:nvPr/>
        </p:nvSpPr>
        <p:spPr>
          <a:xfrm>
            <a:off x="548640" y="2788920"/>
            <a:ext cx="3291840" cy="365760"/>
          </a:xfrm>
          <a:prstGeom prst="rect">
            <a:avLst/>
          </a:prstGeom>
          <a:noFill/>
        </p:spPr>
        <p:txBody>
          <a:bodyPr wrap="square">
            <a:spAutoFit/>
          </a:bodyPr>
          <a:lstStyle/>
          <a:p>
            <a:pPr algn="l">
              <a:defRPr sz="1300" b="0">
                <a:solidFill>
                  <a:srgbClr val="334155"/>
                </a:solidFill>
                <a:latin typeface="맑은 고딕"/>
              </a:defRPr>
            </a:pPr>
            <a:r>
              <a:t>CLI 기반 도구의 한계를 극복하고 직관적인 웹 기반 대시보드를 통해 CPU, 메모리, 디스크, 네트워크 트</a:t>
            </a:r>
          </a:p>
        </p:txBody>
      </p:sp>
      <p:sp>
        <p:nvSpPr>
          <p:cNvPr id="10" name="Right Arrow 9"/>
          <p:cNvSpPr/>
          <p:nvPr/>
        </p:nvSpPr>
        <p:spPr>
          <a:xfrm>
            <a:off x="3931920" y="3886200"/>
            <a:ext cx="640080" cy="36576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120640" y="1645920"/>
            <a:ext cx="3657600" cy="4846320"/>
          </a:xfrm>
          <a:prstGeom prst="roundRect">
            <a:avLst>
              <a:gd name="adj" fmla="val 6000"/>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257800" y="1755648"/>
            <a:ext cx="365760" cy="36576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O</a:t>
            </a:r>
          </a:p>
        </p:txBody>
      </p:sp>
      <p:sp>
        <p:nvSpPr>
          <p:cNvPr id="13" name="TextBox 12"/>
          <p:cNvSpPr txBox="1"/>
          <p:nvPr/>
        </p:nvSpPr>
        <p:spPr>
          <a:xfrm>
            <a:off x="5760720" y="1755648"/>
            <a:ext cx="2560320" cy="365760"/>
          </a:xfrm>
          <a:prstGeom prst="rect">
            <a:avLst/>
          </a:prstGeom>
          <a:noFill/>
        </p:spPr>
        <p:txBody>
          <a:bodyPr wrap="square">
            <a:spAutoFit/>
          </a:bodyPr>
          <a:lstStyle/>
          <a:p>
            <a:pPr algn="l">
              <a:defRPr sz="1700" b="1">
                <a:solidFill>
                  <a:srgbClr val="059669"/>
                </a:solidFill>
                <a:latin typeface="맑은 고딕"/>
              </a:defRPr>
            </a:pPr>
            <a:r>
              <a:t>TO-BE (미래)</a:t>
            </a:r>
          </a:p>
        </p:txBody>
      </p:sp>
      <p:sp>
        <p:nvSpPr>
          <p:cNvPr id="14" name="TextBox 13"/>
          <p:cNvSpPr txBox="1"/>
          <p:nvPr/>
        </p:nvSpPr>
        <p:spPr>
          <a:xfrm>
            <a:off x="5303520" y="2286000"/>
            <a:ext cx="3291840" cy="365760"/>
          </a:xfrm>
          <a:prstGeom prst="rect">
            <a:avLst/>
          </a:prstGeom>
          <a:noFill/>
        </p:spPr>
        <p:txBody>
          <a:bodyPr wrap="square">
            <a:spAutoFit/>
          </a:bodyPr>
          <a:lstStyle/>
          <a:p>
            <a:pPr algn="l">
              <a:defRPr sz="1300" b="0">
                <a:solidFill>
                  <a:srgbClr val="334155"/>
                </a:solidFill>
                <a:latin typeface="맑은 고딕"/>
              </a:defRPr>
            </a:pPr>
            <a:r>
              <a:t>대시보드 초기 로딩 시간 3초 이내</a:t>
            </a:r>
          </a:p>
        </p:txBody>
      </p:sp>
      <p:sp>
        <p:nvSpPr>
          <p:cNvPr id="15" name="TextBox 14"/>
          <p:cNvSpPr txBox="1"/>
          <p:nvPr/>
        </p:nvSpPr>
        <p:spPr>
          <a:xfrm>
            <a:off x="5303520" y="2788920"/>
            <a:ext cx="3291840" cy="365760"/>
          </a:xfrm>
          <a:prstGeom prst="rect">
            <a:avLst/>
          </a:prstGeom>
          <a:noFill/>
        </p:spPr>
        <p:txBody>
          <a:bodyPr wrap="square">
            <a:spAutoFit/>
          </a:bodyPr>
          <a:lstStyle/>
          <a:p>
            <a:pPr algn="l">
              <a:defRPr sz="1300" b="0">
                <a:solidFill>
                  <a:srgbClr val="334155"/>
                </a:solidFill>
                <a:latin typeface="맑은 고딕"/>
              </a:defRPr>
            </a:pPr>
            <a:r>
              <a:t>데이터 갱신 지연(API 호출~화면 반영) 500ms 이내</a:t>
            </a:r>
          </a:p>
        </p:txBody>
      </p:sp>
      <p:sp>
        <p:nvSpPr>
          <p:cNvPr id="16" name="TextBox 15"/>
          <p:cNvSpPr txBox="1"/>
          <p:nvPr/>
        </p:nvSpPr>
        <p:spPr>
          <a:xfrm>
            <a:off x="5303520" y="3291839"/>
            <a:ext cx="3291840" cy="365760"/>
          </a:xfrm>
          <a:prstGeom prst="rect">
            <a:avLst/>
          </a:prstGeom>
          <a:noFill/>
        </p:spPr>
        <p:txBody>
          <a:bodyPr wrap="square">
            <a:spAutoFit/>
          </a:bodyPr>
          <a:lstStyle/>
          <a:p>
            <a:pPr algn="l">
              <a:defRPr sz="1300" b="0">
                <a:solidFill>
                  <a:srgbClr val="334155"/>
                </a:solidFill>
                <a:latin typeface="맑은 고딕"/>
              </a:defRPr>
            </a:pPr>
            <a:r>
              <a:t>차트 렌더링 시 프레임 드롭 없이 60fps 유지</a:t>
            </a:r>
          </a:p>
        </p:txBody>
      </p:sp>
      <p:sp>
        <p:nvSpPr>
          <p:cNvPr id="17" name="TextBox 16"/>
          <p:cNvSpPr txBox="1"/>
          <p:nvPr/>
        </p:nvSpPr>
        <p:spPr>
          <a:xfrm>
            <a:off x="5303520" y="3794759"/>
            <a:ext cx="3291840" cy="365760"/>
          </a:xfrm>
          <a:prstGeom prst="rect">
            <a:avLst/>
          </a:prstGeom>
          <a:noFill/>
        </p:spPr>
        <p:txBody>
          <a:bodyPr wrap="square">
            <a:spAutoFit/>
          </a:bodyPr>
          <a:lstStyle/>
          <a:p>
            <a:pPr algn="l">
              <a:defRPr sz="1300" b="0">
                <a:solidFill>
                  <a:srgbClr val="334155"/>
                </a:solidFill>
                <a:latin typeface="맑은 고딕"/>
              </a:defRPr>
            </a:pPr>
            <a:r>
              <a:t>브라우저 메모리 사용량 200MB 이하 (1시간 연속 구동 기준)</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TextBox 1"/>
          <p:cNvSpPr txBox="1"/>
          <p:nvPr/>
        </p:nvSpPr>
        <p:spPr>
          <a:xfrm>
            <a:off x="731520" y="1828800"/>
            <a:ext cx="7315200" cy="822960"/>
          </a:xfrm>
          <a:prstGeom prst="rect">
            <a:avLst/>
          </a:prstGeom>
          <a:noFill/>
        </p:spPr>
        <p:txBody>
          <a:bodyPr wrap="square">
            <a:spAutoFit/>
          </a:bodyPr>
          <a:lstStyle/>
          <a:p>
            <a:pPr algn="l">
              <a:defRPr sz="6400" b="1">
                <a:solidFill>
                  <a:srgbClr val="3B82F6"/>
                </a:solidFill>
                <a:latin typeface="맑은 고딕"/>
              </a:defRPr>
            </a:pPr>
            <a:r>
              <a:t>02</a:t>
            </a:r>
          </a:p>
        </p:txBody>
      </p:sp>
      <p:sp>
        <p:nvSpPr>
          <p:cNvPr id="3" name="Rounded Rectangle 2"/>
          <p:cNvSpPr/>
          <p:nvPr/>
        </p:nvSpPr>
        <p:spPr>
          <a:xfrm>
            <a:off x="731520" y="2743200"/>
            <a:ext cx="1828800" cy="4572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017520"/>
            <a:ext cx="7315200" cy="822960"/>
          </a:xfrm>
          <a:prstGeom prst="rect">
            <a:avLst/>
          </a:prstGeom>
          <a:noFill/>
        </p:spPr>
        <p:txBody>
          <a:bodyPr wrap="square">
            <a:spAutoFit/>
          </a:bodyPr>
          <a:lstStyle/>
          <a:p>
            <a:pPr algn="l">
              <a:defRPr sz="3600" b="1">
                <a:solidFill>
                  <a:srgbClr val="FFFFFF"/>
                </a:solidFill>
                <a:latin typeface="맑은 고딕"/>
              </a:defRPr>
            </a:pPr>
            <a:r>
              <a:t>프로젝트 목표</a:t>
            </a:r>
          </a:p>
        </p:txBody>
      </p:sp>
      <p:sp>
        <p:nvSpPr>
          <p:cNvPr id="5" name="TextBox 4"/>
          <p:cNvSpPr txBox="1"/>
          <p:nvPr/>
        </p:nvSpPr>
        <p:spPr>
          <a:xfrm>
            <a:off x="731520" y="3840480"/>
            <a:ext cx="7315200" cy="457200"/>
          </a:xfrm>
          <a:prstGeom prst="rect">
            <a:avLst/>
          </a:prstGeom>
          <a:noFill/>
        </p:spPr>
        <p:txBody>
          <a:bodyPr wrap="square">
            <a:spAutoFit/>
          </a:bodyPr>
          <a:lstStyle/>
          <a:p>
            <a:pPr algn="l">
              <a:defRPr sz="1600" b="0">
                <a:solidFill>
                  <a:srgbClr val="94A3B8"/>
                </a:solidFill>
                <a:latin typeface="맑은 고딕"/>
              </a:defRPr>
            </a:pPr>
            <a:r>
              <a:t>Objectives &amp; KPI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7315200" cy="365760"/>
          </a:xfrm>
          <a:prstGeom prst="rect">
            <a:avLst/>
          </a:prstGeom>
          <a:noFill/>
        </p:spPr>
        <p:txBody>
          <a:bodyPr wrap="square">
            <a:spAutoFit/>
          </a:bodyPr>
          <a:lstStyle/>
          <a:p>
            <a:pPr algn="l">
              <a:defRPr sz="1200" b="1">
                <a:solidFill>
                  <a:srgbClr val="2563EB"/>
                </a:solidFill>
                <a:latin typeface="맑은 고딕"/>
              </a:defRPr>
            </a:pPr>
            <a:r>
              <a:t>KEY PERFORMANCE INDICATORS</a:t>
            </a:r>
          </a:p>
        </p:txBody>
      </p:sp>
      <p:sp>
        <p:nvSpPr>
          <p:cNvPr id="3" name="TextBox 2"/>
          <p:cNvSpPr txBox="1"/>
          <p:nvPr/>
        </p:nvSpPr>
        <p:spPr>
          <a:xfrm>
            <a:off x="731520" y="731520"/>
            <a:ext cx="7315200" cy="548640"/>
          </a:xfrm>
          <a:prstGeom prst="rect">
            <a:avLst/>
          </a:prstGeom>
          <a:noFill/>
        </p:spPr>
        <p:txBody>
          <a:bodyPr wrap="square">
            <a:spAutoFit/>
          </a:bodyPr>
          <a:lstStyle/>
          <a:p>
            <a:pPr algn="l">
              <a:defRPr sz="3000" b="1">
                <a:solidFill>
                  <a:srgbClr val="0F172A"/>
                </a:solidFill>
                <a:latin typeface="맑은 고딕"/>
              </a:defRPr>
            </a:pPr>
            <a:r>
              <a:t>핵심 성과 지표 (KPI)</a:t>
            </a:r>
          </a:p>
        </p:txBody>
      </p:sp>
      <p:sp>
        <p:nvSpPr>
          <p:cNvPr id="4" name="Rounded Rectangle 3"/>
          <p:cNvSpPr/>
          <p:nvPr/>
        </p:nvSpPr>
        <p:spPr>
          <a:xfrm>
            <a:off x="731520" y="1280160"/>
            <a:ext cx="1371600" cy="3657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39" y="1645920"/>
            <a:ext cx="3840480" cy="201168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19" y="1755648"/>
            <a:ext cx="3474720" cy="274320"/>
          </a:xfrm>
          <a:prstGeom prst="rect">
            <a:avLst/>
          </a:prstGeom>
          <a:noFill/>
        </p:spPr>
        <p:txBody>
          <a:bodyPr wrap="square">
            <a:spAutoFit/>
          </a:bodyPr>
          <a:lstStyle/>
          <a:p>
            <a:pPr algn="l">
              <a:defRPr sz="1200" b="1">
                <a:solidFill>
                  <a:srgbClr val="64748B"/>
                </a:solidFill>
                <a:latin typeface="맑은 고딕"/>
              </a:defRPr>
            </a:pPr>
            <a:r>
              <a:t>대시보드 초기 로딩 시간 3초 이내</a:t>
            </a:r>
          </a:p>
        </p:txBody>
      </p:sp>
      <p:sp>
        <p:nvSpPr>
          <p:cNvPr id="7" name="TextBox 6"/>
          <p:cNvSpPr txBox="1"/>
          <p:nvPr/>
        </p:nvSpPr>
        <p:spPr>
          <a:xfrm>
            <a:off x="731519" y="2103120"/>
            <a:ext cx="3474720" cy="502920"/>
          </a:xfrm>
          <a:prstGeom prst="rect">
            <a:avLst/>
          </a:prstGeom>
          <a:noFill/>
        </p:spPr>
        <p:txBody>
          <a:bodyPr wrap="square">
            <a:spAutoFit/>
          </a:bodyPr>
          <a:lstStyle/>
          <a:p>
            <a:pPr algn="l">
              <a:defRPr sz="2000" b="1">
                <a:solidFill>
                  <a:srgbClr val="2563EB"/>
                </a:solidFill>
                <a:latin typeface="맑은 고딕"/>
              </a:defRPr>
            </a:pPr>
            <a:r>
              <a:t>-  -&gt;  대시보드 초기 로딩 시간 3초 이내</a:t>
            </a:r>
          </a:p>
        </p:txBody>
      </p:sp>
      <p:sp>
        <p:nvSpPr>
          <p:cNvPr id="8" name="Rounded Rectangle 7"/>
          <p:cNvSpPr/>
          <p:nvPr/>
        </p:nvSpPr>
        <p:spPr>
          <a:xfrm>
            <a:off x="4754880" y="1645920"/>
            <a:ext cx="3840480" cy="201168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37760" y="1755648"/>
            <a:ext cx="3474720" cy="274320"/>
          </a:xfrm>
          <a:prstGeom prst="rect">
            <a:avLst/>
          </a:prstGeom>
          <a:noFill/>
        </p:spPr>
        <p:txBody>
          <a:bodyPr wrap="square">
            <a:spAutoFit/>
          </a:bodyPr>
          <a:lstStyle/>
          <a:p>
            <a:pPr algn="l">
              <a:defRPr sz="1200" b="1">
                <a:solidFill>
                  <a:srgbClr val="64748B"/>
                </a:solidFill>
                <a:latin typeface="맑은 고딕"/>
              </a:defRPr>
            </a:pPr>
            <a:r>
              <a:t>데이터 갱신 지연(API 호출~화면 반영) 500ms </a:t>
            </a:r>
          </a:p>
        </p:txBody>
      </p:sp>
      <p:sp>
        <p:nvSpPr>
          <p:cNvPr id="10" name="TextBox 9"/>
          <p:cNvSpPr txBox="1"/>
          <p:nvPr/>
        </p:nvSpPr>
        <p:spPr>
          <a:xfrm>
            <a:off x="4937760" y="2103120"/>
            <a:ext cx="3474720" cy="502920"/>
          </a:xfrm>
          <a:prstGeom prst="rect">
            <a:avLst/>
          </a:prstGeom>
          <a:noFill/>
        </p:spPr>
        <p:txBody>
          <a:bodyPr wrap="square">
            <a:spAutoFit/>
          </a:bodyPr>
          <a:lstStyle/>
          <a:p>
            <a:pPr algn="l">
              <a:defRPr sz="2000" b="1">
                <a:solidFill>
                  <a:srgbClr val="2563EB"/>
                </a:solidFill>
                <a:latin typeface="맑은 고딕"/>
              </a:defRPr>
            </a:pPr>
            <a:r>
              <a:t>-  -&gt;  데이터 갱신 지연(API 호출~화면 반영) 500ms 이내</a:t>
            </a:r>
          </a:p>
        </p:txBody>
      </p:sp>
      <p:sp>
        <p:nvSpPr>
          <p:cNvPr id="11" name="Rounded Rectangle 10"/>
          <p:cNvSpPr/>
          <p:nvPr/>
        </p:nvSpPr>
        <p:spPr>
          <a:xfrm>
            <a:off x="548639" y="3931920"/>
            <a:ext cx="3840480" cy="201168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19" y="4041648"/>
            <a:ext cx="3474720" cy="274320"/>
          </a:xfrm>
          <a:prstGeom prst="rect">
            <a:avLst/>
          </a:prstGeom>
          <a:noFill/>
        </p:spPr>
        <p:txBody>
          <a:bodyPr wrap="square">
            <a:spAutoFit/>
          </a:bodyPr>
          <a:lstStyle/>
          <a:p>
            <a:pPr algn="l">
              <a:defRPr sz="1200" b="1">
                <a:solidFill>
                  <a:srgbClr val="64748B"/>
                </a:solidFill>
                <a:latin typeface="맑은 고딕"/>
              </a:defRPr>
            </a:pPr>
            <a:r>
              <a:t>차트 렌더링 시 프레임 드롭 없이 60fps 유지</a:t>
            </a:r>
          </a:p>
        </p:txBody>
      </p:sp>
      <p:sp>
        <p:nvSpPr>
          <p:cNvPr id="13" name="TextBox 12"/>
          <p:cNvSpPr txBox="1"/>
          <p:nvPr/>
        </p:nvSpPr>
        <p:spPr>
          <a:xfrm>
            <a:off x="731519" y="4389120"/>
            <a:ext cx="3474720" cy="502920"/>
          </a:xfrm>
          <a:prstGeom prst="rect">
            <a:avLst/>
          </a:prstGeom>
          <a:noFill/>
        </p:spPr>
        <p:txBody>
          <a:bodyPr wrap="square">
            <a:spAutoFit/>
          </a:bodyPr>
          <a:lstStyle/>
          <a:p>
            <a:pPr algn="l">
              <a:defRPr sz="2000" b="1">
                <a:solidFill>
                  <a:srgbClr val="2563EB"/>
                </a:solidFill>
                <a:latin typeface="맑은 고딕"/>
              </a:defRPr>
            </a:pPr>
            <a:r>
              <a:t>-  -&gt;  차트 렌더링 시 프레임 드롭 없이 60fps 유지</a:t>
            </a:r>
          </a:p>
        </p:txBody>
      </p:sp>
      <p:sp>
        <p:nvSpPr>
          <p:cNvPr id="14" name="Rounded Rectangle 13"/>
          <p:cNvSpPr/>
          <p:nvPr/>
        </p:nvSpPr>
        <p:spPr>
          <a:xfrm>
            <a:off x="4754880" y="3931920"/>
            <a:ext cx="3840480" cy="201168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37760" y="4041648"/>
            <a:ext cx="3474720" cy="274320"/>
          </a:xfrm>
          <a:prstGeom prst="rect">
            <a:avLst/>
          </a:prstGeom>
          <a:noFill/>
        </p:spPr>
        <p:txBody>
          <a:bodyPr wrap="square">
            <a:spAutoFit/>
          </a:bodyPr>
          <a:lstStyle/>
          <a:p>
            <a:pPr algn="l">
              <a:defRPr sz="1200" b="1">
                <a:solidFill>
                  <a:srgbClr val="64748B"/>
                </a:solidFill>
                <a:latin typeface="맑은 고딕"/>
              </a:defRPr>
            </a:pPr>
            <a:r>
              <a:t>브라우저 메모리 사용량 200MB 이하 (1시간 연속 </a:t>
            </a:r>
          </a:p>
        </p:txBody>
      </p:sp>
      <p:sp>
        <p:nvSpPr>
          <p:cNvPr id="16" name="TextBox 15"/>
          <p:cNvSpPr txBox="1"/>
          <p:nvPr/>
        </p:nvSpPr>
        <p:spPr>
          <a:xfrm>
            <a:off x="4937760" y="4389120"/>
            <a:ext cx="3474720" cy="502920"/>
          </a:xfrm>
          <a:prstGeom prst="rect">
            <a:avLst/>
          </a:prstGeom>
          <a:noFill/>
        </p:spPr>
        <p:txBody>
          <a:bodyPr wrap="square">
            <a:spAutoFit/>
          </a:bodyPr>
          <a:lstStyle/>
          <a:p>
            <a:pPr algn="l">
              <a:defRPr sz="2000" b="1">
                <a:solidFill>
                  <a:srgbClr val="2563EB"/>
                </a:solidFill>
                <a:latin typeface="맑은 고딕"/>
              </a:defRPr>
            </a:pPr>
            <a:r>
              <a:t>-  -&gt;  브라우저 메모리 사용량 200MB 이하 (1시간 연속 구동 기준)</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TextBox 1"/>
          <p:cNvSpPr txBox="1"/>
          <p:nvPr/>
        </p:nvSpPr>
        <p:spPr>
          <a:xfrm>
            <a:off x="731520" y="1828800"/>
            <a:ext cx="7315200" cy="822960"/>
          </a:xfrm>
          <a:prstGeom prst="rect">
            <a:avLst/>
          </a:prstGeom>
          <a:noFill/>
        </p:spPr>
        <p:txBody>
          <a:bodyPr wrap="square">
            <a:spAutoFit/>
          </a:bodyPr>
          <a:lstStyle/>
          <a:p>
            <a:pPr algn="l">
              <a:defRPr sz="6400" b="1">
                <a:solidFill>
                  <a:srgbClr val="3B82F6"/>
                </a:solidFill>
                <a:latin typeface="맑은 고딕"/>
              </a:defRPr>
            </a:pPr>
            <a:r>
              <a:t>03</a:t>
            </a:r>
          </a:p>
        </p:txBody>
      </p:sp>
      <p:sp>
        <p:nvSpPr>
          <p:cNvPr id="3" name="Rounded Rectangle 2"/>
          <p:cNvSpPr/>
          <p:nvPr/>
        </p:nvSpPr>
        <p:spPr>
          <a:xfrm>
            <a:off x="731520" y="2743200"/>
            <a:ext cx="1828800" cy="4572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017520"/>
            <a:ext cx="7315200" cy="822960"/>
          </a:xfrm>
          <a:prstGeom prst="rect">
            <a:avLst/>
          </a:prstGeom>
          <a:noFill/>
        </p:spPr>
        <p:txBody>
          <a:bodyPr wrap="square">
            <a:spAutoFit/>
          </a:bodyPr>
          <a:lstStyle/>
          <a:p>
            <a:pPr algn="l">
              <a:defRPr sz="3600" b="1">
                <a:solidFill>
                  <a:srgbClr val="FFFFFF"/>
                </a:solidFill>
                <a:latin typeface="맑은 고딕"/>
              </a:defRPr>
            </a:pPr>
            <a:r>
              <a:t>우리의 솔루션</a:t>
            </a:r>
          </a:p>
        </p:txBody>
      </p:sp>
      <p:sp>
        <p:nvSpPr>
          <p:cNvPr id="5" name="TextBox 4"/>
          <p:cNvSpPr txBox="1"/>
          <p:nvPr/>
        </p:nvSpPr>
        <p:spPr>
          <a:xfrm>
            <a:off x="731520" y="3840480"/>
            <a:ext cx="7315200" cy="457200"/>
          </a:xfrm>
          <a:prstGeom prst="rect">
            <a:avLst/>
          </a:prstGeom>
          <a:noFill/>
        </p:spPr>
        <p:txBody>
          <a:bodyPr wrap="square">
            <a:spAutoFit/>
          </a:bodyPr>
          <a:lstStyle/>
          <a:p>
            <a:pPr algn="l">
              <a:defRPr sz="1600" b="0">
                <a:solidFill>
                  <a:srgbClr val="94A3B8"/>
                </a:solidFill>
                <a:latin typeface="맑은 고딕"/>
              </a:defRPr>
            </a:pPr>
            <a:r>
              <a:t>Our Solution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200" b="1">
                <a:solidFill>
                  <a:srgbClr val="94A3B8"/>
                </a:solidFill>
                <a:latin typeface="맑은 고딕"/>
              </a:defRPr>
            </a:pPr>
            <a:r>
              <a:t>OUR SOLUTION</a:t>
            </a:r>
          </a:p>
        </p:txBody>
      </p:sp>
      <p:sp>
        <p:nvSpPr>
          <p:cNvPr id="3" name="TextBox 2"/>
          <p:cNvSpPr txBox="1"/>
          <p:nvPr/>
        </p:nvSpPr>
        <p:spPr>
          <a:xfrm>
            <a:off x="731520" y="1371600"/>
            <a:ext cx="7680960" cy="1645920"/>
          </a:xfrm>
          <a:prstGeom prst="rect">
            <a:avLst/>
          </a:prstGeom>
          <a:noFill/>
        </p:spPr>
        <p:txBody>
          <a:bodyPr wrap="square">
            <a:spAutoFit/>
          </a:bodyPr>
          <a:lstStyle/>
          <a:p>
            <a:pPr algn="l">
              <a:defRPr sz="2800" b="1">
                <a:solidFill>
                  <a:srgbClr val="FFFFFF"/>
                </a:solidFill>
                <a:latin typeface="맑은 고딕"/>
              </a:defRPr>
            </a:pPr>
            <a:r>
              <a:t>Python 백엔드와 React 프론트엔드를 결합한 실시간 시스템 모니터링 웹 대시보드입니다. WebSocket 기반 통신으로 CPU, 메모리, 디스크, 네트워크를 3초 간격으로 시각화합니다.</a:t>
            </a:r>
          </a:p>
        </p:txBody>
      </p:sp>
      <p:sp>
        <p:nvSpPr>
          <p:cNvPr id="4" name="Rounded Rectangle 3"/>
          <p:cNvSpPr/>
          <p:nvPr/>
        </p:nvSpPr>
        <p:spPr>
          <a:xfrm>
            <a:off x="731520" y="3291840"/>
            <a:ext cx="1828800" cy="36576"/>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566160"/>
            <a:ext cx="7680960" cy="1371600"/>
          </a:xfrm>
          <a:prstGeom prst="rect">
            <a:avLst/>
          </a:prstGeom>
          <a:noFill/>
        </p:spPr>
        <p:txBody>
          <a:bodyPr wrap="square">
            <a:spAutoFit/>
          </a:bodyPr>
          <a:lstStyle/>
          <a:p>
            <a:pPr algn="l">
              <a:defRPr sz="1600" b="0">
                <a:solidFill>
                  <a:srgbClr val="94A3B8"/>
                </a:solidFill>
                <a:latin typeface="맑은 고딕"/>
              </a:defRPr>
            </a:pPr>
            <a:r>
              <a:t>프론트엔드는 React+Recharts 기반 SPA로 다크 테마 대시보드를 렌더링하고, 백엔드는 Python FastAPI가 psutil로 시스템 메트릭을 수집하여 WebSocket으로 전달합니다. 인메모리 버퍼에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7315200" cy="365760"/>
          </a:xfrm>
          <a:prstGeom prst="rect">
            <a:avLst/>
          </a:prstGeom>
          <a:noFill/>
        </p:spPr>
        <p:txBody>
          <a:bodyPr wrap="square">
            <a:spAutoFit/>
          </a:bodyPr>
          <a:lstStyle/>
          <a:p>
            <a:pPr algn="l">
              <a:defRPr sz="1200" b="1">
                <a:solidFill>
                  <a:srgbClr val="2563EB"/>
                </a:solidFill>
                <a:latin typeface="맑은 고딕"/>
              </a:defRPr>
            </a:pPr>
            <a:r>
              <a:t>PROJECT SCOPE</a:t>
            </a:r>
          </a:p>
        </p:txBody>
      </p:sp>
      <p:sp>
        <p:nvSpPr>
          <p:cNvPr id="3" name="TextBox 2"/>
          <p:cNvSpPr txBox="1"/>
          <p:nvPr/>
        </p:nvSpPr>
        <p:spPr>
          <a:xfrm>
            <a:off x="731520" y="731520"/>
            <a:ext cx="7315200" cy="548640"/>
          </a:xfrm>
          <a:prstGeom prst="rect">
            <a:avLst/>
          </a:prstGeom>
          <a:noFill/>
        </p:spPr>
        <p:txBody>
          <a:bodyPr wrap="square">
            <a:spAutoFit/>
          </a:bodyPr>
          <a:lstStyle/>
          <a:p>
            <a:pPr algn="l">
              <a:defRPr sz="3000" b="1">
                <a:solidFill>
                  <a:srgbClr val="0F172A"/>
                </a:solidFill>
                <a:latin typeface="맑은 고딕"/>
              </a:defRPr>
            </a:pPr>
            <a:r>
              <a:t>작업 범위</a:t>
            </a:r>
          </a:p>
        </p:txBody>
      </p:sp>
      <p:sp>
        <p:nvSpPr>
          <p:cNvPr id="4" name="Rounded Rectangle 3"/>
          <p:cNvSpPr/>
          <p:nvPr/>
        </p:nvSpPr>
        <p:spPr>
          <a:xfrm>
            <a:off x="731520" y="1280160"/>
            <a:ext cx="1371600" cy="3657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645920"/>
            <a:ext cx="3840480" cy="4846320"/>
          </a:xfrm>
          <a:prstGeom prst="roundRect">
            <a:avLst>
              <a:gd name="adj" fmla="val 6000"/>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02920" y="1737360"/>
            <a:ext cx="320040" cy="32004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O</a:t>
            </a:r>
          </a:p>
        </p:txBody>
      </p:sp>
      <p:sp>
        <p:nvSpPr>
          <p:cNvPr id="7" name="TextBox 6"/>
          <p:cNvSpPr txBox="1"/>
          <p:nvPr/>
        </p:nvSpPr>
        <p:spPr>
          <a:xfrm>
            <a:off x="960120" y="1737360"/>
            <a:ext cx="2926080" cy="320040"/>
          </a:xfrm>
          <a:prstGeom prst="rect">
            <a:avLst/>
          </a:prstGeom>
          <a:noFill/>
        </p:spPr>
        <p:txBody>
          <a:bodyPr wrap="square">
            <a:spAutoFit/>
          </a:bodyPr>
          <a:lstStyle/>
          <a:p>
            <a:pPr algn="l">
              <a:defRPr sz="1400" b="1">
                <a:solidFill>
                  <a:srgbClr val="059669"/>
                </a:solidFill>
                <a:latin typeface="맑은 고딕"/>
              </a:defRPr>
            </a:pPr>
            <a:r>
              <a:t>포함 범위 (In-Scope)</a:t>
            </a:r>
          </a:p>
        </p:txBody>
      </p:sp>
      <p:sp>
        <p:nvSpPr>
          <p:cNvPr id="8" name="TextBox 7"/>
          <p:cNvSpPr txBox="1"/>
          <p:nvPr/>
        </p:nvSpPr>
        <p:spPr>
          <a:xfrm>
            <a:off x="548640" y="2194560"/>
            <a:ext cx="3474720" cy="320040"/>
          </a:xfrm>
          <a:prstGeom prst="rect">
            <a:avLst/>
          </a:prstGeom>
          <a:noFill/>
        </p:spPr>
        <p:txBody>
          <a:bodyPr wrap="square">
            <a:spAutoFit/>
          </a:bodyPr>
          <a:lstStyle/>
          <a:p>
            <a:pPr algn="l">
              <a:defRPr sz="1200" b="0">
                <a:solidFill>
                  <a:srgbClr val="334155"/>
                </a:solidFill>
                <a:latin typeface="맑은 고딕"/>
              </a:defRPr>
            </a:pPr>
            <a:r>
              <a:t>CPU 사용률 실시간 라인 차트, 메모리 사용률 실시간 라인 차트, 디스크 사용량 파이 차</a:t>
            </a:r>
          </a:p>
        </p:txBody>
      </p:sp>
      <p:sp>
        <p:nvSpPr>
          <p:cNvPr id="9" name="TextBox 8"/>
          <p:cNvSpPr txBox="1"/>
          <p:nvPr/>
        </p:nvSpPr>
        <p:spPr>
          <a:xfrm>
            <a:off x="548640" y="2578608"/>
            <a:ext cx="3474720" cy="320040"/>
          </a:xfrm>
          <a:prstGeom prst="rect">
            <a:avLst/>
          </a:prstGeom>
          <a:noFill/>
        </p:spPr>
        <p:txBody>
          <a:bodyPr wrap="square">
            <a:spAutoFit/>
          </a:bodyPr>
          <a:lstStyle/>
          <a:p>
            <a:pPr algn="l">
              <a:defRPr sz="1200" b="0">
                <a:solidFill>
                  <a:srgbClr val="334155"/>
                </a:solidFill>
                <a:latin typeface="맑은 고딕"/>
              </a:defRPr>
            </a:pPr>
            <a:r>
              <a:t>CPU 사용률 실시간 모니터링</a:t>
            </a:r>
          </a:p>
        </p:txBody>
      </p:sp>
      <p:sp>
        <p:nvSpPr>
          <p:cNvPr id="10" name="TextBox 9"/>
          <p:cNvSpPr txBox="1"/>
          <p:nvPr/>
        </p:nvSpPr>
        <p:spPr>
          <a:xfrm>
            <a:off x="548640" y="2962656"/>
            <a:ext cx="3474720" cy="320040"/>
          </a:xfrm>
          <a:prstGeom prst="rect">
            <a:avLst/>
          </a:prstGeom>
          <a:noFill/>
        </p:spPr>
        <p:txBody>
          <a:bodyPr wrap="square">
            <a:spAutoFit/>
          </a:bodyPr>
          <a:lstStyle/>
          <a:p>
            <a:pPr algn="l">
              <a:defRPr sz="1200" b="0">
                <a:solidFill>
                  <a:srgbClr val="334155"/>
                </a:solidFill>
                <a:latin typeface="맑은 고딕"/>
              </a:defRPr>
            </a:pPr>
            <a:r>
              <a:t>메모리 사용률 실시간 모니터링</a:t>
            </a:r>
          </a:p>
        </p:txBody>
      </p:sp>
      <p:sp>
        <p:nvSpPr>
          <p:cNvPr id="11" name="TextBox 10"/>
          <p:cNvSpPr txBox="1"/>
          <p:nvPr/>
        </p:nvSpPr>
        <p:spPr>
          <a:xfrm>
            <a:off x="548640" y="3346703"/>
            <a:ext cx="3474720" cy="320040"/>
          </a:xfrm>
          <a:prstGeom prst="rect">
            <a:avLst/>
          </a:prstGeom>
          <a:noFill/>
        </p:spPr>
        <p:txBody>
          <a:bodyPr wrap="square">
            <a:spAutoFit/>
          </a:bodyPr>
          <a:lstStyle/>
          <a:p>
            <a:pPr algn="l">
              <a:defRPr sz="1200" b="0">
                <a:solidFill>
                  <a:srgbClr val="334155"/>
                </a:solidFill>
                <a:latin typeface="맑은 고딕"/>
              </a:defRPr>
            </a:pPr>
            <a:r>
              <a:t>디스크 사용량 시각화</a:t>
            </a:r>
          </a:p>
        </p:txBody>
      </p:sp>
      <p:sp>
        <p:nvSpPr>
          <p:cNvPr id="12" name="TextBox 11"/>
          <p:cNvSpPr txBox="1"/>
          <p:nvPr/>
        </p:nvSpPr>
        <p:spPr>
          <a:xfrm>
            <a:off x="548640" y="3730752"/>
            <a:ext cx="3474720" cy="320040"/>
          </a:xfrm>
          <a:prstGeom prst="rect">
            <a:avLst/>
          </a:prstGeom>
          <a:noFill/>
        </p:spPr>
        <p:txBody>
          <a:bodyPr wrap="square">
            <a:spAutoFit/>
          </a:bodyPr>
          <a:lstStyle/>
          <a:p>
            <a:pPr algn="l">
              <a:defRPr sz="1200" b="0">
                <a:solidFill>
                  <a:srgbClr val="334155"/>
                </a:solidFill>
                <a:latin typeface="맑은 고딕"/>
              </a:defRPr>
            </a:pPr>
            <a:r>
              <a:t>네트워크 트래픽 실시간 모니터링</a:t>
            </a:r>
          </a:p>
        </p:txBody>
      </p:sp>
      <p:sp>
        <p:nvSpPr>
          <p:cNvPr id="13" name="TextBox 12"/>
          <p:cNvSpPr txBox="1"/>
          <p:nvPr/>
        </p:nvSpPr>
        <p:spPr>
          <a:xfrm>
            <a:off x="548640" y="4114800"/>
            <a:ext cx="3474720" cy="320040"/>
          </a:xfrm>
          <a:prstGeom prst="rect">
            <a:avLst/>
          </a:prstGeom>
          <a:noFill/>
        </p:spPr>
        <p:txBody>
          <a:bodyPr wrap="square">
            <a:spAutoFit/>
          </a:bodyPr>
          <a:lstStyle/>
          <a:p>
            <a:pPr algn="l">
              <a:defRPr sz="1200" b="0">
                <a:solidFill>
                  <a:srgbClr val="334155"/>
                </a:solidFill>
                <a:latin typeface="맑은 고딕"/>
              </a:defRPr>
            </a:pPr>
            <a:r>
              <a:t>실시간 자동 데이터 갱신</a:t>
            </a:r>
          </a:p>
        </p:txBody>
      </p:sp>
      <p:sp>
        <p:nvSpPr>
          <p:cNvPr id="14" name="Rounded Rectangle 13"/>
          <p:cNvSpPr/>
          <p:nvPr/>
        </p:nvSpPr>
        <p:spPr>
          <a:xfrm>
            <a:off x="4937760" y="1645920"/>
            <a:ext cx="3840480" cy="4846320"/>
          </a:xfrm>
          <a:prstGeom prst="roundRect">
            <a:avLst>
              <a:gd name="adj" fmla="val 6000"/>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074920" y="1737360"/>
            <a:ext cx="320040" cy="32004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X</a:t>
            </a:r>
          </a:p>
        </p:txBody>
      </p:sp>
      <p:sp>
        <p:nvSpPr>
          <p:cNvPr id="16" name="TextBox 15"/>
          <p:cNvSpPr txBox="1"/>
          <p:nvPr/>
        </p:nvSpPr>
        <p:spPr>
          <a:xfrm>
            <a:off x="5532120" y="1737360"/>
            <a:ext cx="2926080" cy="320040"/>
          </a:xfrm>
          <a:prstGeom prst="rect">
            <a:avLst/>
          </a:prstGeom>
          <a:noFill/>
        </p:spPr>
        <p:txBody>
          <a:bodyPr wrap="square">
            <a:spAutoFit/>
          </a:bodyPr>
          <a:lstStyle/>
          <a:p>
            <a:pPr algn="l">
              <a:defRPr sz="1400" b="1">
                <a:solidFill>
                  <a:srgbClr val="DC2626"/>
                </a:solidFill>
                <a:latin typeface="맑은 고딕"/>
              </a:defRPr>
            </a:pPr>
            <a:r>
              <a:t>제외 범위 (Out of Scope)</a:t>
            </a:r>
          </a:p>
        </p:txBody>
      </p:sp>
      <p:sp>
        <p:nvSpPr>
          <p:cNvPr id="17" name="TextBox 16"/>
          <p:cNvSpPr txBox="1"/>
          <p:nvPr/>
        </p:nvSpPr>
        <p:spPr>
          <a:xfrm>
            <a:off x="5120640" y="2194560"/>
            <a:ext cx="3474720" cy="320040"/>
          </a:xfrm>
          <a:prstGeom prst="rect">
            <a:avLst/>
          </a:prstGeom>
          <a:noFill/>
        </p:spPr>
        <p:txBody>
          <a:bodyPr wrap="square">
            <a:spAutoFit/>
          </a:bodyPr>
          <a:lstStyle/>
          <a:p>
            <a:pPr algn="l">
              <a:defRPr sz="1200" b="0">
                <a:solidFill>
                  <a:srgbClr val="334155"/>
                </a:solidFill>
                <a:latin typeface="맑은 고딕"/>
              </a:defRPr>
            </a:pPr>
            <a:r>
              <a:t>알림/경고 시스템 (이메일, SMS, Slack 등)</a:t>
            </a:r>
          </a:p>
        </p:txBody>
      </p:sp>
      <p:sp>
        <p:nvSpPr>
          <p:cNvPr id="18" name="TextBox 17"/>
          <p:cNvSpPr txBox="1"/>
          <p:nvPr/>
        </p:nvSpPr>
        <p:spPr>
          <a:xfrm>
            <a:off x="5120640" y="2578608"/>
            <a:ext cx="3474720" cy="320040"/>
          </a:xfrm>
          <a:prstGeom prst="rect">
            <a:avLst/>
          </a:prstGeom>
          <a:noFill/>
        </p:spPr>
        <p:txBody>
          <a:bodyPr wrap="square">
            <a:spAutoFit/>
          </a:bodyPr>
          <a:lstStyle/>
          <a:p>
            <a:pPr algn="l">
              <a:defRPr sz="1200" b="0">
                <a:solidFill>
                  <a:srgbClr val="334155"/>
                </a:solidFill>
                <a:latin typeface="맑은 고딕"/>
              </a:defRPr>
            </a:pPr>
            <a:r>
              <a:t>히스토리 데이터 저장 및 조회</a:t>
            </a:r>
          </a:p>
        </p:txBody>
      </p:sp>
      <p:sp>
        <p:nvSpPr>
          <p:cNvPr id="19" name="TextBox 18"/>
          <p:cNvSpPr txBox="1"/>
          <p:nvPr/>
        </p:nvSpPr>
        <p:spPr>
          <a:xfrm>
            <a:off x="5120640" y="2962656"/>
            <a:ext cx="3474720" cy="320040"/>
          </a:xfrm>
          <a:prstGeom prst="rect">
            <a:avLst/>
          </a:prstGeom>
          <a:noFill/>
        </p:spPr>
        <p:txBody>
          <a:bodyPr wrap="square">
            <a:spAutoFit/>
          </a:bodyPr>
          <a:lstStyle/>
          <a:p>
            <a:pPr algn="l">
              <a:defRPr sz="1200" b="0">
                <a:solidFill>
                  <a:srgbClr val="334155"/>
                </a:solidFill>
                <a:latin typeface="맑은 고딕"/>
              </a:defRPr>
            </a:pPr>
            <a:r>
              <a:t>다중 서버 모니터링 (리모트 에이전트)</a:t>
            </a:r>
          </a:p>
        </p:txBody>
      </p:sp>
      <p:sp>
        <p:nvSpPr>
          <p:cNvPr id="20" name="TextBox 19"/>
          <p:cNvSpPr txBox="1"/>
          <p:nvPr/>
        </p:nvSpPr>
        <p:spPr>
          <a:xfrm>
            <a:off x="5120640" y="3346703"/>
            <a:ext cx="3474720" cy="320040"/>
          </a:xfrm>
          <a:prstGeom prst="rect">
            <a:avLst/>
          </a:prstGeom>
          <a:noFill/>
        </p:spPr>
        <p:txBody>
          <a:bodyPr wrap="square">
            <a:spAutoFit/>
          </a:bodyPr>
          <a:lstStyle/>
          <a:p>
            <a:pPr algn="l">
              <a:defRPr sz="1200" b="0">
                <a:solidFill>
                  <a:srgbClr val="334155"/>
                </a:solidFill>
                <a:latin typeface="맑은 고딕"/>
              </a:defRPr>
            </a:pPr>
            <a:r>
              <a:t>사용자 인증 및 권한 관리</a:t>
            </a:r>
          </a:p>
        </p:txBody>
      </p:sp>
      <p:sp>
        <p:nvSpPr>
          <p:cNvPr id="21" name="TextBox 20"/>
          <p:cNvSpPr txBox="1"/>
          <p:nvPr/>
        </p:nvSpPr>
        <p:spPr>
          <a:xfrm>
            <a:off x="5120640" y="3730752"/>
            <a:ext cx="3474720" cy="320040"/>
          </a:xfrm>
          <a:prstGeom prst="rect">
            <a:avLst/>
          </a:prstGeom>
          <a:noFill/>
        </p:spPr>
        <p:txBody>
          <a:bodyPr wrap="square">
            <a:spAutoFit/>
          </a:bodyPr>
          <a:lstStyle/>
          <a:p>
            <a:pPr algn="l">
              <a:defRPr sz="1200" b="0">
                <a:solidFill>
                  <a:srgbClr val="334155"/>
                </a:solidFill>
                <a:latin typeface="맑은 고딕"/>
              </a:defRPr>
            </a:pPr>
            <a:r>
              <a:t>로그 수집 및 분석</a:t>
            </a:r>
          </a:p>
        </p:txBody>
      </p:sp>
      <p:sp>
        <p:nvSpPr>
          <p:cNvPr id="22" name="TextBox 21"/>
          <p:cNvSpPr txBox="1"/>
          <p:nvPr/>
        </p:nvSpPr>
        <p:spPr>
          <a:xfrm>
            <a:off x="5120640" y="4114800"/>
            <a:ext cx="3474720" cy="320040"/>
          </a:xfrm>
          <a:prstGeom prst="rect">
            <a:avLst/>
          </a:prstGeom>
          <a:noFill/>
        </p:spPr>
        <p:txBody>
          <a:bodyPr wrap="square">
            <a:spAutoFit/>
          </a:bodyPr>
          <a:lstStyle/>
          <a:p>
            <a:pPr algn="l">
              <a:defRPr sz="1200" b="0">
                <a:solidFill>
                  <a:srgbClr val="334155"/>
                </a:solidFill>
                <a:latin typeface="맑은 고딕"/>
              </a:defRPr>
            </a:pPr>
            <a:r>
              <a:t>프로세스별 상세 리소스 추적</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7315200" cy="365760"/>
          </a:xfrm>
          <a:prstGeom prst="rect">
            <a:avLst/>
          </a:prstGeom>
          <a:noFill/>
        </p:spPr>
        <p:txBody>
          <a:bodyPr wrap="square">
            <a:spAutoFit/>
          </a:bodyPr>
          <a:lstStyle/>
          <a:p>
            <a:pPr algn="l">
              <a:defRPr sz="1200" b="1">
                <a:solidFill>
                  <a:srgbClr val="7C3AED"/>
                </a:solidFill>
                <a:latin typeface="맑은 고딕"/>
              </a:defRPr>
            </a:pPr>
            <a:r>
              <a:t>KEY FEATURES</a:t>
            </a:r>
          </a:p>
        </p:txBody>
      </p:sp>
      <p:sp>
        <p:nvSpPr>
          <p:cNvPr id="3" name="TextBox 2"/>
          <p:cNvSpPr txBox="1"/>
          <p:nvPr/>
        </p:nvSpPr>
        <p:spPr>
          <a:xfrm>
            <a:off x="731520" y="731520"/>
            <a:ext cx="7315200" cy="548640"/>
          </a:xfrm>
          <a:prstGeom prst="rect">
            <a:avLst/>
          </a:prstGeom>
          <a:noFill/>
        </p:spPr>
        <p:txBody>
          <a:bodyPr wrap="square">
            <a:spAutoFit/>
          </a:bodyPr>
          <a:lstStyle/>
          <a:p>
            <a:pPr algn="l">
              <a:defRPr sz="3000" b="1">
                <a:solidFill>
                  <a:srgbClr val="0F172A"/>
                </a:solidFill>
                <a:latin typeface="맑은 고딕"/>
              </a:defRPr>
            </a:pPr>
            <a:r>
              <a:t>핵심 기능</a:t>
            </a:r>
          </a:p>
        </p:txBody>
      </p:sp>
      <p:sp>
        <p:nvSpPr>
          <p:cNvPr id="4" name="Rounded Rectangle 3"/>
          <p:cNvSpPr/>
          <p:nvPr/>
        </p:nvSpPr>
        <p:spPr>
          <a:xfrm>
            <a:off x="731520" y="1280160"/>
            <a:ext cx="1371600" cy="36576"/>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45920"/>
            <a:ext cx="3886200" cy="1828800"/>
          </a:xfrm>
          <a:prstGeom prst="roundRect">
            <a:avLst>
              <a:gd name="adj" fmla="val 6000"/>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080" y="1737360"/>
            <a:ext cx="320040" cy="32004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1</a:t>
            </a:r>
          </a:p>
        </p:txBody>
      </p:sp>
      <p:sp>
        <p:nvSpPr>
          <p:cNvPr id="7" name="TextBox 6"/>
          <p:cNvSpPr txBox="1"/>
          <p:nvPr/>
        </p:nvSpPr>
        <p:spPr>
          <a:xfrm>
            <a:off x="1051560" y="1737360"/>
            <a:ext cx="3246120" cy="274320"/>
          </a:xfrm>
          <a:prstGeom prst="rect">
            <a:avLst/>
          </a:prstGeom>
          <a:noFill/>
        </p:spPr>
        <p:txBody>
          <a:bodyPr wrap="square">
            <a:spAutoFit/>
          </a:bodyPr>
          <a:lstStyle/>
          <a:p>
            <a:pPr algn="l">
              <a:defRPr sz="1300" b="1">
                <a:solidFill>
                  <a:srgbClr val="0F172A"/>
                </a:solidFill>
                <a:latin typeface="맑은 고딕"/>
              </a:defRPr>
            </a:pPr>
            <a:r>
              <a:t>기능 요구사항</a:t>
            </a:r>
          </a:p>
        </p:txBody>
      </p:sp>
      <p:sp>
        <p:nvSpPr>
          <p:cNvPr id="8" name="TextBox 7"/>
          <p:cNvSpPr txBox="1"/>
          <p:nvPr/>
        </p:nvSpPr>
        <p:spPr>
          <a:xfrm>
            <a:off x="640080" y="2148840"/>
            <a:ext cx="3703320" cy="1234440"/>
          </a:xfrm>
          <a:prstGeom prst="rect">
            <a:avLst/>
          </a:prstGeom>
          <a:noFill/>
        </p:spPr>
        <p:txBody>
          <a:bodyPr wrap="square">
            <a:spAutoFit/>
          </a:bodyPr>
          <a:lstStyle/>
          <a:p>
            <a:pPr algn="l">
              <a:defRPr sz="1000" b="0">
                <a:solidFill>
                  <a:srgbClr val="334155"/>
                </a:solidFill>
                <a:latin typeface="맑은 고딕"/>
              </a:defRPr>
            </a:pPr>
            <a:r>
              <a:t>핵심 비즈니스 기능 구현</a:t>
            </a:r>
          </a:p>
        </p:txBody>
      </p:sp>
      <p:sp>
        <p:nvSpPr>
          <p:cNvPr id="9" name="Rounded Rectangle 8"/>
          <p:cNvSpPr/>
          <p:nvPr/>
        </p:nvSpPr>
        <p:spPr>
          <a:xfrm>
            <a:off x="4709159" y="1645920"/>
            <a:ext cx="3886200" cy="1828800"/>
          </a:xfrm>
          <a:prstGeom prst="roundRect">
            <a:avLst>
              <a:gd name="adj" fmla="val 6000"/>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800599" y="1737360"/>
            <a:ext cx="320040" cy="32004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2</a:t>
            </a:r>
          </a:p>
        </p:txBody>
      </p:sp>
      <p:sp>
        <p:nvSpPr>
          <p:cNvPr id="11" name="TextBox 10"/>
          <p:cNvSpPr txBox="1"/>
          <p:nvPr/>
        </p:nvSpPr>
        <p:spPr>
          <a:xfrm>
            <a:off x="5212079" y="1737360"/>
            <a:ext cx="3246120" cy="274320"/>
          </a:xfrm>
          <a:prstGeom prst="rect">
            <a:avLst/>
          </a:prstGeom>
          <a:noFill/>
        </p:spPr>
        <p:txBody>
          <a:bodyPr wrap="square">
            <a:spAutoFit/>
          </a:bodyPr>
          <a:lstStyle/>
          <a:p>
            <a:pPr algn="l">
              <a:defRPr sz="1300" b="1">
                <a:solidFill>
                  <a:srgbClr val="0F172A"/>
                </a:solidFill>
                <a:latin typeface="맑은 고딕"/>
              </a:defRPr>
            </a:pPr>
            <a:r>
              <a:t>비기능 요구사항</a:t>
            </a:r>
          </a:p>
        </p:txBody>
      </p:sp>
      <p:sp>
        <p:nvSpPr>
          <p:cNvPr id="12" name="TextBox 11"/>
          <p:cNvSpPr txBox="1"/>
          <p:nvPr/>
        </p:nvSpPr>
        <p:spPr>
          <a:xfrm>
            <a:off x="4800599" y="2148840"/>
            <a:ext cx="3703320" cy="1234440"/>
          </a:xfrm>
          <a:prstGeom prst="rect">
            <a:avLst/>
          </a:prstGeom>
          <a:noFill/>
        </p:spPr>
        <p:txBody>
          <a:bodyPr wrap="square">
            <a:spAutoFit/>
          </a:bodyPr>
          <a:lstStyle/>
          <a:p>
            <a:pPr algn="l">
              <a:defRPr sz="1000" b="0">
                <a:solidFill>
                  <a:srgbClr val="334155"/>
                </a:solidFill>
                <a:latin typeface="맑은 고딕"/>
              </a:defRPr>
            </a:pPr>
            <a:r>
              <a:t>성능, 보안, 확장성 등</a:t>
            </a:r>
          </a:p>
        </p:txBody>
      </p:sp>
      <p:sp>
        <p:nvSpPr>
          <p:cNvPr id="13" name="Rounded Rectangle 12"/>
          <p:cNvSpPr/>
          <p:nvPr/>
        </p:nvSpPr>
        <p:spPr>
          <a:xfrm>
            <a:off x="548640" y="3703320"/>
            <a:ext cx="3886200" cy="1828800"/>
          </a:xfrm>
          <a:prstGeom prst="roundRect">
            <a:avLst>
              <a:gd name="adj" fmla="val 6000"/>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080" y="3794759"/>
            <a:ext cx="320040" cy="320040"/>
          </a:xfrm>
          <a:prstGeom prst="ellipse">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3</a:t>
            </a:r>
          </a:p>
        </p:txBody>
      </p:sp>
      <p:sp>
        <p:nvSpPr>
          <p:cNvPr id="15" name="TextBox 14"/>
          <p:cNvSpPr txBox="1"/>
          <p:nvPr/>
        </p:nvSpPr>
        <p:spPr>
          <a:xfrm>
            <a:off x="1051560" y="3794759"/>
            <a:ext cx="3246120" cy="274320"/>
          </a:xfrm>
          <a:prstGeom prst="rect">
            <a:avLst/>
          </a:prstGeom>
          <a:noFill/>
        </p:spPr>
        <p:txBody>
          <a:bodyPr wrap="square">
            <a:spAutoFit/>
          </a:bodyPr>
          <a:lstStyle/>
          <a:p>
            <a:pPr algn="l">
              <a:defRPr sz="1300" b="1">
                <a:solidFill>
                  <a:srgbClr val="0F172A"/>
                </a:solidFill>
                <a:latin typeface="맑은 고딕"/>
              </a:defRPr>
            </a:pPr>
            <a:r>
              <a:t>기술 제약사항</a:t>
            </a:r>
          </a:p>
        </p:txBody>
      </p:sp>
      <p:sp>
        <p:nvSpPr>
          <p:cNvPr id="16" name="TextBox 15"/>
          <p:cNvSpPr txBox="1"/>
          <p:nvPr/>
        </p:nvSpPr>
        <p:spPr>
          <a:xfrm>
            <a:off x="640080" y="4206240"/>
            <a:ext cx="3703320" cy="1234440"/>
          </a:xfrm>
          <a:prstGeom prst="rect">
            <a:avLst/>
          </a:prstGeom>
          <a:noFill/>
        </p:spPr>
        <p:txBody>
          <a:bodyPr wrap="square">
            <a:spAutoFit/>
          </a:bodyPr>
          <a:lstStyle/>
          <a:p>
            <a:pPr algn="l">
              <a:defRPr sz="1000" b="0">
                <a:solidFill>
                  <a:srgbClr val="334155"/>
                </a:solidFill>
                <a:latin typeface="맑은 고딕"/>
              </a:defRPr>
            </a:pPr>
            <a:r>
              <a:t>기술 스택 및 환경 요구사항</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7315200" cy="365760"/>
          </a:xfrm>
          <a:prstGeom prst="rect">
            <a:avLst/>
          </a:prstGeom>
          <a:noFill/>
        </p:spPr>
        <p:txBody>
          <a:bodyPr wrap="square">
            <a:spAutoFit/>
          </a:bodyPr>
          <a:lstStyle/>
          <a:p>
            <a:pPr algn="l">
              <a:defRPr sz="1200" b="1">
                <a:solidFill>
                  <a:srgbClr val="0891B2"/>
                </a:solidFill>
                <a:latin typeface="맑은 고딕"/>
              </a:defRPr>
            </a:pPr>
            <a:r>
              <a:t>TECHNOLOGY STACK</a:t>
            </a:r>
          </a:p>
        </p:txBody>
      </p:sp>
      <p:sp>
        <p:nvSpPr>
          <p:cNvPr id="3" name="TextBox 2"/>
          <p:cNvSpPr txBox="1"/>
          <p:nvPr/>
        </p:nvSpPr>
        <p:spPr>
          <a:xfrm>
            <a:off x="731520" y="731520"/>
            <a:ext cx="7315200" cy="548640"/>
          </a:xfrm>
          <a:prstGeom prst="rect">
            <a:avLst/>
          </a:prstGeom>
          <a:noFill/>
        </p:spPr>
        <p:txBody>
          <a:bodyPr wrap="square">
            <a:spAutoFit/>
          </a:bodyPr>
          <a:lstStyle/>
          <a:p>
            <a:pPr algn="l">
              <a:defRPr sz="3000" b="1">
                <a:solidFill>
                  <a:srgbClr val="0F172A"/>
                </a:solidFill>
                <a:latin typeface="맑은 고딕"/>
              </a:defRPr>
            </a:pPr>
            <a:r>
              <a:t>기술 스택</a:t>
            </a:r>
          </a:p>
        </p:txBody>
      </p:sp>
      <p:sp>
        <p:nvSpPr>
          <p:cNvPr id="4" name="Rounded Rectangle 3"/>
          <p:cNvSpPr/>
          <p:nvPr/>
        </p:nvSpPr>
        <p:spPr>
          <a:xfrm>
            <a:off x="731520" y="1280160"/>
            <a:ext cx="1371600" cy="36576"/>
          </a:xfrm>
          <a:prstGeom prst="round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645920"/>
            <a:ext cx="8229600" cy="658368"/>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080" y="1783080"/>
            <a:ext cx="365760" cy="36576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T</a:t>
            </a:r>
          </a:p>
        </p:txBody>
      </p:sp>
      <p:sp>
        <p:nvSpPr>
          <p:cNvPr id="7" name="TextBox 6"/>
          <p:cNvSpPr txBox="1"/>
          <p:nvPr/>
        </p:nvSpPr>
        <p:spPr>
          <a:xfrm>
            <a:off x="1188720" y="1700784"/>
            <a:ext cx="2286000" cy="256032"/>
          </a:xfrm>
          <a:prstGeom prst="rect">
            <a:avLst/>
          </a:prstGeom>
          <a:noFill/>
        </p:spPr>
        <p:txBody>
          <a:bodyPr wrap="square">
            <a:spAutoFit/>
          </a:bodyPr>
          <a:lstStyle/>
          <a:p>
            <a:pPr algn="l">
              <a:defRPr sz="1200" b="1">
                <a:solidFill>
                  <a:srgbClr val="2563EB"/>
                </a:solidFill>
                <a:latin typeface="맑은 고딕"/>
              </a:defRPr>
            </a:pPr>
          </a:p>
        </p:txBody>
      </p:sp>
      <p:sp>
        <p:nvSpPr>
          <p:cNvPr id="8" name="TextBox 7"/>
          <p:cNvSpPr txBox="1"/>
          <p:nvPr/>
        </p:nvSpPr>
        <p:spPr>
          <a:xfrm>
            <a:off x="1188720" y="1965960"/>
            <a:ext cx="7132320" cy="274320"/>
          </a:xfrm>
          <a:prstGeom prst="rect">
            <a:avLst/>
          </a:prstGeom>
          <a:noFill/>
        </p:spPr>
        <p:txBody>
          <a:bodyPr wrap="square">
            <a:spAutoFit/>
          </a:bodyPr>
          <a:lstStyle/>
          <a:p>
            <a:pPr algn="l">
              <a:defRPr sz="1300" b="0">
                <a:solidFill>
                  <a:srgbClr val="334155"/>
                </a:solidFill>
                <a:latin typeface="맑은 고딕"/>
              </a:defRPr>
            </a:pPr>
            <a:r>
              <a:t>프론트엔드 기술 스택</a:t>
            </a:r>
          </a:p>
        </p:txBody>
      </p:sp>
      <p:sp>
        <p:nvSpPr>
          <p:cNvPr id="9" name="Rounded Rectangle 8"/>
          <p:cNvSpPr/>
          <p:nvPr/>
        </p:nvSpPr>
        <p:spPr>
          <a:xfrm>
            <a:off x="457200" y="2359152"/>
            <a:ext cx="8229600" cy="658368"/>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0080" y="2496312"/>
            <a:ext cx="365760" cy="36576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T</a:t>
            </a:r>
          </a:p>
        </p:txBody>
      </p:sp>
      <p:sp>
        <p:nvSpPr>
          <p:cNvPr id="11" name="TextBox 10"/>
          <p:cNvSpPr txBox="1"/>
          <p:nvPr/>
        </p:nvSpPr>
        <p:spPr>
          <a:xfrm>
            <a:off x="1188720" y="2414016"/>
            <a:ext cx="2286000" cy="256032"/>
          </a:xfrm>
          <a:prstGeom prst="rect">
            <a:avLst/>
          </a:prstGeom>
          <a:noFill/>
        </p:spPr>
        <p:txBody>
          <a:bodyPr wrap="square">
            <a:spAutoFit/>
          </a:bodyPr>
          <a:lstStyle/>
          <a:p>
            <a:pPr algn="l">
              <a:defRPr sz="1200" b="1">
                <a:solidFill>
                  <a:srgbClr val="2563EB"/>
                </a:solidFill>
                <a:latin typeface="맑은 고딕"/>
              </a:defRPr>
            </a:pPr>
          </a:p>
        </p:txBody>
      </p:sp>
      <p:sp>
        <p:nvSpPr>
          <p:cNvPr id="12" name="TextBox 11"/>
          <p:cNvSpPr txBox="1"/>
          <p:nvPr/>
        </p:nvSpPr>
        <p:spPr>
          <a:xfrm>
            <a:off x="1188720" y="2679192"/>
            <a:ext cx="7132320" cy="274320"/>
          </a:xfrm>
          <a:prstGeom prst="rect">
            <a:avLst/>
          </a:prstGeom>
          <a:noFill/>
        </p:spPr>
        <p:txBody>
          <a:bodyPr wrap="square">
            <a:spAutoFit/>
          </a:bodyPr>
          <a:lstStyle/>
          <a:p>
            <a:pPr algn="l">
              <a:defRPr sz="1300" b="0">
                <a:solidFill>
                  <a:srgbClr val="334155"/>
                </a:solidFill>
                <a:latin typeface="맑은 고딕"/>
              </a:defRPr>
            </a:pPr>
            <a:r>
              <a:t>백엔드 기술 스택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7315200" cy="365760"/>
          </a:xfrm>
          <a:prstGeom prst="rect">
            <a:avLst/>
          </a:prstGeom>
          <a:noFill/>
        </p:spPr>
        <p:txBody>
          <a:bodyPr wrap="square">
            <a:spAutoFit/>
          </a:bodyPr>
          <a:lstStyle/>
          <a:p>
            <a:pPr algn="l">
              <a:defRPr sz="1200" b="1">
                <a:solidFill>
                  <a:srgbClr val="0891B2"/>
                </a:solidFill>
                <a:latin typeface="맑은 고딕"/>
              </a:defRPr>
            </a:pPr>
            <a:r>
              <a:t>SYSTEM ARCHITECTURE</a:t>
            </a:r>
          </a:p>
        </p:txBody>
      </p:sp>
      <p:sp>
        <p:nvSpPr>
          <p:cNvPr id="3" name="TextBox 2"/>
          <p:cNvSpPr txBox="1"/>
          <p:nvPr/>
        </p:nvSpPr>
        <p:spPr>
          <a:xfrm>
            <a:off x="731520" y="731520"/>
            <a:ext cx="7315200" cy="548640"/>
          </a:xfrm>
          <a:prstGeom prst="rect">
            <a:avLst/>
          </a:prstGeom>
          <a:noFill/>
        </p:spPr>
        <p:txBody>
          <a:bodyPr wrap="square">
            <a:spAutoFit/>
          </a:bodyPr>
          <a:lstStyle/>
          <a:p>
            <a:pPr algn="l">
              <a:defRPr sz="3000" b="1">
                <a:solidFill>
                  <a:srgbClr val="0F172A"/>
                </a:solidFill>
                <a:latin typeface="맑은 고딕"/>
              </a:defRPr>
            </a:pPr>
            <a:r>
              <a:t>시스템 아키텍처</a:t>
            </a:r>
          </a:p>
        </p:txBody>
      </p:sp>
      <p:sp>
        <p:nvSpPr>
          <p:cNvPr id="4" name="Rounded Rectangle 3"/>
          <p:cNvSpPr/>
          <p:nvPr/>
        </p:nvSpPr>
        <p:spPr>
          <a:xfrm>
            <a:off x="731520" y="1280160"/>
            <a:ext cx="1371600" cy="36576"/>
          </a:xfrm>
          <a:prstGeom prst="round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RCH-20260322-125740.png"/>
          <p:cNvPicPr>
            <a:picLocks noChangeAspect="1"/>
          </p:cNvPicPr>
          <p:nvPr/>
        </p:nvPicPr>
        <p:blipFill>
          <a:blip r:embed="rId2"/>
          <a:stretch>
            <a:fillRect/>
          </a:stretch>
        </p:blipFill>
        <p:spPr>
          <a:xfrm>
            <a:off x="548640" y="1805939"/>
            <a:ext cx="8046720" cy="452628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TextBox 1"/>
          <p:cNvSpPr txBox="1"/>
          <p:nvPr/>
        </p:nvSpPr>
        <p:spPr>
          <a:xfrm>
            <a:off x="731520" y="1828800"/>
            <a:ext cx="7315200" cy="822960"/>
          </a:xfrm>
          <a:prstGeom prst="rect">
            <a:avLst/>
          </a:prstGeom>
          <a:noFill/>
        </p:spPr>
        <p:txBody>
          <a:bodyPr wrap="square">
            <a:spAutoFit/>
          </a:bodyPr>
          <a:lstStyle/>
          <a:p>
            <a:pPr algn="l">
              <a:defRPr sz="6400" b="1">
                <a:solidFill>
                  <a:srgbClr val="3B82F6"/>
                </a:solidFill>
                <a:latin typeface="맑은 고딕"/>
              </a:defRPr>
            </a:pPr>
            <a:r>
              <a:t>04</a:t>
            </a:r>
          </a:p>
        </p:txBody>
      </p:sp>
      <p:sp>
        <p:nvSpPr>
          <p:cNvPr id="3" name="Rounded Rectangle 2"/>
          <p:cNvSpPr/>
          <p:nvPr/>
        </p:nvSpPr>
        <p:spPr>
          <a:xfrm>
            <a:off x="731520" y="2743200"/>
            <a:ext cx="1828800" cy="4572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017520"/>
            <a:ext cx="7315200" cy="822960"/>
          </a:xfrm>
          <a:prstGeom prst="rect">
            <a:avLst/>
          </a:prstGeom>
          <a:noFill/>
        </p:spPr>
        <p:txBody>
          <a:bodyPr wrap="square">
            <a:spAutoFit/>
          </a:bodyPr>
          <a:lstStyle/>
          <a:p>
            <a:pPr algn="l">
              <a:defRPr sz="3600" b="1">
                <a:solidFill>
                  <a:srgbClr val="FFFFFF"/>
                </a:solidFill>
                <a:latin typeface="맑은 고딕"/>
              </a:defRPr>
            </a:pPr>
            <a:r>
              <a:t>프로젝트 일정</a:t>
            </a:r>
          </a:p>
        </p:txBody>
      </p:sp>
      <p:sp>
        <p:nvSpPr>
          <p:cNvPr id="5" name="TextBox 4"/>
          <p:cNvSpPr txBox="1"/>
          <p:nvPr/>
        </p:nvSpPr>
        <p:spPr>
          <a:xfrm>
            <a:off x="731520" y="3840480"/>
            <a:ext cx="7315200" cy="457200"/>
          </a:xfrm>
          <a:prstGeom prst="rect">
            <a:avLst/>
          </a:prstGeom>
          <a:noFill/>
        </p:spPr>
        <p:txBody>
          <a:bodyPr wrap="square">
            <a:spAutoFit/>
          </a:bodyPr>
          <a:lstStyle/>
          <a:p>
            <a:pPr algn="l">
              <a:defRPr sz="1600" b="0">
                <a:solidFill>
                  <a:srgbClr val="94A3B8"/>
                </a:solidFill>
                <a:latin typeface="맑은 고딕"/>
              </a:defRPr>
            </a:pPr>
            <a:r>
              <a:t>Timeline &amp; Milestones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7315200" cy="365760"/>
          </a:xfrm>
          <a:prstGeom prst="rect">
            <a:avLst/>
          </a:prstGeom>
          <a:noFill/>
        </p:spPr>
        <p:txBody>
          <a:bodyPr wrap="square">
            <a:spAutoFit/>
          </a:bodyPr>
          <a:lstStyle/>
          <a:p>
            <a:pPr algn="l">
              <a:defRPr sz="1200" b="1">
                <a:solidFill>
                  <a:srgbClr val="2563EB"/>
                </a:solidFill>
                <a:latin typeface="맑은 고딕"/>
              </a:defRPr>
            </a:pPr>
            <a:r>
              <a:t>PROJECT TIMELINE</a:t>
            </a:r>
          </a:p>
        </p:txBody>
      </p:sp>
      <p:sp>
        <p:nvSpPr>
          <p:cNvPr id="3" name="TextBox 2"/>
          <p:cNvSpPr txBox="1"/>
          <p:nvPr/>
        </p:nvSpPr>
        <p:spPr>
          <a:xfrm>
            <a:off x="731520" y="731520"/>
            <a:ext cx="7315200" cy="548640"/>
          </a:xfrm>
          <a:prstGeom prst="rect">
            <a:avLst/>
          </a:prstGeom>
          <a:noFill/>
        </p:spPr>
        <p:txBody>
          <a:bodyPr wrap="square">
            <a:spAutoFit/>
          </a:bodyPr>
          <a:lstStyle/>
          <a:p>
            <a:pPr algn="l">
              <a:defRPr sz="3000" b="1">
                <a:solidFill>
                  <a:srgbClr val="0F172A"/>
                </a:solidFill>
                <a:latin typeface="맑은 고딕"/>
              </a:defRPr>
            </a:pPr>
            <a:r>
              <a:t>프로젝트 일정</a:t>
            </a:r>
          </a:p>
        </p:txBody>
      </p:sp>
      <p:sp>
        <p:nvSpPr>
          <p:cNvPr id="4" name="Rounded Rectangle 3"/>
          <p:cNvSpPr/>
          <p:nvPr/>
        </p:nvSpPr>
        <p:spPr>
          <a:xfrm>
            <a:off x="731520" y="1280160"/>
            <a:ext cx="1371600" cy="3657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0" y="731520"/>
            <a:ext cx="2011680" cy="411480"/>
          </a:xfrm>
          <a:prstGeom prst="roundRect">
            <a:avLst>
              <a:gd name="adj" fmla="val 6000"/>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29400" y="758952"/>
            <a:ext cx="1920240" cy="365760"/>
          </a:xfrm>
          <a:prstGeom prst="rect">
            <a:avLst/>
          </a:prstGeom>
          <a:noFill/>
        </p:spPr>
        <p:txBody>
          <a:bodyPr wrap="square">
            <a:spAutoFit/>
          </a:bodyPr>
          <a:lstStyle/>
          <a:p>
            <a:pPr algn="ctr">
              <a:defRPr sz="1400" b="1">
                <a:solidFill>
                  <a:srgbClr val="FFFFFF"/>
                </a:solidFill>
                <a:latin typeface="맑은 고딕"/>
              </a:defRPr>
            </a:pPr>
            <a:r>
              <a:t>6개월</a:t>
            </a:r>
          </a:p>
        </p:txBody>
      </p:sp>
      <p:sp>
        <p:nvSpPr>
          <p:cNvPr id="7" name="Oval 6"/>
          <p:cNvSpPr/>
          <p:nvPr/>
        </p:nvSpPr>
        <p:spPr>
          <a:xfrm>
            <a:off x="548640" y="1664208"/>
            <a:ext cx="347472" cy="347472"/>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1</a:t>
            </a:r>
          </a:p>
        </p:txBody>
      </p:sp>
      <p:sp>
        <p:nvSpPr>
          <p:cNvPr id="8" name="TextBox 7"/>
          <p:cNvSpPr txBox="1"/>
          <p:nvPr/>
        </p:nvSpPr>
        <p:spPr>
          <a:xfrm>
            <a:off x="1051560" y="1645920"/>
            <a:ext cx="4114800" cy="320040"/>
          </a:xfrm>
          <a:prstGeom prst="rect">
            <a:avLst/>
          </a:prstGeom>
          <a:noFill/>
        </p:spPr>
        <p:txBody>
          <a:bodyPr wrap="square">
            <a:spAutoFit/>
          </a:bodyPr>
          <a:lstStyle/>
          <a:p>
            <a:pPr algn="l">
              <a:defRPr sz="1500" b="1">
                <a:solidFill>
                  <a:srgbClr val="0F172A"/>
                </a:solidFill>
                <a:latin typeface="맑은 고딕"/>
              </a:defRPr>
            </a:pPr>
            <a:r>
              <a:t>백엔드 API 개발</a:t>
            </a:r>
          </a:p>
        </p:txBody>
      </p:sp>
      <p:sp>
        <p:nvSpPr>
          <p:cNvPr id="9" name="TextBox 8"/>
          <p:cNvSpPr txBox="1"/>
          <p:nvPr/>
        </p:nvSpPr>
        <p:spPr>
          <a:xfrm>
            <a:off x="5943600" y="1645920"/>
            <a:ext cx="2743200" cy="320040"/>
          </a:xfrm>
          <a:prstGeom prst="rect">
            <a:avLst/>
          </a:prstGeom>
          <a:noFill/>
        </p:spPr>
        <p:txBody>
          <a:bodyPr wrap="square">
            <a:spAutoFit/>
          </a:bodyPr>
          <a:lstStyle/>
          <a:p>
            <a:pPr algn="r">
              <a:defRPr sz="1300" b="0">
                <a:solidFill>
                  <a:srgbClr val="64748B"/>
                </a:solidFill>
                <a:latin typeface="맑은 고딕"/>
              </a:defRPr>
            </a:pPr>
            <a:r>
              <a:t>3주</a:t>
            </a:r>
          </a:p>
        </p:txBody>
      </p:sp>
      <p:sp>
        <p:nvSpPr>
          <p:cNvPr id="10" name="Rounded Rectangle 9"/>
          <p:cNvSpPr/>
          <p:nvPr/>
        </p:nvSpPr>
        <p:spPr>
          <a:xfrm>
            <a:off x="1051560" y="2011680"/>
            <a:ext cx="6400800" cy="13716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51560" y="2011680"/>
            <a:ext cx="2133599" cy="1371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194560"/>
            <a:ext cx="6400800" cy="228600"/>
          </a:xfrm>
          <a:prstGeom prst="rect">
            <a:avLst/>
          </a:prstGeom>
          <a:noFill/>
        </p:spPr>
        <p:txBody>
          <a:bodyPr wrap="square">
            <a:spAutoFit/>
          </a:bodyPr>
          <a:lstStyle/>
          <a:p>
            <a:pPr algn="l">
              <a:defRPr sz="1000" b="0">
                <a:solidFill>
                  <a:srgbClr val="94A3B8"/>
                </a:solidFill>
                <a:latin typeface="맑은 고딕"/>
              </a:defRPr>
            </a:pPr>
            <a:r>
              <a:t>시스템 리소스 수집 API 구현 및 테스트</a:t>
            </a:r>
          </a:p>
        </p:txBody>
      </p:sp>
      <p:sp>
        <p:nvSpPr>
          <p:cNvPr id="13" name="Oval 12"/>
          <p:cNvSpPr/>
          <p:nvPr/>
        </p:nvSpPr>
        <p:spPr>
          <a:xfrm>
            <a:off x="548640" y="2532888"/>
            <a:ext cx="347472" cy="34747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2</a:t>
            </a:r>
          </a:p>
        </p:txBody>
      </p:sp>
      <p:sp>
        <p:nvSpPr>
          <p:cNvPr id="14" name="TextBox 13"/>
          <p:cNvSpPr txBox="1"/>
          <p:nvPr/>
        </p:nvSpPr>
        <p:spPr>
          <a:xfrm>
            <a:off x="1051560" y="2514600"/>
            <a:ext cx="4114800" cy="320040"/>
          </a:xfrm>
          <a:prstGeom prst="rect">
            <a:avLst/>
          </a:prstGeom>
          <a:noFill/>
        </p:spPr>
        <p:txBody>
          <a:bodyPr wrap="square">
            <a:spAutoFit/>
          </a:bodyPr>
          <a:lstStyle/>
          <a:p>
            <a:pPr algn="l">
              <a:defRPr sz="1500" b="1">
                <a:solidFill>
                  <a:srgbClr val="0F172A"/>
                </a:solidFill>
                <a:latin typeface="맑은 고딕"/>
              </a:defRPr>
            </a:pPr>
            <a:r>
              <a:t>프론트엔드 대시보드 개발</a:t>
            </a:r>
          </a:p>
        </p:txBody>
      </p:sp>
      <p:sp>
        <p:nvSpPr>
          <p:cNvPr id="15" name="TextBox 14"/>
          <p:cNvSpPr txBox="1"/>
          <p:nvPr/>
        </p:nvSpPr>
        <p:spPr>
          <a:xfrm>
            <a:off x="5943600" y="2514600"/>
            <a:ext cx="2743200" cy="320040"/>
          </a:xfrm>
          <a:prstGeom prst="rect">
            <a:avLst/>
          </a:prstGeom>
          <a:noFill/>
        </p:spPr>
        <p:txBody>
          <a:bodyPr wrap="square">
            <a:spAutoFit/>
          </a:bodyPr>
          <a:lstStyle/>
          <a:p>
            <a:pPr algn="r">
              <a:defRPr sz="1300" b="0">
                <a:solidFill>
                  <a:srgbClr val="64748B"/>
                </a:solidFill>
                <a:latin typeface="맑은 고딕"/>
              </a:defRPr>
            </a:pPr>
            <a:r>
              <a:t>4주</a:t>
            </a:r>
          </a:p>
        </p:txBody>
      </p:sp>
      <p:sp>
        <p:nvSpPr>
          <p:cNvPr id="16" name="Rounded Rectangle 15"/>
          <p:cNvSpPr/>
          <p:nvPr/>
        </p:nvSpPr>
        <p:spPr>
          <a:xfrm>
            <a:off x="1051560" y="2880360"/>
            <a:ext cx="6400800" cy="13716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51560" y="2880360"/>
            <a:ext cx="4267199" cy="13716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3063240"/>
            <a:ext cx="6400800" cy="228600"/>
          </a:xfrm>
          <a:prstGeom prst="rect">
            <a:avLst/>
          </a:prstGeom>
          <a:noFill/>
        </p:spPr>
        <p:txBody>
          <a:bodyPr wrap="square">
            <a:spAutoFit/>
          </a:bodyPr>
          <a:lstStyle/>
          <a:p>
            <a:pPr algn="l">
              <a:defRPr sz="1000" b="0">
                <a:solidFill>
                  <a:srgbClr val="94A3B8"/>
                </a:solidFill>
                <a:latin typeface="맑은 고딕"/>
              </a:defRPr>
            </a:pPr>
            <a:r>
              <a:t>React 기반 대시보드 UI 및 차트 구현</a:t>
            </a:r>
          </a:p>
        </p:txBody>
      </p:sp>
      <p:sp>
        <p:nvSpPr>
          <p:cNvPr id="19" name="Oval 18"/>
          <p:cNvSpPr/>
          <p:nvPr/>
        </p:nvSpPr>
        <p:spPr>
          <a:xfrm>
            <a:off x="548640" y="3401568"/>
            <a:ext cx="347472" cy="347472"/>
          </a:xfrm>
          <a:prstGeom prst="ellipse">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3</a:t>
            </a:r>
          </a:p>
        </p:txBody>
      </p:sp>
      <p:sp>
        <p:nvSpPr>
          <p:cNvPr id="20" name="TextBox 19"/>
          <p:cNvSpPr txBox="1"/>
          <p:nvPr/>
        </p:nvSpPr>
        <p:spPr>
          <a:xfrm>
            <a:off x="1051560" y="3383280"/>
            <a:ext cx="4114800" cy="320040"/>
          </a:xfrm>
          <a:prstGeom prst="rect">
            <a:avLst/>
          </a:prstGeom>
          <a:noFill/>
        </p:spPr>
        <p:txBody>
          <a:bodyPr wrap="square">
            <a:spAutoFit/>
          </a:bodyPr>
          <a:lstStyle/>
          <a:p>
            <a:pPr algn="l">
              <a:defRPr sz="1500" b="1">
                <a:solidFill>
                  <a:srgbClr val="0F172A"/>
                </a:solidFill>
                <a:latin typeface="맑은 고딕"/>
              </a:defRPr>
            </a:pPr>
            <a:r>
              <a:t>통합 테스트 및 최적화</a:t>
            </a:r>
          </a:p>
        </p:txBody>
      </p:sp>
      <p:sp>
        <p:nvSpPr>
          <p:cNvPr id="21" name="TextBox 20"/>
          <p:cNvSpPr txBox="1"/>
          <p:nvPr/>
        </p:nvSpPr>
        <p:spPr>
          <a:xfrm>
            <a:off x="5943600" y="3383280"/>
            <a:ext cx="2743200" cy="320040"/>
          </a:xfrm>
          <a:prstGeom prst="rect">
            <a:avLst/>
          </a:prstGeom>
          <a:noFill/>
        </p:spPr>
        <p:txBody>
          <a:bodyPr wrap="square">
            <a:spAutoFit/>
          </a:bodyPr>
          <a:lstStyle/>
          <a:p>
            <a:pPr algn="r">
              <a:defRPr sz="1300" b="0">
                <a:solidFill>
                  <a:srgbClr val="64748B"/>
                </a:solidFill>
                <a:latin typeface="맑은 고딕"/>
              </a:defRPr>
            </a:pPr>
            <a:r>
              <a:t>3주</a:t>
            </a:r>
          </a:p>
        </p:txBody>
      </p:sp>
      <p:sp>
        <p:nvSpPr>
          <p:cNvPr id="22" name="Rounded Rectangle 21"/>
          <p:cNvSpPr/>
          <p:nvPr/>
        </p:nvSpPr>
        <p:spPr>
          <a:xfrm>
            <a:off x="1051560" y="3749040"/>
            <a:ext cx="6400800" cy="13716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51560" y="3749040"/>
            <a:ext cx="6400800" cy="137160"/>
          </a:xfrm>
          <a:prstGeom prst="round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3931920"/>
            <a:ext cx="6400800" cy="228600"/>
          </a:xfrm>
          <a:prstGeom prst="rect">
            <a:avLst/>
          </a:prstGeom>
          <a:noFill/>
        </p:spPr>
        <p:txBody>
          <a:bodyPr wrap="square">
            <a:spAutoFit/>
          </a:bodyPr>
          <a:lstStyle/>
          <a:p>
            <a:pPr algn="l">
              <a:defRPr sz="1000" b="0">
                <a:solidFill>
                  <a:srgbClr val="94A3B8"/>
                </a:solidFill>
                <a:latin typeface="맑은 고딕"/>
              </a:defRPr>
            </a:pPr>
            <a:r>
              <a:t>프론트엔드-백엔드 통합 및 성능 최적화</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7315200" cy="365760"/>
          </a:xfrm>
          <a:prstGeom prst="rect">
            <a:avLst/>
          </a:prstGeom>
          <a:noFill/>
        </p:spPr>
        <p:txBody>
          <a:bodyPr wrap="square">
            <a:spAutoFit/>
          </a:bodyPr>
          <a:lstStyle/>
          <a:p>
            <a:pPr algn="l">
              <a:defRPr sz="1200" b="1">
                <a:solidFill>
                  <a:srgbClr val="7C3AED"/>
                </a:solidFill>
                <a:latin typeface="맑은 고딕"/>
              </a:defRPr>
            </a:pPr>
            <a:r>
              <a:t>PROJECT TEAM</a:t>
            </a:r>
          </a:p>
        </p:txBody>
      </p:sp>
      <p:sp>
        <p:nvSpPr>
          <p:cNvPr id="3" name="TextBox 2"/>
          <p:cNvSpPr txBox="1"/>
          <p:nvPr/>
        </p:nvSpPr>
        <p:spPr>
          <a:xfrm>
            <a:off x="731520" y="731520"/>
            <a:ext cx="7315200" cy="548640"/>
          </a:xfrm>
          <a:prstGeom prst="rect">
            <a:avLst/>
          </a:prstGeom>
          <a:noFill/>
        </p:spPr>
        <p:txBody>
          <a:bodyPr wrap="square">
            <a:spAutoFit/>
          </a:bodyPr>
          <a:lstStyle/>
          <a:p>
            <a:pPr algn="l">
              <a:defRPr sz="3000" b="1">
                <a:solidFill>
                  <a:srgbClr val="0F172A"/>
                </a:solidFill>
                <a:latin typeface="맑은 고딕"/>
              </a:defRPr>
            </a:pPr>
            <a:r>
              <a:t>투입 인력</a:t>
            </a:r>
          </a:p>
        </p:txBody>
      </p:sp>
      <p:sp>
        <p:nvSpPr>
          <p:cNvPr id="4" name="Rounded Rectangle 3"/>
          <p:cNvSpPr/>
          <p:nvPr/>
        </p:nvSpPr>
        <p:spPr>
          <a:xfrm>
            <a:off x="731520" y="1280160"/>
            <a:ext cx="1371600" cy="36576"/>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45920"/>
            <a:ext cx="2499360" cy="1988819"/>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569720" y="1755648"/>
            <a:ext cx="457200" cy="4572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PM</a:t>
            </a:r>
          </a:p>
        </p:txBody>
      </p:sp>
      <p:sp>
        <p:nvSpPr>
          <p:cNvPr id="7" name="TextBox 6"/>
          <p:cNvSpPr txBox="1"/>
          <p:nvPr/>
        </p:nvSpPr>
        <p:spPr>
          <a:xfrm>
            <a:off x="594360" y="2304288"/>
            <a:ext cx="2407920" cy="274320"/>
          </a:xfrm>
          <a:prstGeom prst="rect">
            <a:avLst/>
          </a:prstGeom>
          <a:noFill/>
        </p:spPr>
        <p:txBody>
          <a:bodyPr wrap="square">
            <a:spAutoFit/>
          </a:bodyPr>
          <a:lstStyle/>
          <a:p>
            <a:pPr algn="ctr">
              <a:defRPr sz="1400" b="1">
                <a:solidFill>
                  <a:srgbClr val="0F172A"/>
                </a:solidFill>
                <a:latin typeface="맑은 고딕"/>
              </a:defRPr>
            </a:pPr>
            <a:r>
              <a:t>PM</a:t>
            </a:r>
          </a:p>
        </p:txBody>
      </p:sp>
      <p:sp>
        <p:nvSpPr>
          <p:cNvPr id="8" name="TextBox 7"/>
          <p:cNvSpPr txBox="1"/>
          <p:nvPr/>
        </p:nvSpPr>
        <p:spPr>
          <a:xfrm>
            <a:off x="594360" y="2578608"/>
            <a:ext cx="2407920" cy="274320"/>
          </a:xfrm>
          <a:prstGeom prst="rect">
            <a:avLst/>
          </a:prstGeom>
          <a:noFill/>
        </p:spPr>
        <p:txBody>
          <a:bodyPr wrap="square">
            <a:spAutoFit/>
          </a:bodyPr>
          <a:lstStyle/>
          <a:p>
            <a:pPr algn="ctr">
              <a:defRPr sz="1800" b="1">
                <a:solidFill>
                  <a:srgbClr val="2563EB"/>
                </a:solidFill>
                <a:latin typeface="맑은 고딕"/>
              </a:defRPr>
            </a:pPr>
            <a:r>
              <a:t>1명</a:t>
            </a:r>
          </a:p>
        </p:txBody>
      </p:sp>
      <p:sp>
        <p:nvSpPr>
          <p:cNvPr id="9" name="TextBox 8"/>
          <p:cNvSpPr txBox="1"/>
          <p:nvPr/>
        </p:nvSpPr>
        <p:spPr>
          <a:xfrm>
            <a:off x="594360" y="2880360"/>
            <a:ext cx="2407920" cy="457200"/>
          </a:xfrm>
          <a:prstGeom prst="rect">
            <a:avLst/>
          </a:prstGeom>
          <a:noFill/>
        </p:spPr>
        <p:txBody>
          <a:bodyPr wrap="square">
            <a:spAutoFit/>
          </a:bodyPr>
          <a:lstStyle/>
          <a:p>
            <a:pPr algn="ctr">
              <a:defRPr sz="900" b="0">
                <a:solidFill>
                  <a:srgbClr val="64748B"/>
                </a:solidFill>
                <a:latin typeface="맑은 고딕"/>
              </a:defRPr>
            </a:pPr>
            <a:r>
              <a:t>프로젝트 관리, 일정 관리</a:t>
            </a:r>
          </a:p>
        </p:txBody>
      </p:sp>
      <p:sp>
        <p:nvSpPr>
          <p:cNvPr id="10" name="Rounded Rectangle 9"/>
          <p:cNvSpPr/>
          <p:nvPr/>
        </p:nvSpPr>
        <p:spPr>
          <a:xfrm>
            <a:off x="3322320" y="1645920"/>
            <a:ext cx="2499360" cy="1988819"/>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343400" y="1755648"/>
            <a:ext cx="457200" cy="45720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BE</a:t>
            </a:r>
          </a:p>
        </p:txBody>
      </p:sp>
      <p:sp>
        <p:nvSpPr>
          <p:cNvPr id="12" name="TextBox 11"/>
          <p:cNvSpPr txBox="1"/>
          <p:nvPr/>
        </p:nvSpPr>
        <p:spPr>
          <a:xfrm>
            <a:off x="3368040" y="2304288"/>
            <a:ext cx="2407920" cy="274320"/>
          </a:xfrm>
          <a:prstGeom prst="rect">
            <a:avLst/>
          </a:prstGeom>
          <a:noFill/>
        </p:spPr>
        <p:txBody>
          <a:bodyPr wrap="square">
            <a:spAutoFit/>
          </a:bodyPr>
          <a:lstStyle/>
          <a:p>
            <a:pPr algn="ctr">
              <a:defRPr sz="1400" b="1">
                <a:solidFill>
                  <a:srgbClr val="0F172A"/>
                </a:solidFill>
                <a:latin typeface="맑은 고딕"/>
              </a:defRPr>
            </a:pPr>
            <a:r>
              <a:t>기획자</a:t>
            </a:r>
          </a:p>
        </p:txBody>
      </p:sp>
      <p:sp>
        <p:nvSpPr>
          <p:cNvPr id="13" name="TextBox 12"/>
          <p:cNvSpPr txBox="1"/>
          <p:nvPr/>
        </p:nvSpPr>
        <p:spPr>
          <a:xfrm>
            <a:off x="3368040" y="2578608"/>
            <a:ext cx="2407920" cy="274320"/>
          </a:xfrm>
          <a:prstGeom prst="rect">
            <a:avLst/>
          </a:prstGeom>
          <a:noFill/>
        </p:spPr>
        <p:txBody>
          <a:bodyPr wrap="square">
            <a:spAutoFit/>
          </a:bodyPr>
          <a:lstStyle/>
          <a:p>
            <a:pPr algn="ctr">
              <a:defRPr sz="1800" b="1">
                <a:solidFill>
                  <a:srgbClr val="2563EB"/>
                </a:solidFill>
                <a:latin typeface="맑은 고딕"/>
              </a:defRPr>
            </a:pPr>
            <a:r>
              <a:t>1명</a:t>
            </a:r>
          </a:p>
        </p:txBody>
      </p:sp>
      <p:sp>
        <p:nvSpPr>
          <p:cNvPr id="14" name="TextBox 13"/>
          <p:cNvSpPr txBox="1"/>
          <p:nvPr/>
        </p:nvSpPr>
        <p:spPr>
          <a:xfrm>
            <a:off x="3368040" y="2880360"/>
            <a:ext cx="2407920" cy="457200"/>
          </a:xfrm>
          <a:prstGeom prst="rect">
            <a:avLst/>
          </a:prstGeom>
          <a:noFill/>
        </p:spPr>
        <p:txBody>
          <a:bodyPr wrap="square">
            <a:spAutoFit/>
          </a:bodyPr>
          <a:lstStyle/>
          <a:p>
            <a:pPr algn="ctr">
              <a:defRPr sz="900" b="0">
                <a:solidFill>
                  <a:srgbClr val="64748B"/>
                </a:solidFill>
                <a:latin typeface="맑은 고딕"/>
              </a:defRPr>
            </a:pPr>
            <a:r>
              <a:t>요구사항 분석, 기능 정의</a:t>
            </a:r>
          </a:p>
        </p:txBody>
      </p:sp>
      <p:sp>
        <p:nvSpPr>
          <p:cNvPr id="15" name="Rounded Rectangle 14"/>
          <p:cNvSpPr/>
          <p:nvPr/>
        </p:nvSpPr>
        <p:spPr>
          <a:xfrm>
            <a:off x="6096000" y="1645920"/>
            <a:ext cx="2499360" cy="1988819"/>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17080" y="1755648"/>
            <a:ext cx="457200" cy="457200"/>
          </a:xfrm>
          <a:prstGeom prst="ellipse">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FE</a:t>
            </a:r>
          </a:p>
        </p:txBody>
      </p:sp>
      <p:sp>
        <p:nvSpPr>
          <p:cNvPr id="17" name="TextBox 16"/>
          <p:cNvSpPr txBox="1"/>
          <p:nvPr/>
        </p:nvSpPr>
        <p:spPr>
          <a:xfrm>
            <a:off x="6141720" y="2304288"/>
            <a:ext cx="2407920" cy="274320"/>
          </a:xfrm>
          <a:prstGeom prst="rect">
            <a:avLst/>
          </a:prstGeom>
          <a:noFill/>
        </p:spPr>
        <p:txBody>
          <a:bodyPr wrap="square">
            <a:spAutoFit/>
          </a:bodyPr>
          <a:lstStyle/>
          <a:p>
            <a:pPr algn="ctr">
              <a:defRPr sz="1400" b="1">
                <a:solidFill>
                  <a:srgbClr val="0F172A"/>
                </a:solidFill>
                <a:latin typeface="맑은 고딕"/>
              </a:defRPr>
            </a:pPr>
            <a:r>
              <a:t>UI/UX 디자이너</a:t>
            </a:r>
          </a:p>
        </p:txBody>
      </p:sp>
      <p:sp>
        <p:nvSpPr>
          <p:cNvPr id="18" name="TextBox 17"/>
          <p:cNvSpPr txBox="1"/>
          <p:nvPr/>
        </p:nvSpPr>
        <p:spPr>
          <a:xfrm>
            <a:off x="6141720" y="2578608"/>
            <a:ext cx="2407920" cy="274320"/>
          </a:xfrm>
          <a:prstGeom prst="rect">
            <a:avLst/>
          </a:prstGeom>
          <a:noFill/>
        </p:spPr>
        <p:txBody>
          <a:bodyPr wrap="square">
            <a:spAutoFit/>
          </a:bodyPr>
          <a:lstStyle/>
          <a:p>
            <a:pPr algn="ctr">
              <a:defRPr sz="1800" b="1">
                <a:solidFill>
                  <a:srgbClr val="2563EB"/>
                </a:solidFill>
                <a:latin typeface="맑은 고딕"/>
              </a:defRPr>
            </a:pPr>
            <a:r>
              <a:t>1명</a:t>
            </a:r>
          </a:p>
        </p:txBody>
      </p:sp>
      <p:sp>
        <p:nvSpPr>
          <p:cNvPr id="19" name="TextBox 18"/>
          <p:cNvSpPr txBox="1"/>
          <p:nvPr/>
        </p:nvSpPr>
        <p:spPr>
          <a:xfrm>
            <a:off x="6141720" y="2880360"/>
            <a:ext cx="2407920" cy="457200"/>
          </a:xfrm>
          <a:prstGeom prst="rect">
            <a:avLst/>
          </a:prstGeom>
          <a:noFill/>
        </p:spPr>
        <p:txBody>
          <a:bodyPr wrap="square">
            <a:spAutoFit/>
          </a:bodyPr>
          <a:lstStyle/>
          <a:p>
            <a:pPr algn="ctr">
              <a:defRPr sz="900" b="0">
                <a:solidFill>
                  <a:srgbClr val="64748B"/>
                </a:solidFill>
                <a:latin typeface="맑은 고딕"/>
              </a:defRPr>
            </a:pPr>
            <a:r>
              <a:t>화면 설계, 프로토타입 제작</a:t>
            </a:r>
          </a:p>
        </p:txBody>
      </p:sp>
      <p:sp>
        <p:nvSpPr>
          <p:cNvPr id="20" name="Rounded Rectangle 19"/>
          <p:cNvSpPr/>
          <p:nvPr/>
        </p:nvSpPr>
        <p:spPr>
          <a:xfrm>
            <a:off x="548640" y="3863339"/>
            <a:ext cx="2499360" cy="1988819"/>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569720" y="3973068"/>
            <a:ext cx="457200" cy="45720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UX</a:t>
            </a:r>
          </a:p>
        </p:txBody>
      </p:sp>
      <p:sp>
        <p:nvSpPr>
          <p:cNvPr id="22" name="TextBox 21"/>
          <p:cNvSpPr txBox="1"/>
          <p:nvPr/>
        </p:nvSpPr>
        <p:spPr>
          <a:xfrm>
            <a:off x="594360" y="4521707"/>
            <a:ext cx="2407920" cy="274320"/>
          </a:xfrm>
          <a:prstGeom prst="rect">
            <a:avLst/>
          </a:prstGeom>
          <a:noFill/>
        </p:spPr>
        <p:txBody>
          <a:bodyPr wrap="square">
            <a:spAutoFit/>
          </a:bodyPr>
          <a:lstStyle/>
          <a:p>
            <a:pPr algn="ctr">
              <a:defRPr sz="1400" b="1">
                <a:solidFill>
                  <a:srgbClr val="0F172A"/>
                </a:solidFill>
                <a:latin typeface="맑은 고딕"/>
              </a:defRPr>
            </a:pPr>
            <a:r>
              <a:t>프론트엔드 개발자</a:t>
            </a:r>
          </a:p>
        </p:txBody>
      </p:sp>
      <p:sp>
        <p:nvSpPr>
          <p:cNvPr id="23" name="TextBox 22"/>
          <p:cNvSpPr txBox="1"/>
          <p:nvPr/>
        </p:nvSpPr>
        <p:spPr>
          <a:xfrm>
            <a:off x="594360" y="4796027"/>
            <a:ext cx="2407920" cy="274320"/>
          </a:xfrm>
          <a:prstGeom prst="rect">
            <a:avLst/>
          </a:prstGeom>
          <a:noFill/>
        </p:spPr>
        <p:txBody>
          <a:bodyPr wrap="square">
            <a:spAutoFit/>
          </a:bodyPr>
          <a:lstStyle/>
          <a:p>
            <a:pPr algn="ctr">
              <a:defRPr sz="1800" b="1">
                <a:solidFill>
                  <a:srgbClr val="2563EB"/>
                </a:solidFill>
                <a:latin typeface="맑은 고딕"/>
              </a:defRPr>
            </a:pPr>
            <a:r>
              <a:t>2명</a:t>
            </a:r>
          </a:p>
        </p:txBody>
      </p:sp>
      <p:sp>
        <p:nvSpPr>
          <p:cNvPr id="24" name="TextBox 23"/>
          <p:cNvSpPr txBox="1"/>
          <p:nvPr/>
        </p:nvSpPr>
        <p:spPr>
          <a:xfrm>
            <a:off x="594360" y="5097779"/>
            <a:ext cx="2407920" cy="457200"/>
          </a:xfrm>
          <a:prstGeom prst="rect">
            <a:avLst/>
          </a:prstGeom>
          <a:noFill/>
        </p:spPr>
        <p:txBody>
          <a:bodyPr wrap="square">
            <a:spAutoFit/>
          </a:bodyPr>
          <a:lstStyle/>
          <a:p>
            <a:pPr algn="ctr">
              <a:defRPr sz="900" b="0">
                <a:solidFill>
                  <a:srgbClr val="64748B"/>
                </a:solidFill>
                <a:latin typeface="맑은 고딕"/>
              </a:defRPr>
            </a:pPr>
            <a:r>
              <a:t>웹/앱 UI 개발</a:t>
            </a:r>
          </a:p>
        </p:txBody>
      </p:sp>
      <p:sp>
        <p:nvSpPr>
          <p:cNvPr id="25" name="Rounded Rectangle 24"/>
          <p:cNvSpPr/>
          <p:nvPr/>
        </p:nvSpPr>
        <p:spPr>
          <a:xfrm>
            <a:off x="3322320" y="3863339"/>
            <a:ext cx="2499360" cy="1988819"/>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343400" y="3973068"/>
            <a:ext cx="457200" cy="457200"/>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QA</a:t>
            </a:r>
          </a:p>
        </p:txBody>
      </p:sp>
      <p:sp>
        <p:nvSpPr>
          <p:cNvPr id="27" name="TextBox 26"/>
          <p:cNvSpPr txBox="1"/>
          <p:nvPr/>
        </p:nvSpPr>
        <p:spPr>
          <a:xfrm>
            <a:off x="3368040" y="4521707"/>
            <a:ext cx="2407920" cy="274320"/>
          </a:xfrm>
          <a:prstGeom prst="rect">
            <a:avLst/>
          </a:prstGeom>
          <a:noFill/>
        </p:spPr>
        <p:txBody>
          <a:bodyPr wrap="square">
            <a:spAutoFit/>
          </a:bodyPr>
          <a:lstStyle/>
          <a:p>
            <a:pPr algn="ctr">
              <a:defRPr sz="1400" b="1">
                <a:solidFill>
                  <a:srgbClr val="0F172A"/>
                </a:solidFill>
                <a:latin typeface="맑은 고딕"/>
              </a:defRPr>
            </a:pPr>
            <a:r>
              <a:t>백엔드 개발자</a:t>
            </a:r>
          </a:p>
        </p:txBody>
      </p:sp>
      <p:sp>
        <p:nvSpPr>
          <p:cNvPr id="28" name="TextBox 27"/>
          <p:cNvSpPr txBox="1"/>
          <p:nvPr/>
        </p:nvSpPr>
        <p:spPr>
          <a:xfrm>
            <a:off x="3368040" y="4796027"/>
            <a:ext cx="2407920" cy="274320"/>
          </a:xfrm>
          <a:prstGeom prst="rect">
            <a:avLst/>
          </a:prstGeom>
          <a:noFill/>
        </p:spPr>
        <p:txBody>
          <a:bodyPr wrap="square">
            <a:spAutoFit/>
          </a:bodyPr>
          <a:lstStyle/>
          <a:p>
            <a:pPr algn="ctr">
              <a:defRPr sz="1800" b="1">
                <a:solidFill>
                  <a:srgbClr val="2563EB"/>
                </a:solidFill>
                <a:latin typeface="맑은 고딕"/>
              </a:defRPr>
            </a:pPr>
            <a:r>
              <a:t>2명</a:t>
            </a:r>
          </a:p>
        </p:txBody>
      </p:sp>
      <p:sp>
        <p:nvSpPr>
          <p:cNvPr id="29" name="TextBox 28"/>
          <p:cNvSpPr txBox="1"/>
          <p:nvPr/>
        </p:nvSpPr>
        <p:spPr>
          <a:xfrm>
            <a:off x="3368040" y="5097779"/>
            <a:ext cx="2407920" cy="457200"/>
          </a:xfrm>
          <a:prstGeom prst="rect">
            <a:avLst/>
          </a:prstGeom>
          <a:noFill/>
        </p:spPr>
        <p:txBody>
          <a:bodyPr wrap="square">
            <a:spAutoFit/>
          </a:bodyPr>
          <a:lstStyle/>
          <a:p>
            <a:pPr algn="ctr">
              <a:defRPr sz="900" b="0">
                <a:solidFill>
                  <a:srgbClr val="64748B"/>
                </a:solidFill>
                <a:latin typeface="맑은 고딕"/>
              </a:defRPr>
            </a:pPr>
            <a:r>
              <a:t>서버 개발, API 개발</a:t>
            </a:r>
          </a:p>
        </p:txBody>
      </p:sp>
      <p:sp>
        <p:nvSpPr>
          <p:cNvPr id="30" name="Rounded Rectangle 29"/>
          <p:cNvSpPr/>
          <p:nvPr/>
        </p:nvSpPr>
        <p:spPr>
          <a:xfrm>
            <a:off x="6096000" y="3863339"/>
            <a:ext cx="2499360" cy="1988819"/>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117080" y="3973068"/>
            <a:ext cx="457200" cy="457200"/>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DV</a:t>
            </a:r>
          </a:p>
        </p:txBody>
      </p:sp>
      <p:sp>
        <p:nvSpPr>
          <p:cNvPr id="32" name="TextBox 31"/>
          <p:cNvSpPr txBox="1"/>
          <p:nvPr/>
        </p:nvSpPr>
        <p:spPr>
          <a:xfrm>
            <a:off x="6141720" y="4521707"/>
            <a:ext cx="2407920" cy="274320"/>
          </a:xfrm>
          <a:prstGeom prst="rect">
            <a:avLst/>
          </a:prstGeom>
          <a:noFill/>
        </p:spPr>
        <p:txBody>
          <a:bodyPr wrap="square">
            <a:spAutoFit/>
          </a:bodyPr>
          <a:lstStyle/>
          <a:p>
            <a:pPr algn="ctr">
              <a:defRPr sz="1400" b="1">
                <a:solidFill>
                  <a:srgbClr val="0F172A"/>
                </a:solidFill>
                <a:latin typeface="맑은 고딕"/>
              </a:defRPr>
            </a:pPr>
            <a:r>
              <a:t>QA</a:t>
            </a:r>
          </a:p>
        </p:txBody>
      </p:sp>
      <p:sp>
        <p:nvSpPr>
          <p:cNvPr id="33" name="TextBox 32"/>
          <p:cNvSpPr txBox="1"/>
          <p:nvPr/>
        </p:nvSpPr>
        <p:spPr>
          <a:xfrm>
            <a:off x="6141720" y="4796027"/>
            <a:ext cx="2407920" cy="274320"/>
          </a:xfrm>
          <a:prstGeom prst="rect">
            <a:avLst/>
          </a:prstGeom>
          <a:noFill/>
        </p:spPr>
        <p:txBody>
          <a:bodyPr wrap="square">
            <a:spAutoFit/>
          </a:bodyPr>
          <a:lstStyle/>
          <a:p>
            <a:pPr algn="ctr">
              <a:defRPr sz="1800" b="1">
                <a:solidFill>
                  <a:srgbClr val="2563EB"/>
                </a:solidFill>
                <a:latin typeface="맑은 고딕"/>
              </a:defRPr>
            </a:pPr>
            <a:r>
              <a:t>1명</a:t>
            </a:r>
          </a:p>
        </p:txBody>
      </p:sp>
      <p:sp>
        <p:nvSpPr>
          <p:cNvPr id="34" name="TextBox 33"/>
          <p:cNvSpPr txBox="1"/>
          <p:nvPr/>
        </p:nvSpPr>
        <p:spPr>
          <a:xfrm>
            <a:off x="6141720" y="5097779"/>
            <a:ext cx="2407920" cy="457200"/>
          </a:xfrm>
          <a:prstGeom prst="rect">
            <a:avLst/>
          </a:prstGeom>
          <a:noFill/>
        </p:spPr>
        <p:txBody>
          <a:bodyPr wrap="square">
            <a:spAutoFit/>
          </a:bodyPr>
          <a:lstStyle/>
          <a:p>
            <a:pPr algn="ctr">
              <a:defRPr sz="900" b="0">
                <a:solidFill>
                  <a:srgbClr val="64748B"/>
                </a:solidFill>
                <a:latin typeface="맑은 고딕"/>
              </a:defRPr>
            </a:pPr>
            <a:r>
              <a:t>테스트 수행, 품질 관리</a:t>
            </a:r>
          </a:p>
        </p:txBody>
      </p:sp>
      <p:sp>
        <p:nvSpPr>
          <p:cNvPr id="35" name="Rounded Rectangle 34"/>
          <p:cNvSpPr/>
          <p:nvPr/>
        </p:nvSpPr>
        <p:spPr>
          <a:xfrm>
            <a:off x="2286000" y="6035040"/>
            <a:ext cx="4572000" cy="457200"/>
          </a:xfrm>
          <a:prstGeom prst="roundRect">
            <a:avLst>
              <a:gd name="adj" fmla="val 6000"/>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331720" y="6080759"/>
            <a:ext cx="4480560" cy="365760"/>
          </a:xfrm>
          <a:prstGeom prst="rect">
            <a:avLst/>
          </a:prstGeom>
          <a:noFill/>
        </p:spPr>
        <p:txBody>
          <a:bodyPr wrap="square">
            <a:spAutoFit/>
          </a:bodyPr>
          <a:lstStyle/>
          <a:p>
            <a:pPr algn="ctr">
              <a:defRPr sz="1600" b="1">
                <a:solidFill>
                  <a:srgbClr val="FFFFFF"/>
                </a:solidFill>
                <a:latin typeface="맑은 고딕"/>
              </a:defRPr>
            </a:pPr>
            <a:r>
              <a:t>총 공수: 38.4 Man-Months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7315200" cy="365760"/>
          </a:xfrm>
          <a:prstGeom prst="rect">
            <a:avLst/>
          </a:prstGeom>
          <a:noFill/>
        </p:spPr>
        <p:txBody>
          <a:bodyPr wrap="square">
            <a:spAutoFit/>
          </a:bodyPr>
          <a:lstStyle/>
          <a:p>
            <a:pPr algn="l">
              <a:defRPr sz="1200" b="1">
                <a:solidFill>
                  <a:srgbClr val="EA580C"/>
                </a:solidFill>
                <a:latin typeface="맑은 고딕"/>
              </a:defRPr>
            </a:pPr>
            <a:r>
              <a:t>RISK MANAGEMENT</a:t>
            </a:r>
          </a:p>
        </p:txBody>
      </p:sp>
      <p:sp>
        <p:nvSpPr>
          <p:cNvPr id="3" name="TextBox 2"/>
          <p:cNvSpPr txBox="1"/>
          <p:nvPr/>
        </p:nvSpPr>
        <p:spPr>
          <a:xfrm>
            <a:off x="731520" y="731520"/>
            <a:ext cx="7315200" cy="548640"/>
          </a:xfrm>
          <a:prstGeom prst="rect">
            <a:avLst/>
          </a:prstGeom>
          <a:noFill/>
        </p:spPr>
        <p:txBody>
          <a:bodyPr wrap="square">
            <a:spAutoFit/>
          </a:bodyPr>
          <a:lstStyle/>
          <a:p>
            <a:pPr algn="l">
              <a:defRPr sz="3000" b="1">
                <a:solidFill>
                  <a:srgbClr val="0F172A"/>
                </a:solidFill>
                <a:latin typeface="맑은 고딕"/>
              </a:defRPr>
            </a:pPr>
            <a:r>
              <a:t>리스크 관리</a:t>
            </a:r>
          </a:p>
        </p:txBody>
      </p:sp>
      <p:sp>
        <p:nvSpPr>
          <p:cNvPr id="4" name="Rounded Rectangle 3"/>
          <p:cNvSpPr/>
          <p:nvPr/>
        </p:nvSpPr>
        <p:spPr>
          <a:xfrm>
            <a:off x="731520" y="1280160"/>
            <a:ext cx="1371600" cy="36576"/>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645920"/>
            <a:ext cx="8229600" cy="978407"/>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94360" y="1755648"/>
            <a:ext cx="731520" cy="274320"/>
          </a:xfrm>
          <a:prstGeom prst="roundRect">
            <a:avLst>
              <a:gd name="adj" fmla="val 6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1764792"/>
            <a:ext cx="694944" cy="256032"/>
          </a:xfrm>
          <a:prstGeom prst="rect">
            <a:avLst/>
          </a:prstGeom>
          <a:noFill/>
        </p:spPr>
        <p:txBody>
          <a:bodyPr wrap="square">
            <a:spAutoFit/>
          </a:bodyPr>
          <a:lstStyle/>
          <a:p>
            <a:pPr algn="ctr">
              <a:defRPr sz="1000" b="1">
                <a:solidFill>
                  <a:srgbClr val="FFFFFF"/>
                </a:solidFill>
                <a:latin typeface="맑은 고딕"/>
              </a:defRPr>
            </a:pPr>
            <a:r>
              <a:t>MEDIUM</a:t>
            </a:r>
          </a:p>
        </p:txBody>
      </p:sp>
      <p:sp>
        <p:nvSpPr>
          <p:cNvPr id="8" name="TextBox 7"/>
          <p:cNvSpPr txBox="1"/>
          <p:nvPr/>
        </p:nvSpPr>
        <p:spPr>
          <a:xfrm>
            <a:off x="1508760" y="1719072"/>
            <a:ext cx="6858000" cy="320040"/>
          </a:xfrm>
          <a:prstGeom prst="rect">
            <a:avLst/>
          </a:prstGeom>
          <a:noFill/>
        </p:spPr>
        <p:txBody>
          <a:bodyPr wrap="square">
            <a:spAutoFit/>
          </a:bodyPr>
          <a:lstStyle/>
          <a:p>
            <a:pPr algn="l">
              <a:defRPr sz="1400" b="1">
                <a:solidFill>
                  <a:srgbClr val="0F172A"/>
                </a:solidFill>
                <a:latin typeface="맑은 고딕"/>
              </a:defRPr>
            </a:pPr>
            <a:r>
              <a:t>불명확한 정보 존재 (4건)</a:t>
            </a:r>
          </a:p>
        </p:txBody>
      </p:sp>
      <p:sp>
        <p:nvSpPr>
          <p:cNvPr id="9" name="TextBox 8"/>
          <p:cNvSpPr txBox="1"/>
          <p:nvPr/>
        </p:nvSpPr>
        <p:spPr>
          <a:xfrm>
            <a:off x="1508760" y="2103120"/>
            <a:ext cx="6858000" cy="365760"/>
          </a:xfrm>
          <a:prstGeom prst="rect">
            <a:avLst/>
          </a:prstGeom>
          <a:noFill/>
        </p:spPr>
        <p:txBody>
          <a:bodyPr wrap="square">
            <a:spAutoFit/>
          </a:bodyPr>
          <a:lstStyle/>
          <a:p>
            <a:pPr algn="l">
              <a:defRPr sz="1100" b="0">
                <a:solidFill>
                  <a:srgbClr val="64748B"/>
                </a:solidFill>
                <a:latin typeface="맑은 고딕"/>
              </a:defRPr>
            </a:pPr>
            <a:r>
              <a:t>-&gt; 착수 전 확인 필요: 차트에 표시할 시간 범위(최근 N분)의 기본값, 단위 자동 변환 임계값 기준, 백엔드 프레임워크</a:t>
            </a:r>
          </a:p>
        </p:txBody>
      </p:sp>
      <p:sp>
        <p:nvSpPr>
          <p:cNvPr id="10" name="Rounded Rectangle 9"/>
          <p:cNvSpPr/>
          <p:nvPr/>
        </p:nvSpPr>
        <p:spPr>
          <a:xfrm>
            <a:off x="457200" y="2697480"/>
            <a:ext cx="8229600" cy="978407"/>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2807208"/>
            <a:ext cx="731520" cy="274320"/>
          </a:xfrm>
          <a:prstGeom prst="roundRect">
            <a:avLst>
              <a:gd name="adj" fmla="val 6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 y="2816352"/>
            <a:ext cx="694944" cy="256032"/>
          </a:xfrm>
          <a:prstGeom prst="rect">
            <a:avLst/>
          </a:prstGeom>
          <a:noFill/>
        </p:spPr>
        <p:txBody>
          <a:bodyPr wrap="square">
            <a:spAutoFit/>
          </a:bodyPr>
          <a:lstStyle/>
          <a:p>
            <a:pPr algn="ctr">
              <a:defRPr sz="1000" b="1">
                <a:solidFill>
                  <a:srgbClr val="FFFFFF"/>
                </a:solidFill>
                <a:latin typeface="맑은 고딕"/>
              </a:defRPr>
            </a:pPr>
            <a:r>
              <a:t>HIGH</a:t>
            </a:r>
          </a:p>
        </p:txBody>
      </p:sp>
      <p:sp>
        <p:nvSpPr>
          <p:cNvPr id="13" name="TextBox 12"/>
          <p:cNvSpPr txBox="1"/>
          <p:nvPr/>
        </p:nvSpPr>
        <p:spPr>
          <a:xfrm>
            <a:off x="1508760" y="2770632"/>
            <a:ext cx="6858000" cy="320040"/>
          </a:xfrm>
          <a:prstGeom prst="rect">
            <a:avLst/>
          </a:prstGeom>
          <a:noFill/>
        </p:spPr>
        <p:txBody>
          <a:bodyPr wrap="square">
            <a:spAutoFit/>
          </a:bodyPr>
          <a:lstStyle/>
          <a:p>
            <a:pPr algn="l">
              <a:defRPr sz="1400" b="1">
                <a:solidFill>
                  <a:srgbClr val="0F172A"/>
                </a:solidFill>
                <a:latin typeface="맑은 고딕"/>
              </a:defRPr>
            </a:pPr>
            <a:r>
              <a:t>미확정 의사결정 사항 (1건)</a:t>
            </a:r>
          </a:p>
        </p:txBody>
      </p:sp>
      <p:sp>
        <p:nvSpPr>
          <p:cNvPr id="14" name="TextBox 13"/>
          <p:cNvSpPr txBox="1"/>
          <p:nvPr/>
        </p:nvSpPr>
        <p:spPr>
          <a:xfrm>
            <a:off x="1508760" y="3154680"/>
            <a:ext cx="6858000" cy="365760"/>
          </a:xfrm>
          <a:prstGeom prst="rect">
            <a:avLst/>
          </a:prstGeom>
          <a:noFill/>
        </p:spPr>
        <p:txBody>
          <a:bodyPr wrap="square">
            <a:spAutoFit/>
          </a:bodyPr>
          <a:lstStyle/>
          <a:p>
            <a:pPr algn="l">
              <a:defRPr sz="1100" b="0">
                <a:solidFill>
                  <a:srgbClr val="64748B"/>
                </a:solidFill>
                <a:latin typeface="맑은 고딕"/>
              </a:defRPr>
            </a:pPr>
            <a:r>
              <a:t>-&gt; 착수 전 주요 사항 의사결정 완료 필요</a:t>
            </a:r>
          </a:p>
        </p:txBody>
      </p:sp>
      <p:sp>
        <p:nvSpPr>
          <p:cNvPr id="15" name="Rounded Rectangle 14"/>
          <p:cNvSpPr/>
          <p:nvPr/>
        </p:nvSpPr>
        <p:spPr>
          <a:xfrm>
            <a:off x="457200" y="3749039"/>
            <a:ext cx="8229600" cy="978407"/>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4360" y="3858768"/>
            <a:ext cx="731520" cy="274320"/>
          </a:xfrm>
          <a:prstGeom prst="roundRect">
            <a:avLst>
              <a:gd name="adj" fmla="val 6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 y="3867911"/>
            <a:ext cx="694944" cy="256032"/>
          </a:xfrm>
          <a:prstGeom prst="rect">
            <a:avLst/>
          </a:prstGeom>
          <a:noFill/>
        </p:spPr>
        <p:txBody>
          <a:bodyPr wrap="square">
            <a:spAutoFit/>
          </a:bodyPr>
          <a:lstStyle/>
          <a:p>
            <a:pPr algn="ctr">
              <a:defRPr sz="1000" b="1">
                <a:solidFill>
                  <a:srgbClr val="FFFFFF"/>
                </a:solidFill>
                <a:latin typeface="맑은 고딕"/>
              </a:defRPr>
            </a:pPr>
            <a:r>
              <a:t>MEDIUM</a:t>
            </a:r>
          </a:p>
        </p:txBody>
      </p:sp>
      <p:sp>
        <p:nvSpPr>
          <p:cNvPr id="18" name="TextBox 17"/>
          <p:cNvSpPr txBox="1"/>
          <p:nvPr/>
        </p:nvSpPr>
        <p:spPr>
          <a:xfrm>
            <a:off x="1508760" y="3822191"/>
            <a:ext cx="6858000" cy="320040"/>
          </a:xfrm>
          <a:prstGeom prst="rect">
            <a:avLst/>
          </a:prstGeom>
          <a:noFill/>
        </p:spPr>
        <p:txBody>
          <a:bodyPr wrap="square">
            <a:spAutoFit/>
          </a:bodyPr>
          <a:lstStyle/>
          <a:p>
            <a:pPr algn="l">
              <a:defRPr sz="1400" b="1">
                <a:solidFill>
                  <a:srgbClr val="0F172A"/>
                </a:solidFill>
                <a:latin typeface="맑은 고딕"/>
              </a:defRPr>
            </a:pPr>
            <a:r>
              <a:t>외부 시스템 연동 복잡성 (4건)</a:t>
            </a:r>
          </a:p>
        </p:txBody>
      </p:sp>
      <p:sp>
        <p:nvSpPr>
          <p:cNvPr id="19" name="TextBox 18"/>
          <p:cNvSpPr txBox="1"/>
          <p:nvPr/>
        </p:nvSpPr>
        <p:spPr>
          <a:xfrm>
            <a:off x="1508760" y="4206240"/>
            <a:ext cx="6858000" cy="365760"/>
          </a:xfrm>
          <a:prstGeom prst="rect">
            <a:avLst/>
          </a:prstGeom>
          <a:noFill/>
        </p:spPr>
        <p:txBody>
          <a:bodyPr wrap="square">
            <a:spAutoFit/>
          </a:bodyPr>
          <a:lstStyle/>
          <a:p>
            <a:pPr algn="l">
              <a:defRPr sz="1100" b="0">
                <a:solidFill>
                  <a:srgbClr val="64748B"/>
                </a:solidFill>
                <a:latin typeface="맑은 고딕"/>
              </a:defRPr>
            </a:pPr>
            <a:r>
              <a:t>-&gt; 사전 인터페이스 정의 및 테스트 환경 확보</a:t>
            </a:r>
          </a:p>
        </p:txBody>
      </p:sp>
      <p:sp>
        <p:nvSpPr>
          <p:cNvPr id="20" name="Rounded Rectangle 19"/>
          <p:cNvSpPr/>
          <p:nvPr/>
        </p:nvSpPr>
        <p:spPr>
          <a:xfrm>
            <a:off x="457200" y="4800600"/>
            <a:ext cx="8229600" cy="978407"/>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94360" y="4910328"/>
            <a:ext cx="731520" cy="274320"/>
          </a:xfrm>
          <a:prstGeom prst="roundRect">
            <a:avLst>
              <a:gd name="adj" fmla="val 6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 y="4919472"/>
            <a:ext cx="694944" cy="256032"/>
          </a:xfrm>
          <a:prstGeom prst="rect">
            <a:avLst/>
          </a:prstGeom>
          <a:noFill/>
        </p:spPr>
        <p:txBody>
          <a:bodyPr wrap="square">
            <a:spAutoFit/>
          </a:bodyPr>
          <a:lstStyle/>
          <a:p>
            <a:pPr algn="ctr">
              <a:defRPr sz="1000" b="1">
                <a:solidFill>
                  <a:srgbClr val="FFFFFF"/>
                </a:solidFill>
                <a:latin typeface="맑은 고딕"/>
              </a:defRPr>
            </a:pPr>
            <a:r>
              <a:t>MEDIUM</a:t>
            </a:r>
          </a:p>
        </p:txBody>
      </p:sp>
      <p:sp>
        <p:nvSpPr>
          <p:cNvPr id="23" name="TextBox 22"/>
          <p:cNvSpPr txBox="1"/>
          <p:nvPr/>
        </p:nvSpPr>
        <p:spPr>
          <a:xfrm>
            <a:off x="1508760" y="4873752"/>
            <a:ext cx="6858000" cy="320040"/>
          </a:xfrm>
          <a:prstGeom prst="rect">
            <a:avLst/>
          </a:prstGeom>
          <a:noFill/>
        </p:spPr>
        <p:txBody>
          <a:bodyPr wrap="square">
            <a:spAutoFit/>
          </a:bodyPr>
          <a:lstStyle/>
          <a:p>
            <a:pPr algn="l">
              <a:defRPr sz="1400" b="1">
                <a:solidFill>
                  <a:srgbClr val="0F172A"/>
                </a:solidFill>
                <a:latin typeface="맑은 고딕"/>
              </a:defRPr>
            </a:pPr>
            <a:r>
              <a:t>실시간 처리 요구사항 (4건)</a:t>
            </a:r>
          </a:p>
        </p:txBody>
      </p:sp>
      <p:sp>
        <p:nvSpPr>
          <p:cNvPr id="24" name="TextBox 23"/>
          <p:cNvSpPr txBox="1"/>
          <p:nvPr/>
        </p:nvSpPr>
        <p:spPr>
          <a:xfrm>
            <a:off x="1508760" y="5257800"/>
            <a:ext cx="6858000" cy="365760"/>
          </a:xfrm>
          <a:prstGeom prst="rect">
            <a:avLst/>
          </a:prstGeom>
          <a:noFill/>
        </p:spPr>
        <p:txBody>
          <a:bodyPr wrap="square">
            <a:spAutoFit/>
          </a:bodyPr>
          <a:lstStyle/>
          <a:p>
            <a:pPr algn="l">
              <a:defRPr sz="1100" b="0">
                <a:solidFill>
                  <a:srgbClr val="64748B"/>
                </a:solidFill>
                <a:latin typeface="맑은 고딕"/>
              </a:defRPr>
            </a:pPr>
            <a:r>
              <a:t>-&gt; WebSocket/SSE 기반 아키텍처 PoC 선행</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7315200" cy="365760"/>
          </a:xfrm>
          <a:prstGeom prst="rect">
            <a:avLst/>
          </a:prstGeom>
          <a:noFill/>
        </p:spPr>
        <p:txBody>
          <a:bodyPr wrap="square">
            <a:spAutoFit/>
          </a:bodyPr>
          <a:lstStyle/>
          <a:p>
            <a:pPr algn="l">
              <a:defRPr sz="1200" b="1">
                <a:solidFill>
                  <a:srgbClr val="059669"/>
                </a:solidFill>
                <a:latin typeface="맑은 고딕"/>
              </a:defRPr>
            </a:pPr>
            <a:r>
              <a:t>EXPECTED BENEFITS</a:t>
            </a:r>
          </a:p>
        </p:txBody>
      </p:sp>
      <p:sp>
        <p:nvSpPr>
          <p:cNvPr id="3" name="TextBox 2"/>
          <p:cNvSpPr txBox="1"/>
          <p:nvPr/>
        </p:nvSpPr>
        <p:spPr>
          <a:xfrm>
            <a:off x="731520" y="731520"/>
            <a:ext cx="7315200" cy="548640"/>
          </a:xfrm>
          <a:prstGeom prst="rect">
            <a:avLst/>
          </a:prstGeom>
          <a:noFill/>
        </p:spPr>
        <p:txBody>
          <a:bodyPr wrap="square">
            <a:spAutoFit/>
          </a:bodyPr>
          <a:lstStyle/>
          <a:p>
            <a:pPr algn="l">
              <a:defRPr sz="3000" b="1">
                <a:solidFill>
                  <a:srgbClr val="0F172A"/>
                </a:solidFill>
                <a:latin typeface="맑은 고딕"/>
              </a:defRPr>
            </a:pPr>
            <a:r>
              <a:t>기대 효과</a:t>
            </a:r>
          </a:p>
        </p:txBody>
      </p:sp>
      <p:sp>
        <p:nvSpPr>
          <p:cNvPr id="4" name="Rounded Rectangle 3"/>
          <p:cNvSpPr/>
          <p:nvPr/>
        </p:nvSpPr>
        <p:spPr>
          <a:xfrm>
            <a:off x="731520" y="1280160"/>
            <a:ext cx="1371600" cy="36576"/>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19" y="1645920"/>
            <a:ext cx="2377440" cy="146304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737360"/>
            <a:ext cx="2157984" cy="228600"/>
          </a:xfrm>
          <a:prstGeom prst="rect">
            <a:avLst/>
          </a:prstGeom>
          <a:noFill/>
        </p:spPr>
        <p:txBody>
          <a:bodyPr wrap="square">
            <a:spAutoFit/>
          </a:bodyPr>
          <a:lstStyle/>
          <a:p>
            <a:pPr algn="l">
              <a:defRPr sz="1100" b="1">
                <a:solidFill>
                  <a:srgbClr val="64748B"/>
                </a:solidFill>
                <a:latin typeface="맑은 고딕"/>
              </a:defRPr>
            </a:pPr>
            <a:r>
              <a:t>시스템 장애 감지 시간 70% 단축</a:t>
            </a:r>
          </a:p>
        </p:txBody>
      </p:sp>
      <p:sp>
        <p:nvSpPr>
          <p:cNvPr id="7" name="TextBox 6"/>
          <p:cNvSpPr txBox="1"/>
          <p:nvPr/>
        </p:nvSpPr>
        <p:spPr>
          <a:xfrm>
            <a:off x="841247" y="2057400"/>
            <a:ext cx="2157984" cy="457200"/>
          </a:xfrm>
          <a:prstGeom prst="rect">
            <a:avLst/>
          </a:prstGeom>
          <a:noFill/>
        </p:spPr>
        <p:txBody>
          <a:bodyPr wrap="square">
            <a:spAutoFit/>
          </a:bodyPr>
          <a:lstStyle/>
          <a:p>
            <a:pPr algn="ctr">
              <a:defRPr sz="1700" b="1">
                <a:solidFill>
                  <a:srgbClr val="059669"/>
                </a:solidFill>
                <a:latin typeface="맑은 고딕"/>
              </a:defRPr>
            </a:pPr>
            <a:r>
              <a:t> -&gt; </a:t>
            </a:r>
          </a:p>
        </p:txBody>
      </p:sp>
      <p:sp>
        <p:nvSpPr>
          <p:cNvPr id="8" name="Oval 7"/>
          <p:cNvSpPr/>
          <p:nvPr/>
        </p:nvSpPr>
        <p:spPr>
          <a:xfrm>
            <a:off x="1783080" y="2697480"/>
            <a:ext cx="274320" cy="27432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a:t>
            </a:r>
          </a:p>
        </p:txBody>
      </p:sp>
      <p:sp>
        <p:nvSpPr>
          <p:cNvPr id="9" name="Rounded Rectangle 8"/>
          <p:cNvSpPr/>
          <p:nvPr/>
        </p:nvSpPr>
        <p:spPr>
          <a:xfrm>
            <a:off x="3383279" y="1645920"/>
            <a:ext cx="2377440" cy="146304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93008" y="1737360"/>
            <a:ext cx="2157984" cy="228600"/>
          </a:xfrm>
          <a:prstGeom prst="rect">
            <a:avLst/>
          </a:prstGeom>
          <a:noFill/>
        </p:spPr>
        <p:txBody>
          <a:bodyPr wrap="square">
            <a:spAutoFit/>
          </a:bodyPr>
          <a:lstStyle/>
          <a:p>
            <a:pPr algn="l">
              <a:defRPr sz="1100" b="1">
                <a:solidFill>
                  <a:srgbClr val="64748B"/>
                </a:solidFill>
                <a:latin typeface="맑은 고딕"/>
              </a:defRPr>
            </a:pPr>
            <a:r>
              <a:t>운영자 모니터링 업무 시간 60% 절감</a:t>
            </a:r>
          </a:p>
        </p:txBody>
      </p:sp>
      <p:sp>
        <p:nvSpPr>
          <p:cNvPr id="11" name="TextBox 10"/>
          <p:cNvSpPr txBox="1"/>
          <p:nvPr/>
        </p:nvSpPr>
        <p:spPr>
          <a:xfrm>
            <a:off x="3493008" y="2057400"/>
            <a:ext cx="2157984" cy="457200"/>
          </a:xfrm>
          <a:prstGeom prst="rect">
            <a:avLst/>
          </a:prstGeom>
          <a:noFill/>
        </p:spPr>
        <p:txBody>
          <a:bodyPr wrap="square">
            <a:spAutoFit/>
          </a:bodyPr>
          <a:lstStyle/>
          <a:p>
            <a:pPr algn="ctr">
              <a:defRPr sz="1700" b="1">
                <a:solidFill>
                  <a:srgbClr val="059669"/>
                </a:solidFill>
                <a:latin typeface="맑은 고딕"/>
              </a:defRPr>
            </a:pPr>
            <a:r>
              <a:t> -&gt; </a:t>
            </a:r>
          </a:p>
        </p:txBody>
      </p:sp>
      <p:sp>
        <p:nvSpPr>
          <p:cNvPr id="12" name="Oval 11"/>
          <p:cNvSpPr/>
          <p:nvPr/>
        </p:nvSpPr>
        <p:spPr>
          <a:xfrm>
            <a:off x="4434840" y="2697480"/>
            <a:ext cx="274320" cy="27432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a:t>
            </a:r>
          </a:p>
        </p:txBody>
      </p:sp>
      <p:sp>
        <p:nvSpPr>
          <p:cNvPr id="13" name="Rounded Rectangle 12"/>
          <p:cNvSpPr/>
          <p:nvPr/>
        </p:nvSpPr>
        <p:spPr>
          <a:xfrm>
            <a:off x="6035040" y="1645920"/>
            <a:ext cx="2377440" cy="146304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44768" y="1737360"/>
            <a:ext cx="2157984" cy="228600"/>
          </a:xfrm>
          <a:prstGeom prst="rect">
            <a:avLst/>
          </a:prstGeom>
          <a:noFill/>
        </p:spPr>
        <p:txBody>
          <a:bodyPr wrap="square">
            <a:spAutoFit/>
          </a:bodyPr>
          <a:lstStyle/>
          <a:p>
            <a:pPr algn="l">
              <a:defRPr sz="1100" b="1">
                <a:solidFill>
                  <a:srgbClr val="64748B"/>
                </a:solidFill>
                <a:latin typeface="맑은 고딕"/>
              </a:defRPr>
            </a:pPr>
            <a:r>
              <a:t>서버 다운타임 40% 감소</a:t>
            </a:r>
          </a:p>
        </p:txBody>
      </p:sp>
      <p:sp>
        <p:nvSpPr>
          <p:cNvPr id="15" name="TextBox 14"/>
          <p:cNvSpPr txBox="1"/>
          <p:nvPr/>
        </p:nvSpPr>
        <p:spPr>
          <a:xfrm>
            <a:off x="6144768" y="2057400"/>
            <a:ext cx="2157984" cy="457200"/>
          </a:xfrm>
          <a:prstGeom prst="rect">
            <a:avLst/>
          </a:prstGeom>
          <a:noFill/>
        </p:spPr>
        <p:txBody>
          <a:bodyPr wrap="square">
            <a:spAutoFit/>
          </a:bodyPr>
          <a:lstStyle/>
          <a:p>
            <a:pPr algn="ctr">
              <a:defRPr sz="1700" b="1">
                <a:solidFill>
                  <a:srgbClr val="059669"/>
                </a:solidFill>
                <a:latin typeface="맑은 고딕"/>
              </a:defRPr>
            </a:pPr>
            <a:r>
              <a:t> -&gt; </a:t>
            </a:r>
          </a:p>
        </p:txBody>
      </p:sp>
      <p:sp>
        <p:nvSpPr>
          <p:cNvPr id="16" name="Oval 15"/>
          <p:cNvSpPr/>
          <p:nvPr/>
        </p:nvSpPr>
        <p:spPr>
          <a:xfrm>
            <a:off x="7086600" y="2697480"/>
            <a:ext cx="274320" cy="27432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a:t>
            </a:r>
          </a:p>
        </p:txBody>
      </p:sp>
      <p:sp>
        <p:nvSpPr>
          <p:cNvPr id="17" name="TextBox 16"/>
          <p:cNvSpPr txBox="1"/>
          <p:nvPr/>
        </p:nvSpPr>
        <p:spPr>
          <a:xfrm>
            <a:off x="731520" y="3383280"/>
            <a:ext cx="7680960" cy="320040"/>
          </a:xfrm>
          <a:prstGeom prst="rect">
            <a:avLst/>
          </a:prstGeom>
          <a:noFill/>
        </p:spPr>
        <p:txBody>
          <a:bodyPr wrap="square">
            <a:spAutoFit/>
          </a:bodyPr>
          <a:lstStyle/>
          <a:p>
            <a:pPr algn="l">
              <a:defRPr sz="1400" b="0">
                <a:solidFill>
                  <a:srgbClr val="334155"/>
                </a:solidFill>
                <a:latin typeface="맑은 고딕"/>
              </a:defRPr>
            </a:pPr>
            <a:r>
              <a:t>  시스템 장애 감지 시간 70% 단축</a:t>
            </a:r>
          </a:p>
        </p:txBody>
      </p:sp>
      <p:sp>
        <p:nvSpPr>
          <p:cNvPr id="18" name="TextBox 17"/>
          <p:cNvSpPr txBox="1"/>
          <p:nvPr/>
        </p:nvSpPr>
        <p:spPr>
          <a:xfrm>
            <a:off x="731520" y="3767328"/>
            <a:ext cx="7680960" cy="320040"/>
          </a:xfrm>
          <a:prstGeom prst="rect">
            <a:avLst/>
          </a:prstGeom>
          <a:noFill/>
        </p:spPr>
        <p:txBody>
          <a:bodyPr wrap="square">
            <a:spAutoFit/>
          </a:bodyPr>
          <a:lstStyle/>
          <a:p>
            <a:pPr algn="l">
              <a:defRPr sz="1400" b="0">
                <a:solidFill>
                  <a:srgbClr val="334155"/>
                </a:solidFill>
                <a:latin typeface="맑은 고딕"/>
              </a:defRPr>
            </a:pPr>
            <a:r>
              <a:t>  운영자 모니터링 업무 시간 60% 절감</a:t>
            </a:r>
          </a:p>
        </p:txBody>
      </p:sp>
      <p:sp>
        <p:nvSpPr>
          <p:cNvPr id="19" name="TextBox 18"/>
          <p:cNvSpPr txBox="1"/>
          <p:nvPr/>
        </p:nvSpPr>
        <p:spPr>
          <a:xfrm>
            <a:off x="731520" y="4151376"/>
            <a:ext cx="7680960" cy="320040"/>
          </a:xfrm>
          <a:prstGeom prst="rect">
            <a:avLst/>
          </a:prstGeom>
          <a:noFill/>
        </p:spPr>
        <p:txBody>
          <a:bodyPr wrap="square">
            <a:spAutoFit/>
          </a:bodyPr>
          <a:lstStyle/>
          <a:p>
            <a:pPr algn="l">
              <a:defRPr sz="1400" b="0">
                <a:solidFill>
                  <a:srgbClr val="334155"/>
                </a:solidFill>
                <a:latin typeface="맑은 고딕"/>
              </a:defRPr>
            </a:pPr>
            <a:r>
              <a:t>  서버 다운타임 40% 감소</a:t>
            </a:r>
          </a:p>
        </p:txBody>
      </p:sp>
      <p:sp>
        <p:nvSpPr>
          <p:cNvPr id="20" name="TextBox 19"/>
          <p:cNvSpPr txBox="1"/>
          <p:nvPr/>
        </p:nvSpPr>
        <p:spPr>
          <a:xfrm>
            <a:off x="731520" y="4535424"/>
            <a:ext cx="7680960" cy="320040"/>
          </a:xfrm>
          <a:prstGeom prst="rect">
            <a:avLst/>
          </a:prstGeom>
          <a:noFill/>
        </p:spPr>
        <p:txBody>
          <a:bodyPr wrap="square">
            <a:spAutoFit/>
          </a:bodyPr>
          <a:lstStyle/>
          <a:p>
            <a:pPr algn="l">
              <a:defRPr sz="1400" b="0">
                <a:solidFill>
                  <a:srgbClr val="334155"/>
                </a:solidFill>
                <a:latin typeface="맑은 고딕"/>
              </a:defRPr>
            </a:pPr>
            <a:r>
              <a:t>  운영팀 업무 만족도 35% 향상</a:t>
            </a:r>
          </a:p>
        </p:txBody>
      </p:sp>
      <p:sp>
        <p:nvSpPr>
          <p:cNvPr id="21" name="TextBox 20"/>
          <p:cNvSpPr txBox="1"/>
          <p:nvPr/>
        </p:nvSpPr>
        <p:spPr>
          <a:xfrm>
            <a:off x="731520" y="4919472"/>
            <a:ext cx="7680960" cy="320040"/>
          </a:xfrm>
          <a:prstGeom prst="rect">
            <a:avLst/>
          </a:prstGeom>
          <a:noFill/>
        </p:spPr>
        <p:txBody>
          <a:bodyPr wrap="square">
            <a:spAutoFit/>
          </a:bodyPr>
          <a:lstStyle/>
          <a:p>
            <a:pPr algn="l">
              <a:defRPr sz="1400" b="0">
                <a:solidFill>
                  <a:srgbClr val="334155"/>
                </a:solidFill>
                <a:latin typeface="맑은 고딕"/>
              </a:defRPr>
            </a:pPr>
            <a:r>
              <a:t>  신규 운영자 온보딩 시간 50% 단축</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7315200" cy="365760"/>
          </a:xfrm>
          <a:prstGeom prst="rect">
            <a:avLst/>
          </a:prstGeom>
          <a:noFill/>
        </p:spPr>
        <p:txBody>
          <a:bodyPr wrap="square">
            <a:spAutoFit/>
          </a:bodyPr>
          <a:lstStyle/>
          <a:p>
            <a:pPr algn="l">
              <a:defRPr sz="1200" b="1">
                <a:solidFill>
                  <a:srgbClr val="2563EB"/>
                </a:solidFill>
                <a:latin typeface="맑은 고딕"/>
              </a:defRPr>
            </a:pPr>
            <a:r>
              <a:t>NEXT STEPS</a:t>
            </a:r>
          </a:p>
        </p:txBody>
      </p:sp>
      <p:sp>
        <p:nvSpPr>
          <p:cNvPr id="3" name="TextBox 2"/>
          <p:cNvSpPr txBox="1"/>
          <p:nvPr/>
        </p:nvSpPr>
        <p:spPr>
          <a:xfrm>
            <a:off x="731520" y="731520"/>
            <a:ext cx="7315200" cy="548640"/>
          </a:xfrm>
          <a:prstGeom prst="rect">
            <a:avLst/>
          </a:prstGeom>
          <a:noFill/>
        </p:spPr>
        <p:txBody>
          <a:bodyPr wrap="square">
            <a:spAutoFit/>
          </a:bodyPr>
          <a:lstStyle/>
          <a:p>
            <a:pPr algn="l">
              <a:defRPr sz="3000" b="1">
                <a:solidFill>
                  <a:srgbClr val="0F172A"/>
                </a:solidFill>
                <a:latin typeface="맑은 고딕"/>
              </a:defRPr>
            </a:pPr>
            <a:r>
              <a:t>다음 단계</a:t>
            </a:r>
          </a:p>
        </p:txBody>
      </p:sp>
      <p:sp>
        <p:nvSpPr>
          <p:cNvPr id="4" name="Rounded Rectangle 3"/>
          <p:cNvSpPr/>
          <p:nvPr/>
        </p:nvSpPr>
        <p:spPr>
          <a:xfrm>
            <a:off x="731520" y="1280160"/>
            <a:ext cx="1371600" cy="3657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645920"/>
            <a:ext cx="8229600" cy="713232"/>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080" y="1796795"/>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1</a:t>
            </a:r>
          </a:p>
        </p:txBody>
      </p:sp>
      <p:sp>
        <p:nvSpPr>
          <p:cNvPr id="7" name="TextBox 6"/>
          <p:cNvSpPr txBox="1"/>
          <p:nvPr/>
        </p:nvSpPr>
        <p:spPr>
          <a:xfrm>
            <a:off x="1234440" y="1819655"/>
            <a:ext cx="5303520" cy="365760"/>
          </a:xfrm>
          <a:prstGeom prst="rect">
            <a:avLst/>
          </a:prstGeom>
          <a:noFill/>
        </p:spPr>
        <p:txBody>
          <a:bodyPr wrap="square">
            <a:spAutoFit/>
          </a:bodyPr>
          <a:lstStyle/>
          <a:p>
            <a:pPr algn="l">
              <a:defRPr sz="1500" b="0">
                <a:solidFill>
                  <a:srgbClr val="334155"/>
                </a:solidFill>
                <a:latin typeface="맑은 고딕"/>
              </a:defRPr>
            </a:pPr>
            <a:r>
              <a:t>제안서 검토 및 Q&amp;A 세션</a:t>
            </a:r>
          </a:p>
        </p:txBody>
      </p:sp>
      <p:sp>
        <p:nvSpPr>
          <p:cNvPr id="8" name="Rectangle 7"/>
          <p:cNvSpPr/>
          <p:nvPr/>
        </p:nvSpPr>
        <p:spPr>
          <a:xfrm>
            <a:off x="822960" y="2359152"/>
            <a:ext cx="27432" cy="10972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200" y="2468880"/>
            <a:ext cx="8229600" cy="713232"/>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0080" y="2619756"/>
            <a:ext cx="384048" cy="384048"/>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2</a:t>
            </a:r>
          </a:p>
        </p:txBody>
      </p:sp>
      <p:sp>
        <p:nvSpPr>
          <p:cNvPr id="11" name="TextBox 10"/>
          <p:cNvSpPr txBox="1"/>
          <p:nvPr/>
        </p:nvSpPr>
        <p:spPr>
          <a:xfrm>
            <a:off x="1234440" y="2642616"/>
            <a:ext cx="5303520" cy="365760"/>
          </a:xfrm>
          <a:prstGeom prst="rect">
            <a:avLst/>
          </a:prstGeom>
          <a:noFill/>
        </p:spPr>
        <p:txBody>
          <a:bodyPr wrap="square">
            <a:spAutoFit/>
          </a:bodyPr>
          <a:lstStyle/>
          <a:p>
            <a:pPr algn="l">
              <a:defRPr sz="1500" b="0">
                <a:solidFill>
                  <a:srgbClr val="334155"/>
                </a:solidFill>
                <a:latin typeface="맑은 고딕"/>
              </a:defRPr>
            </a:pPr>
            <a:r>
              <a:t>상세 범위 및 일정 협의</a:t>
            </a:r>
          </a:p>
        </p:txBody>
      </p:sp>
      <p:sp>
        <p:nvSpPr>
          <p:cNvPr id="12" name="Rectangle 11"/>
          <p:cNvSpPr/>
          <p:nvPr/>
        </p:nvSpPr>
        <p:spPr>
          <a:xfrm>
            <a:off x="822960" y="3182112"/>
            <a:ext cx="27432" cy="10972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7200" y="3291840"/>
            <a:ext cx="8229600" cy="713232"/>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080" y="3442716"/>
            <a:ext cx="384048" cy="384048"/>
          </a:xfrm>
          <a:prstGeom prst="ellipse">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3</a:t>
            </a:r>
          </a:p>
        </p:txBody>
      </p:sp>
      <p:sp>
        <p:nvSpPr>
          <p:cNvPr id="15" name="TextBox 14"/>
          <p:cNvSpPr txBox="1"/>
          <p:nvPr/>
        </p:nvSpPr>
        <p:spPr>
          <a:xfrm>
            <a:off x="1234440" y="3465576"/>
            <a:ext cx="5303520" cy="365760"/>
          </a:xfrm>
          <a:prstGeom prst="rect">
            <a:avLst/>
          </a:prstGeom>
          <a:noFill/>
        </p:spPr>
        <p:txBody>
          <a:bodyPr wrap="square">
            <a:spAutoFit/>
          </a:bodyPr>
          <a:lstStyle/>
          <a:p>
            <a:pPr algn="l">
              <a:defRPr sz="1500" b="0">
                <a:solidFill>
                  <a:srgbClr val="334155"/>
                </a:solidFill>
                <a:latin typeface="맑은 고딕"/>
              </a:defRPr>
            </a:pPr>
            <a:r>
              <a:t>계약 조건 협의</a:t>
            </a:r>
          </a:p>
        </p:txBody>
      </p:sp>
      <p:sp>
        <p:nvSpPr>
          <p:cNvPr id="16" name="Rectangle 15"/>
          <p:cNvSpPr/>
          <p:nvPr/>
        </p:nvSpPr>
        <p:spPr>
          <a:xfrm>
            <a:off x="822960" y="4005072"/>
            <a:ext cx="27432" cy="10972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7200" y="4114800"/>
            <a:ext cx="8229600" cy="713232"/>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0080" y="4265676"/>
            <a:ext cx="384048" cy="384048"/>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4</a:t>
            </a:r>
          </a:p>
        </p:txBody>
      </p:sp>
      <p:sp>
        <p:nvSpPr>
          <p:cNvPr id="19" name="TextBox 18"/>
          <p:cNvSpPr txBox="1"/>
          <p:nvPr/>
        </p:nvSpPr>
        <p:spPr>
          <a:xfrm>
            <a:off x="1234440" y="4288536"/>
            <a:ext cx="5303520" cy="365760"/>
          </a:xfrm>
          <a:prstGeom prst="rect">
            <a:avLst/>
          </a:prstGeom>
          <a:noFill/>
        </p:spPr>
        <p:txBody>
          <a:bodyPr wrap="square">
            <a:spAutoFit/>
          </a:bodyPr>
          <a:lstStyle/>
          <a:p>
            <a:pPr algn="l">
              <a:defRPr sz="1500" b="0">
                <a:solidFill>
                  <a:srgbClr val="334155"/>
                </a:solidFill>
                <a:latin typeface="맑은 고딕"/>
              </a:defRPr>
            </a:pPr>
            <a:r>
              <a:t>계약 체결</a:t>
            </a:r>
          </a:p>
        </p:txBody>
      </p:sp>
      <p:sp>
        <p:nvSpPr>
          <p:cNvPr id="20" name="Rectangle 19"/>
          <p:cNvSpPr/>
          <p:nvPr/>
        </p:nvSpPr>
        <p:spPr>
          <a:xfrm>
            <a:off x="822960" y="4828032"/>
            <a:ext cx="27432" cy="10972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57200" y="4937760"/>
            <a:ext cx="8229600" cy="713232"/>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0080" y="5088636"/>
            <a:ext cx="384048" cy="38404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defRPr>
            </a:pPr>
            <a:r>
              <a:t>5</a:t>
            </a:r>
          </a:p>
        </p:txBody>
      </p:sp>
      <p:sp>
        <p:nvSpPr>
          <p:cNvPr id="23" name="TextBox 22"/>
          <p:cNvSpPr txBox="1"/>
          <p:nvPr/>
        </p:nvSpPr>
        <p:spPr>
          <a:xfrm>
            <a:off x="1234440" y="5111496"/>
            <a:ext cx="5303520" cy="365760"/>
          </a:xfrm>
          <a:prstGeom prst="rect">
            <a:avLst/>
          </a:prstGeom>
          <a:noFill/>
        </p:spPr>
        <p:txBody>
          <a:bodyPr wrap="square">
            <a:spAutoFit/>
          </a:bodyPr>
          <a:lstStyle/>
          <a:p>
            <a:pPr algn="l">
              <a:defRPr sz="1500" b="0">
                <a:solidFill>
                  <a:srgbClr val="334155"/>
                </a:solidFill>
                <a:latin typeface="맑은 고딕"/>
              </a:defRPr>
            </a:pPr>
            <a:r>
              <a:t>킥오프 미팅 및 프로젝트 착수</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TextBox 1"/>
          <p:cNvSpPr txBox="1"/>
          <p:nvPr/>
        </p:nvSpPr>
        <p:spPr>
          <a:xfrm>
            <a:off x="457200" y="2011680"/>
            <a:ext cx="8229600" cy="1097280"/>
          </a:xfrm>
          <a:prstGeom prst="rect">
            <a:avLst/>
          </a:prstGeom>
          <a:noFill/>
        </p:spPr>
        <p:txBody>
          <a:bodyPr wrap="square">
            <a:spAutoFit/>
          </a:bodyPr>
          <a:lstStyle/>
          <a:p>
            <a:pPr algn="ctr">
              <a:defRPr sz="4400" b="1">
                <a:solidFill>
                  <a:srgbClr val="FFFFFF"/>
                </a:solidFill>
                <a:latin typeface="맑은 고딕"/>
              </a:defRPr>
            </a:pPr>
            <a:r>
              <a:t>감사합니다</a:t>
            </a:r>
          </a:p>
        </p:txBody>
      </p:sp>
      <p:sp>
        <p:nvSpPr>
          <p:cNvPr id="3" name="Rounded Rectangle 2"/>
          <p:cNvSpPr/>
          <p:nvPr/>
        </p:nvSpPr>
        <p:spPr>
          <a:xfrm>
            <a:off x="3200400" y="3291840"/>
            <a:ext cx="2743200" cy="4572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657600"/>
            <a:ext cx="8229600" cy="548640"/>
          </a:xfrm>
          <a:prstGeom prst="rect">
            <a:avLst/>
          </a:prstGeom>
          <a:noFill/>
        </p:spPr>
        <p:txBody>
          <a:bodyPr wrap="square">
            <a:spAutoFit/>
          </a:bodyPr>
          <a:lstStyle/>
          <a:p>
            <a:pPr algn="ctr">
              <a:defRPr sz="1800" b="0">
                <a:solidFill>
                  <a:srgbClr val="94A3B8"/>
                </a:solidFill>
                <a:latin typeface="맑은 고딕"/>
              </a:defRPr>
            </a:pPr>
            <a:r>
              <a:t>함께 시작하겠습니다</a:t>
            </a:r>
          </a:p>
        </p:txBody>
      </p:sp>
      <p:sp>
        <p:nvSpPr>
          <p:cNvPr id="5" name="TextBox 4"/>
          <p:cNvSpPr txBox="1"/>
          <p:nvPr/>
        </p:nvSpPr>
        <p:spPr>
          <a:xfrm>
            <a:off x="457200" y="4754880"/>
            <a:ext cx="8229600" cy="457200"/>
          </a:xfrm>
          <a:prstGeom prst="rect">
            <a:avLst/>
          </a:prstGeom>
          <a:noFill/>
        </p:spPr>
        <p:txBody>
          <a:bodyPr wrap="square">
            <a:spAutoFit/>
          </a:bodyPr>
          <a:lstStyle/>
          <a:p>
            <a:pPr algn="ctr">
              <a:defRPr sz="2600" b="1">
                <a:solidFill>
                  <a:srgbClr val="3B82F6"/>
                </a:solidFill>
                <a:latin typeface="맑은 고딕"/>
              </a:defRPr>
            </a:pPr>
            <a:r>
              <a:t>Q &amp; 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