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차량 계량대 시스템 재구축 프로젝트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A0AEC0"/>
                </a:solidFill>
              </a:defRPr>
            </a:pPr>
            <a:r>
              <a:t> | [고객사] 귀중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목차 (Contents)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2000">
                <a:solidFill>
                  <a:srgbClr val="A0AEC0"/>
                </a:solidFill>
              </a:defRPr>
            </a:pPr>
            <a:r>
              <a:t>• 01  경영진 요약 (Executive Summary)</a:t>
            </a:r>
          </a:p>
          <a:p>
            <a:pPr>
              <a:spcBef>
                <a:spcPts val="1200"/>
              </a:spcBef>
              <a:defRPr sz="2000">
                <a:solidFill>
                  <a:srgbClr val="A0AEC0"/>
                </a:solidFill>
              </a:defRPr>
            </a:pPr>
            <a:r>
              <a:t>• 02  현재 상황과 도전 (Current Challenges)</a:t>
            </a:r>
          </a:p>
          <a:p>
            <a:pPr>
              <a:spcBef>
                <a:spcPts val="1200"/>
              </a:spcBef>
              <a:defRPr sz="2000">
                <a:solidFill>
                  <a:srgbClr val="A0AEC0"/>
                </a:solidFill>
              </a:defRPr>
            </a:pPr>
            <a:r>
              <a:t>• 03  프로젝트 목표 (Objectives)</a:t>
            </a:r>
          </a:p>
          <a:p>
            <a:pPr>
              <a:spcBef>
                <a:spcPts val="1200"/>
              </a:spcBef>
              <a:defRPr sz="2000">
                <a:solidFill>
                  <a:srgbClr val="A0AEC0"/>
                </a:solidFill>
              </a:defRPr>
            </a:pPr>
            <a:r>
              <a:t>• 04  우리의 솔루션 (Our Solution)</a:t>
            </a:r>
          </a:p>
          <a:p>
            <a:pPr>
              <a:spcBef>
                <a:spcPts val="1200"/>
              </a:spcBef>
              <a:defRPr sz="2000">
                <a:solidFill>
                  <a:srgbClr val="A0AEC0"/>
                </a:solidFill>
              </a:defRPr>
            </a:pPr>
            <a:r>
              <a:t>• 05  기술 접근법 (Technical Approach)</a:t>
            </a:r>
          </a:p>
          <a:p>
            <a:pPr>
              <a:spcBef>
                <a:spcPts val="1200"/>
              </a:spcBef>
              <a:defRPr sz="2000">
                <a:solidFill>
                  <a:srgbClr val="A0AEC0"/>
                </a:solidFill>
              </a:defRPr>
            </a:pPr>
            <a:r>
              <a:t>• 06  일정 계획 (Timeline)</a:t>
            </a:r>
          </a:p>
          <a:p>
            <a:pPr>
              <a:spcBef>
                <a:spcPts val="1200"/>
              </a:spcBef>
              <a:defRPr sz="2000">
                <a:solidFill>
                  <a:srgbClr val="A0AEC0"/>
                </a:solidFill>
              </a:defRPr>
            </a:pPr>
            <a:r>
              <a:t>• 07  투입 인력 (Team)</a:t>
            </a:r>
          </a:p>
          <a:p>
            <a:pPr>
              <a:spcBef>
                <a:spcPts val="1200"/>
              </a:spcBef>
              <a:defRPr sz="2000">
                <a:solidFill>
                  <a:srgbClr val="A0AEC0"/>
                </a:solidFill>
              </a:defRPr>
            </a:pPr>
            <a:r>
              <a:t>• 08  기대 효과 (Expected Benefits)</a:t>
            </a:r>
          </a:p>
          <a:p>
            <a:pPr>
              <a:spcBef>
                <a:spcPts val="1200"/>
              </a:spcBef>
              <a:defRPr sz="2000">
                <a:solidFill>
                  <a:srgbClr val="A0AEC0"/>
                </a:solidFill>
              </a:defRPr>
            </a:pPr>
            <a:r>
              <a:t>• 09  다음 단계 (Next Steps)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82296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디지털 전환으로 업무 효율 혁신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06B6D4"/>
                </a:solidFill>
              </a:defRPr>
            </a:pPr>
            <a:r>
              <a:t>레거시 시스템의 한계를 극복합니다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경영진 요약 (Executive Summary)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2000">
                <a:solidFill>
                  <a:srgbClr val="A0AEC0"/>
                </a:solidFill>
              </a:defRPr>
            </a:pPr>
            <a:r>
              <a:t>• 해결할 문제: 본 제안서는 귀사의 차량 계량대 시스템 현대화 프로젝트에 대한 기술 솔루션과 실행 계획을 제시합니다.</a:t>
            </a:r>
          </a:p>
          <a:p>
            <a:pPr>
              <a:spcBef>
                <a:spcPts val="1200"/>
              </a:spcBef>
              <a:defRPr sz="2000">
                <a:solidFill>
                  <a:srgbClr val="A0AEC0"/>
                </a:solidFill>
              </a:defRPr>
            </a:pPr>
            <a:r>
              <a:t>• 솔루션: 현재 15년 이상 운영된 DOS 기반 레거시 시스템을 웹 기반 관리 시스템과 모바일 앱으로 전환하여, 운전기사 대기 시간을 45분에서 20분 이하로 단축하고, 수기 전표를 100% 전자화하며, 데이터 오류율을 0.1% 이하로 개선합니다.</a:t>
            </a:r>
          </a:p>
          <a:p>
            <a:pPr>
              <a:spcBef>
                <a:spcPts val="1200"/>
              </a:spcBef>
              <a:defRPr sz="2000">
                <a:solidFill>
                  <a:srgbClr val="A0AEC0"/>
                </a:solidFill>
              </a:defRPr>
            </a:pPr>
            <a:r>
              <a:t>• 예상 기간: 약 7개월 (140일)</a:t>
            </a:r>
          </a:p>
          <a:p>
            <a:pPr>
              <a:spcBef>
                <a:spcPts val="1200"/>
              </a:spcBef>
              <a:defRPr sz="2000">
                <a:solidFill>
                  <a:srgbClr val="A0AEC0"/>
                </a:solidFill>
              </a:defRPr>
            </a:pPr>
            <a:r>
              <a:t>• 투입 공수: 14.5 M/M</a:t>
            </a:r>
          </a:p>
          <a:p>
            <a:pPr>
              <a:spcBef>
                <a:spcPts val="1200"/>
              </a:spcBef>
              <a:defRPr sz="2000">
                <a:solidFill>
                  <a:srgbClr val="A0AEC0"/>
                </a:solidFill>
              </a:defRPr>
            </a:pPr>
            <a:r>
              <a:t>• 핵심 효과: 운영 효율화: 운전기사 대기 시간 50% 이상 단축으로 현장 운영 효율 향상, 업무 자동화: 수기 전표 100% 전자화로 오류 감소 및 업무 부담 경감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200" b="1">
                <a:solidFill>
                  <a:srgbClr val="7C3AED"/>
                </a:solidFill>
              </a:defRPr>
            </a:pPr>
            <a:r>
              <a:t>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2004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현재 상황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현재의 도전과 과제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2000">
                <a:solidFill>
                  <a:srgbClr val="A0AEC0"/>
                </a:solidFill>
              </a:defRPr>
            </a:pPr>
            <a:r>
              <a:t>• 문제 1: 유지보수 인력 확보 어려움</a:t>
            </a:r>
          </a:p>
          <a:p>
            <a:pPr>
              <a:spcBef>
                <a:spcPts val="1200"/>
              </a:spcBef>
              <a:defRPr sz="2000">
                <a:solidFill>
                  <a:srgbClr val="A0AEC0"/>
                </a:solidFill>
              </a:defRPr>
            </a:pPr>
            <a:r>
              <a:t>• 문제 2: 수기 대장 작성 병행</a:t>
            </a:r>
          </a:p>
          <a:p>
            <a:pPr>
              <a:spcBef>
                <a:spcPts val="1200"/>
              </a:spcBef>
              <a:defRPr sz="2000">
                <a:solidFill>
                  <a:srgbClr val="A0AEC0"/>
                </a:solidFill>
              </a:defRPr>
            </a:pPr>
            <a:r>
              <a:t>• 문제 3: 운전기사 대기 시간 45분</a:t>
            </a:r>
          </a:p>
          <a:p>
            <a:pPr>
              <a:spcBef>
                <a:spcPts val="1200"/>
              </a:spcBef>
              <a:defRPr sz="2000">
                <a:solidFill>
                  <a:srgbClr val="A0AEC0"/>
                </a:solidFill>
              </a:defRPr>
            </a:pPr>
            <a:r>
              <a:t>• 문제 4: 실시간 현황 파악 어려움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변화하지 않으면?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2000">
                <a:solidFill>
                  <a:srgbClr val="A0AEC0"/>
                </a:solidFill>
              </a:defRPr>
            </a:pPr>
            <a:r>
              <a:t>• 시스템 장애 시 복구 불가</a:t>
            </a:r>
          </a:p>
          <a:p>
            <a:pPr>
              <a:spcBef>
                <a:spcPts val="1200"/>
              </a:spcBef>
              <a:defRPr sz="2000">
                <a:solidFill>
                  <a:srgbClr val="A0AEC0"/>
                </a:solidFill>
              </a:defRPr>
            </a:pPr>
            <a:r>
              <a:t>• 인력 이탈 시 운영 마비</a:t>
            </a:r>
          </a:p>
          <a:p>
            <a:pPr>
              <a:spcBef>
                <a:spcPts val="1200"/>
              </a:spcBef>
              <a:defRPr sz="2000">
                <a:solidFill>
                  <a:srgbClr val="A0AEC0"/>
                </a:solidFill>
              </a:defRPr>
            </a:pPr>
            <a:r>
              <a:t>• 경쟁력 저하</a:t>
            </a:r>
          </a:p>
          <a:p>
            <a:pPr>
              <a:spcBef>
                <a:spcPts val="1200"/>
              </a:spcBef>
              <a:defRPr sz="2000">
                <a:solidFill>
                  <a:srgbClr val="A0AEC0"/>
                </a:solidFill>
              </a:defRPr>
            </a:pPr>
            <a:r>
              <a:t>• 고객 불만 증가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Before vs After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74320" y="1097280"/>
            <a:ext cx="4023360" cy="5303520"/>
          </a:xfrm>
          <a:prstGeom prst="roundRect">
            <a:avLst/>
          </a:prstGeom>
          <a:solidFill>
            <a:srgbClr val="2D2D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59E0B"/>
                </a:solidFill>
              </a:defRPr>
            </a:pPr>
            <a:r>
              <a:t>현재 (AS-IS)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828800"/>
            <a:ext cx="3657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1600">
                <a:solidFill>
                  <a:srgbClr val="A0AEC0"/>
                </a:solidFill>
              </a:defRPr>
            </a:pPr>
            <a:r>
              <a:t>• 유지보수 인력 확보 어려움</a:t>
            </a:r>
          </a:p>
          <a:p>
            <a:pPr>
              <a:spcBef>
                <a:spcPts val="800"/>
              </a:spcBef>
              <a:defRPr sz="1600">
                <a:solidFill>
                  <a:srgbClr val="A0AEC0"/>
                </a:solidFill>
              </a:defRPr>
            </a:pPr>
            <a:r>
              <a:t>• 수기 대장 작성 병행</a:t>
            </a:r>
          </a:p>
          <a:p>
            <a:pPr>
              <a:spcBef>
                <a:spcPts val="800"/>
              </a:spcBef>
              <a:defRPr sz="1600">
                <a:solidFill>
                  <a:srgbClr val="A0AEC0"/>
                </a:solidFill>
              </a:defRPr>
            </a:pPr>
            <a:r>
              <a:t>• 운전기사 대기 시간 45분</a:t>
            </a:r>
          </a:p>
          <a:p>
            <a:pPr>
              <a:spcBef>
                <a:spcPts val="800"/>
              </a:spcBef>
              <a:defRPr sz="1600">
                <a:solidFill>
                  <a:srgbClr val="A0AEC0"/>
                </a:solidFill>
              </a:defRPr>
            </a:pPr>
            <a:r>
              <a:t>• 실시간 현황 파악 어려움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846320" y="1097280"/>
            <a:ext cx="4023360" cy="5303520"/>
          </a:xfrm>
          <a:prstGeom prst="roundRect">
            <a:avLst/>
          </a:prstGeom>
          <a:solidFill>
            <a:srgbClr val="2D2D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0" y="128016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0B981"/>
                </a:solidFill>
              </a:defRPr>
            </a:pPr>
            <a:r>
              <a:t>미래 (TO-BE)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0" y="1828800"/>
            <a:ext cx="3657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1600">
                <a:solidFill>
                  <a:srgbClr val="A0AEC0"/>
                </a:solidFill>
              </a:defRPr>
            </a:pPr>
            <a:r>
              <a:t>• 운전기사 평균 대기 시간 45분 → 20분 이하로 단축</a:t>
            </a:r>
          </a:p>
          <a:p>
            <a:pPr>
              <a:spcBef>
                <a:spcPts val="800"/>
              </a:spcBef>
              <a:defRPr sz="1600">
                <a:solidFill>
                  <a:srgbClr val="A0AEC0"/>
                </a:solidFill>
              </a:defRPr>
            </a:pPr>
            <a:r>
              <a:t>• 수기 전표 발행 0건 (100% 전자화)</a:t>
            </a:r>
          </a:p>
          <a:p>
            <a:pPr>
              <a:spcBef>
                <a:spcPts val="800"/>
              </a:spcBef>
              <a:defRPr sz="1600">
                <a:solidFill>
                  <a:srgbClr val="A0AEC0"/>
                </a:solidFill>
              </a:defRPr>
            </a:pPr>
            <a:r>
              <a:t>• 데이터 오류율 5% → 0.1% 이하</a:t>
            </a:r>
          </a:p>
          <a:p>
            <a:pPr>
              <a:spcBef>
                <a:spcPts val="800"/>
              </a:spcBef>
              <a:defRPr sz="1600">
                <a:solidFill>
                  <a:srgbClr val="A0AEC0"/>
                </a:solidFill>
              </a:defRPr>
            </a:pPr>
            <a:r>
              <a:t>• 시스템 가용성 99.5% 이상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200" b="1">
                <a:solidFill>
                  <a:srgbClr val="7C3AED"/>
                </a:solidFill>
              </a:defRPr>
            </a:pPr>
            <a:r>
              <a:t>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2004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프로젝트 목표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목표 및 핵심 KPI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74320" y="1188720"/>
            <a:ext cx="4114800" cy="2194560"/>
          </a:xfrm>
          <a:prstGeom prst="roundRect">
            <a:avLst/>
          </a:prstGeom>
          <a:solidFill>
            <a:srgbClr val="2D2D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A0AEC0"/>
                </a:solidFill>
              </a:defRPr>
            </a:pPr>
            <a:r>
              <a:t>운전기사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828800"/>
            <a:ext cx="3657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7C3AED"/>
                </a:solidFill>
              </a:defRPr>
            </a:pPr>
            <a:r>
              <a:t>45분 → 20분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65176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0B981"/>
                </a:solidFill>
              </a:defRPr>
            </a:pPr>
            <a:r>
              <a:t>개선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0" y="1188720"/>
            <a:ext cx="4114800" cy="2194560"/>
          </a:xfrm>
          <a:prstGeom prst="roundRect">
            <a:avLst/>
          </a:prstGeom>
          <a:solidFill>
            <a:srgbClr val="2D2D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0" y="137160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A0AEC0"/>
                </a:solidFill>
              </a:defRPr>
            </a:pPr>
            <a:r>
              <a:t>수기 전표 발행 0건 (100% 전자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0" y="1828800"/>
            <a:ext cx="3657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7C3AED"/>
                </a:solidFill>
              </a:defRPr>
            </a:pPr>
            <a:r>
              <a:t>- → 수기 전표 발행 0건 (100% 전자화)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0" y="265176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0B981"/>
                </a:solidFill>
              </a:defRPr>
            </a:pPr>
          </a:p>
        </p:txBody>
      </p:sp>
      <p:sp>
        <p:nvSpPr>
          <p:cNvPr id="11" name="Rounded Rectangle 10"/>
          <p:cNvSpPr/>
          <p:nvPr/>
        </p:nvSpPr>
        <p:spPr>
          <a:xfrm>
            <a:off x="274320" y="3657600"/>
            <a:ext cx="4114800" cy="2194560"/>
          </a:xfrm>
          <a:prstGeom prst="roundRect">
            <a:avLst/>
          </a:prstGeom>
          <a:solidFill>
            <a:srgbClr val="2D2D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384048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A0AEC0"/>
                </a:solidFill>
              </a:defRPr>
            </a:pPr>
            <a:r>
              <a:t>데이터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4297680"/>
            <a:ext cx="3657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7C3AED"/>
                </a:solidFill>
              </a:defRPr>
            </a:pPr>
            <a:r>
              <a:t>5% → 0.1%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512064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0B981"/>
                </a:solidFill>
              </a:defRPr>
            </a:pPr>
            <a:r>
              <a:t>개선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0" y="3657600"/>
            <a:ext cx="4114800" cy="2194560"/>
          </a:xfrm>
          <a:prstGeom prst="roundRect">
            <a:avLst/>
          </a:prstGeom>
          <a:solidFill>
            <a:srgbClr val="2D2D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754880" y="384048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A0AEC0"/>
                </a:solidFill>
              </a:defRPr>
            </a:pPr>
            <a:r>
              <a:t>시스템 가용성 99.5% 이상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54880" y="4297680"/>
            <a:ext cx="3657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7C3AED"/>
                </a:solidFill>
              </a:defRPr>
            </a:pPr>
            <a:r>
              <a:t>- → 시스템 가용성 99.5% 이상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54880" y="512064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0B981"/>
                </a:solidFill>
              </a:defRPr>
            </a:p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200" b="1">
                <a:solidFill>
                  <a:srgbClr val="7C3AED"/>
                </a:solidFill>
              </a:defRPr>
            </a:pPr>
            <a:r>
              <a:t>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2004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우리의 솔루션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82296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손으로 쓰던 전표가 스마트폰으로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06B6D4"/>
                </a:solidFill>
              </a:defRPr>
            </a:pPr>
            <a:r>
              <a:t>최신 기술 스택을 활용한 클라우드 기반 3-Tier 아키텍처와 엣지 컴퓨팅을 결합하여, 실시간 데이터 처리와 높은 가용성을 동시에 달성합니다. 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작업 범위 (Scope)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74320" y="1097280"/>
            <a:ext cx="4023360" cy="5303520"/>
          </a:xfrm>
          <a:prstGeom prst="roundRect">
            <a:avLst/>
          </a:prstGeom>
          <a:solidFill>
            <a:srgbClr val="2D2D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59E0B"/>
                </a:solidFill>
              </a:defRPr>
            </a:pPr>
            <a:r>
              <a:t>포함 (In-Scope)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828800"/>
            <a:ext cx="3657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1600">
                <a:solidFill>
                  <a:srgbClr val="A0AEC0"/>
                </a:solidFill>
              </a:defRPr>
            </a:pPr>
            <a:r>
              <a:t>• : 웹 기반 관리 시스템 개발 (React)</a:t>
            </a:r>
          </a:p>
          <a:p>
            <a:pPr>
              <a:spcBef>
                <a:spcPts val="800"/>
              </a:spcBef>
              <a:defRPr sz="1600">
                <a:solidFill>
                  <a:srgbClr val="A0AEC0"/>
                </a:solidFill>
              </a:defRPr>
            </a:pPr>
            <a:r>
              <a:t>• : 운전기사용 모바일 앱 개발 (Flutter, iOS/Android)</a:t>
            </a:r>
          </a:p>
          <a:p>
            <a:pPr>
              <a:spcBef>
                <a:spcPts val="800"/>
              </a:spcBef>
              <a:defRPr sz="1600">
                <a:solidFill>
                  <a:srgbClr val="A0AEC0"/>
                </a:solidFill>
              </a:defRPr>
            </a:pPr>
            <a:r>
              <a:t>• : 백엔드 API 서버 개발 (FastAPI)</a:t>
            </a:r>
          </a:p>
          <a:p>
            <a:pPr>
              <a:spcBef>
                <a:spcPts val="800"/>
              </a:spcBef>
              <a:defRPr sz="1600">
                <a:solidFill>
                  <a:srgbClr val="A0AEC0"/>
                </a:solidFill>
              </a:defRPr>
            </a:pPr>
            <a:r>
              <a:t>• : 엣지 서버 개발 및 설치 (인디케이터 연동)</a:t>
            </a:r>
          </a:p>
          <a:p>
            <a:pPr>
              <a:spcBef>
                <a:spcPts val="800"/>
              </a:spcBef>
              <a:defRPr sz="1600">
                <a:solidFill>
                  <a:srgbClr val="A0AEC0"/>
                </a:solidFill>
              </a:defRPr>
            </a:pPr>
            <a:r>
              <a:t>• : AWS 클라우드 인프라 구축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846320" y="1097280"/>
            <a:ext cx="4023360" cy="5303520"/>
          </a:xfrm>
          <a:prstGeom prst="roundRect">
            <a:avLst/>
          </a:prstGeom>
          <a:solidFill>
            <a:srgbClr val="2D2D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0" y="128016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0B981"/>
                </a:solidFill>
              </a:defRPr>
            </a:pPr>
            <a:r>
              <a:t>제외 (Out of Scope)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0" y="1828800"/>
            <a:ext cx="3657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1600">
                <a:solidFill>
                  <a:srgbClr val="A0AEC0"/>
                </a:solidFill>
              </a:defRPr>
            </a:pPr>
            <a:r>
              <a:t>• 인디케이터(저울) 장비 교체</a:t>
            </a:r>
          </a:p>
          <a:p>
            <a:pPr>
              <a:spcBef>
                <a:spcPts val="800"/>
              </a:spcBef>
              <a:defRPr sz="1600">
                <a:solidFill>
                  <a:srgbClr val="A0AEC0"/>
                </a:solidFill>
              </a:defRPr>
            </a:pPr>
            <a:r>
              <a:t>• ERP 시스템 자체 개선</a:t>
            </a:r>
          </a:p>
          <a:p>
            <a:pPr>
              <a:spcBef>
                <a:spcPts val="800"/>
              </a:spcBef>
              <a:defRPr sz="1600">
                <a:solidFill>
                  <a:srgbClr val="A0AEC0"/>
                </a:solidFill>
              </a:defRPr>
            </a:pPr>
            <a:r>
              <a:t>• 계량대 현장 시설 공사</a:t>
            </a:r>
          </a:p>
          <a:p>
            <a:pPr>
              <a:spcBef>
                <a:spcPts val="800"/>
              </a:spcBef>
              <a:defRPr sz="1600">
                <a:solidFill>
                  <a:srgbClr val="A0AEC0"/>
                </a:solidFill>
              </a:defRPr>
            </a:pPr>
            <a:r>
              <a:t>• 타 사업장 확장 (향후 별도 검토)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기술 스택 (Technology Stack)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2000">
                <a:solidFill>
                  <a:srgbClr val="A0AEC0"/>
                </a:solidFill>
              </a:defRPr>
            </a:pPr>
            <a:r>
              <a:t>• Frontend (웹): React 18, TypeScript, TailwindCSS, Recharts</a:t>
            </a:r>
          </a:p>
          <a:p>
            <a:pPr>
              <a:spcBef>
                <a:spcPts val="1200"/>
              </a:spcBef>
              <a:defRPr sz="2000">
                <a:solidFill>
                  <a:srgbClr val="A0AEC0"/>
                </a:solidFill>
              </a:defRPr>
            </a:pPr>
            <a:r>
              <a:t>• Frontend (모바일): Flutter 3, Dart, Riverpod, FCM</a:t>
            </a:r>
          </a:p>
          <a:p>
            <a:pPr>
              <a:spcBef>
                <a:spcPts val="1200"/>
              </a:spcBef>
              <a:defRPr sz="2000">
                <a:solidFill>
                  <a:srgbClr val="A0AEC0"/>
                </a:solidFill>
              </a:defRPr>
            </a:pPr>
            <a:r>
              <a:t>• Backend: FastAPI, Python 3.11, SQLAlchemy, Celery</a:t>
            </a:r>
          </a:p>
          <a:p>
            <a:pPr>
              <a:spcBef>
                <a:spcPts val="1200"/>
              </a:spcBef>
              <a:defRPr sz="2000">
                <a:solidFill>
                  <a:srgbClr val="A0AEC0"/>
                </a:solidFill>
              </a:defRPr>
            </a:pPr>
            <a:r>
              <a:t>• Database: PostgreSQL 15 (AWS RDS), Redis 7 (ElastiCache)</a:t>
            </a:r>
          </a:p>
          <a:p>
            <a:pPr>
              <a:spcBef>
                <a:spcPts val="1200"/>
              </a:spcBef>
              <a:defRPr sz="2000">
                <a:solidFill>
                  <a:srgbClr val="A0AEC0"/>
                </a:solidFill>
              </a:defRPr>
            </a:pPr>
            <a:r>
              <a:t>• Infrastructure: AWS (EC2, RDS, S3, CloudFront, VPN)</a:t>
            </a:r>
          </a:p>
          <a:p>
            <a:pPr>
              <a:spcBef>
                <a:spcPts val="1200"/>
              </a:spcBef>
              <a:defRPr sz="2000">
                <a:solidFill>
                  <a:srgbClr val="A0AEC0"/>
                </a:solidFill>
              </a:defRPr>
            </a:pPr>
            <a:r>
              <a:t>• Edge: Ubuntu 22.04, Python, pyserial, SQLite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200" b="1">
                <a:solidFill>
                  <a:srgbClr val="7C3AED"/>
                </a:solidFill>
              </a:defRPr>
            </a:pPr>
            <a:r>
              <a:t>04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2004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일정 계획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프로젝트 타임라인 (약 7개월 (140일))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2743200"/>
            <a:ext cx="2651760" cy="548640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011680"/>
            <a:ext cx="2743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요구사항 분석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474720"/>
            <a:ext cx="2743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A0AEC0"/>
                </a:solidFill>
              </a:defRPr>
            </a:pPr>
            <a:r>
              <a:t>4주</a:t>
            </a:r>
            <a:br/>
            <a:r>
              <a:t>요구사항 수집, 분석 및 PRD 확정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200400" y="2743200"/>
            <a:ext cx="2651760" cy="548640"/>
          </a:xfrm>
          <a:prstGeom prst="round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0" y="2011680"/>
            <a:ext cx="2743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설계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0" y="3474720"/>
            <a:ext cx="2743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A0AEC0"/>
                </a:solidFill>
              </a:defRPr>
            </a:pPr>
            <a:r>
              <a:t>6주</a:t>
            </a:r>
            <a:br/>
            <a:r>
              <a:t>시스템 아키텍처, DB, API, UI/UX 설계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0" y="2743200"/>
            <a:ext cx="2651760" cy="54864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0" y="2011680"/>
            <a:ext cx="2743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개발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0" y="3474720"/>
            <a:ext cx="2743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A0AEC0"/>
                </a:solidFill>
              </a:defRPr>
            </a:pPr>
            <a:r>
              <a:t>16주</a:t>
            </a:r>
            <a:br/>
            <a:r>
              <a:t>웹/모바일/엣지/연동 모듈 개발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프로젝트 팀 구성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74320" y="1097280"/>
            <a:ext cx="2743200" cy="2103120"/>
          </a:xfrm>
          <a:prstGeom prst="roundRect">
            <a:avLst/>
          </a:prstGeom>
          <a:solidFill>
            <a:srgbClr val="2D2D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79" y="1234439"/>
            <a:ext cx="24688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7C3AED"/>
                </a:solidFill>
              </a:defRPr>
            </a:pPr>
            <a:r>
              <a:t>PM (Project Manager)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79" y="1691640"/>
            <a:ext cx="2468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1명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79" y="2194560"/>
            <a:ext cx="24688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A0AEC0"/>
                </a:solidFill>
              </a:defRPr>
            </a:pPr>
            <a:r>
              <a:t>프로젝트 총괄, 일정/리스크 관리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200400" y="1097280"/>
            <a:ext cx="2743200" cy="2103120"/>
          </a:xfrm>
          <a:prstGeom prst="roundRect">
            <a:avLst/>
          </a:prstGeom>
          <a:solidFill>
            <a:srgbClr val="2D2D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337560" y="1234439"/>
            <a:ext cx="24688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7C3AED"/>
                </a:solidFill>
              </a:defRPr>
            </a:pPr>
            <a:r>
              <a:t>백엔드 개발자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337560" y="1691640"/>
            <a:ext cx="2468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2명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37560" y="2194560"/>
            <a:ext cx="24688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A0AEC0"/>
                </a:solidFill>
              </a:defRPr>
            </a:pPr>
            <a:r>
              <a:t>API 서버 개발, 엣지 서버 개발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26480" y="1097280"/>
            <a:ext cx="2743200" cy="2103120"/>
          </a:xfrm>
          <a:prstGeom prst="roundRect">
            <a:avLst/>
          </a:prstGeom>
          <a:solidFill>
            <a:srgbClr val="2D2D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63640" y="1234439"/>
            <a:ext cx="24688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7C3AED"/>
                </a:solidFill>
              </a:defRPr>
            </a:pPr>
            <a:r>
              <a:t>프론트엔드 개발자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63640" y="1691640"/>
            <a:ext cx="2468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1명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63640" y="2194560"/>
            <a:ext cx="24688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A0AEC0"/>
                </a:solidFill>
              </a:defRPr>
            </a:pPr>
            <a:r>
              <a:t>웹 대시보드 개발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74320" y="3474720"/>
            <a:ext cx="2743200" cy="2103120"/>
          </a:xfrm>
          <a:prstGeom prst="roundRect">
            <a:avLst/>
          </a:prstGeom>
          <a:solidFill>
            <a:srgbClr val="2D2D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11479" y="3611879"/>
            <a:ext cx="24688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7C3AED"/>
                </a:solidFill>
              </a:defRPr>
            </a:pPr>
            <a:r>
              <a:t>모바일 개발자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1479" y="4069080"/>
            <a:ext cx="2468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1명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1479" y="4572000"/>
            <a:ext cx="24688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A0AEC0"/>
                </a:solidFill>
              </a:defRPr>
            </a:pPr>
            <a:r>
              <a:t>iOS/Android 앱 개발 (Flutter)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200400" y="3474720"/>
            <a:ext cx="2743200" cy="2103120"/>
          </a:xfrm>
          <a:prstGeom prst="roundRect">
            <a:avLst/>
          </a:prstGeom>
          <a:solidFill>
            <a:srgbClr val="2D2D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337560" y="3611879"/>
            <a:ext cx="24688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7C3AED"/>
                </a:solidFill>
              </a:defRPr>
            </a:pPr>
            <a:r>
              <a:t>UI/UX 디자이너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337560" y="4069080"/>
            <a:ext cx="2468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1명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337560" y="4572000"/>
            <a:ext cx="24688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A0AEC0"/>
                </a:solidFill>
              </a:defRPr>
            </a:pPr>
            <a:r>
              <a:t>웹/모바일 UI/UX 디자인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126480" y="3474720"/>
            <a:ext cx="2743200" cy="2103120"/>
          </a:xfrm>
          <a:prstGeom prst="roundRect">
            <a:avLst/>
          </a:prstGeom>
          <a:solidFill>
            <a:srgbClr val="2D2D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263640" y="3611879"/>
            <a:ext cx="24688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7C3AED"/>
                </a:solidFill>
              </a:defRPr>
            </a:pPr>
            <a:r>
              <a:t>QA 엔지니어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63640" y="4069080"/>
            <a:ext cx="2468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1명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63640" y="4572000"/>
            <a:ext cx="24688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A0AEC0"/>
                </a:solidFill>
              </a:defRPr>
            </a:pPr>
            <a:r>
              <a:t>테스트 계획/수행, 품질 관리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59436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06B6D4"/>
                </a:solidFill>
              </a:defRPr>
            </a:pPr>
            <a:r>
              <a:t>총 공수: 14.5 Man-Months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리스크 관리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74320" y="1097280"/>
            <a:ext cx="8595360" cy="914400"/>
          </a:xfrm>
          <a:prstGeom prst="roundRect">
            <a:avLst/>
          </a:prstGeom>
          <a:solidFill>
            <a:srgbClr val="2D2D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18872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6B6D4"/>
                </a:solidFill>
              </a:defRPr>
            </a:pPr>
            <a:r>
              <a:t>MEDIUM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11887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t>B사 인디케이터 프로토콜 문서 미확보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1554480"/>
            <a:ext cx="749807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A0AEC0"/>
                </a:solidFill>
              </a:defRPr>
            </a:pPr>
            <a:r>
              <a:t>→ A사 프로토콜 기반 선 개발 후 B사 대응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" y="2103120"/>
            <a:ext cx="8595360" cy="914400"/>
          </a:xfrm>
          <a:prstGeom prst="roundRect">
            <a:avLst/>
          </a:prstGeom>
          <a:solidFill>
            <a:srgbClr val="2D2D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219456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6B6D4"/>
                </a:solidFill>
              </a:defRPr>
            </a:pPr>
            <a:r>
              <a:t>MEDIUM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219456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t>현장 네트워크 불안정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2560320"/>
            <a:ext cx="749807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A0AEC0"/>
                </a:solidFill>
              </a:defRPr>
            </a:pPr>
            <a:r>
              <a:t>→ 엣지 서버 로컬 버퍼링으로 데이터 보호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74320" y="3108960"/>
            <a:ext cx="8595360" cy="914400"/>
          </a:xfrm>
          <a:prstGeom prst="roundRect">
            <a:avLst/>
          </a:prstGeom>
          <a:solidFill>
            <a:srgbClr val="2D2D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5760" y="320040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6B6D4"/>
                </a:solidFill>
              </a:defRPr>
            </a:pPr>
            <a:r>
              <a:t>MEDIUM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88720" y="320040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t>ERP 연동 테스트 환경 접근 지연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88720" y="3566160"/>
            <a:ext cx="749807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A0AEC0"/>
                </a:solidFill>
              </a:defRPr>
            </a:pPr>
            <a:r>
              <a:t>→ Mock 서버로 선 개발 후 실환경 테스트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74320" y="4114800"/>
            <a:ext cx="8595360" cy="914400"/>
          </a:xfrm>
          <a:prstGeom prst="roundRect">
            <a:avLst/>
          </a:prstGeom>
          <a:solidFill>
            <a:srgbClr val="2D2D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5760" y="420624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6B6D4"/>
                </a:solidFill>
              </a:defRPr>
            </a:pPr>
            <a:r>
              <a:t>LOW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88720" y="420624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t>iOS 앱 심사 지연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88720" y="4572000"/>
            <a:ext cx="749807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A0AEC0"/>
                </a:solidFill>
              </a:defRPr>
            </a:pPr>
            <a:r>
              <a:t>→ 사전 가이드라인 준수로 심사 통과율 제고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74320" y="5120640"/>
            <a:ext cx="8595360" cy="914400"/>
          </a:xfrm>
          <a:prstGeom prst="roundRect">
            <a:avLst/>
          </a:prstGeom>
          <a:solidFill>
            <a:srgbClr val="2D2D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5760" y="521208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6B6D4"/>
                </a:solidFill>
              </a:defRPr>
            </a:pPr>
            <a:r>
              <a:t>LOW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88720" y="521208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t>고령 사용자 앱 사용성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88720" y="5577840"/>
            <a:ext cx="749807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A0AEC0"/>
                </a:solidFill>
              </a:defRPr>
            </a:pPr>
            <a:r>
              <a:t>→ 큰 글씨, 간단한 UI, SMS 알림 병행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82296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현재 → 운전기사 대기 시간 50% 이상 단축으로 현장 운영 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06B6D4"/>
                </a:solidFill>
              </a:defRPr>
            </a:pPr>
            <a:r>
              <a:t>운영 효율화 개선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다음 단계 (Next Steps)</a:t>
            </a:r>
          </a:p>
        </p:txBody>
      </p:sp>
      <p:sp>
        <p:nvSpPr>
          <p:cNvPr id="3" name="Oval 2"/>
          <p:cNvSpPr/>
          <p:nvPr/>
        </p:nvSpPr>
        <p:spPr>
          <a:xfrm>
            <a:off x="457200" y="137160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463040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146304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FFFF"/>
                </a:solidFill>
              </a:defRPr>
            </a:pPr>
            <a:r>
              <a:t>본 제안서 검토 및 질의응답 (Q&amp;A 세션)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0" y="146304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600">
                <a:solidFill>
                  <a:srgbClr val="06B6D4"/>
                </a:solidFill>
              </a:defRPr>
            </a:pPr>
          </a:p>
        </p:txBody>
      </p:sp>
      <p:sp>
        <p:nvSpPr>
          <p:cNvPr id="7" name="Oval 6"/>
          <p:cNvSpPr/>
          <p:nvPr/>
        </p:nvSpPr>
        <p:spPr>
          <a:xfrm>
            <a:off x="457200" y="237744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468880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246888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FFFF"/>
                </a:solidFill>
              </a:defRPr>
            </a:pPr>
            <a:r>
              <a:t>제안 발표 (PT)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0" y="246888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600">
                <a:solidFill>
                  <a:srgbClr val="06B6D4"/>
                </a:solidFill>
              </a:defRPr>
            </a:pPr>
          </a:p>
        </p:txBody>
      </p:sp>
      <p:sp>
        <p:nvSpPr>
          <p:cNvPr id="11" name="Oval 10"/>
          <p:cNvSpPr/>
          <p:nvPr/>
        </p:nvSpPr>
        <p:spPr>
          <a:xfrm>
            <a:off x="457200" y="338328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3474720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88720" y="34747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FFFF"/>
                </a:solidFill>
              </a:defRPr>
            </a:pPr>
            <a:r>
              <a:t>기술 협의 및 상세 범위 조정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0" y="347472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600">
                <a:solidFill>
                  <a:srgbClr val="06B6D4"/>
                </a:solidFill>
              </a:defRPr>
            </a:pPr>
          </a:p>
        </p:txBody>
      </p:sp>
      <p:sp>
        <p:nvSpPr>
          <p:cNvPr id="15" name="Oval 14"/>
          <p:cNvSpPr/>
          <p:nvPr/>
        </p:nvSpPr>
        <p:spPr>
          <a:xfrm>
            <a:off x="457200" y="43891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4480560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88720" y="448056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FFFF"/>
                </a:solidFill>
              </a:defRPr>
            </a:pPr>
            <a:r>
              <a:t>계약 체결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0" y="448056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600">
                <a:solidFill>
                  <a:srgbClr val="06B6D4"/>
                </a:solidFill>
              </a:defRPr>
            </a:pPr>
          </a:p>
        </p:txBody>
      </p:sp>
      <p:sp>
        <p:nvSpPr>
          <p:cNvPr id="19" name="Oval 18"/>
          <p:cNvSpPr/>
          <p:nvPr/>
        </p:nvSpPr>
        <p:spPr>
          <a:xfrm>
            <a:off x="457200" y="539496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200" y="5486400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88720" y="548640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FFFF"/>
                </a:solidFill>
              </a:defRPr>
            </a:pPr>
            <a:r>
              <a:t>프로젝트 킥오프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0" y="548640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600">
                <a:solidFill>
                  <a:srgbClr val="06B6D4"/>
                </a:solidFill>
              </a:defRPr>
            </a:p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600" b="1">
                <a:solidFill>
                  <a:srgbClr val="7C3AED"/>
                </a:solidFill>
              </a:defRPr>
            </a:pPr>
            <a:r>
              <a:t>감사합니다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A0AEC0"/>
                </a:solidFill>
              </a:defRPr>
            </a:pPr>
            <a:r>
              <a:t>Q&amp;A | 지금 바로 함께 시작하세요!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