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부산 스마트 계량 시스템 구축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</a:defRPr>
            </a:pPr>
            <a:r>
              <a:t>제안서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206240"/>
            <a:ext cx="8229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AEC0"/>
                </a:solidFill>
              </a:defRPr>
            </a:pPr>
            <a:r>
              <a:t>제안일: 2026-01-27   |   동국씨엠 귀중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EC0"/>
                </a:solidFill>
              </a:defRPr>
            </a:pPr>
            <a:r>
              <a:t>제안사: 동국시스템즈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784848"/>
            <a:ext cx="91440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목차 (Contents)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경영진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59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왜 지금 변화가 필요한가?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현재 문제점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59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변화의 필요성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프로젝트 목표 및 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솔루션 개요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918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2918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작업 범위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2918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32918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시스템 아키텍처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기술 스택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59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프로젝트 일정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마일스톤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59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투입 인력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2120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2120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공수 및 예산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2120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59" y="52120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리스크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8521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8521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기대 효과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58521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59" y="58521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다음 단계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경영진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8595360" cy="86868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해결할 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6304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</a:defRPr>
            </a:pPr>
            <a:r>
              <a:t>RFID·종이 계량표 기반 수작업 계량 프로세스로 인한 안전 위험, 처리 지연, 운영 비효율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377440"/>
            <a:ext cx="8595360" cy="86868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</a:defRPr>
            </a:pPr>
            <a:r>
              <a:t>우리의 솔루션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6888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</a:defRPr>
            </a:pPr>
            <a:r>
              <a:t>LPR+AI 차량번호 자동인식, 모바일 APP, 전자 계량표를 통합한 스마트 계량 시스템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383280"/>
            <a:ext cx="8595360" cy="86868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예상 기간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47472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</a:defRPr>
            </a:pPr>
            <a:r>
              <a:t>7개월 (2026년 5월 ~ 11월, 안정화 포함)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389120"/>
            <a:ext cx="8595360" cy="86868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투입 공수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48056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</a:defRPr>
            </a:pPr>
            <a:r>
              <a:t>20.8 Man-Months (버퍼 포함 25.0 M/M)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5394960"/>
            <a:ext cx="8595360" cy="86868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핵심 기대효과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4864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</a:defRPr>
            </a:pPr>
            <a:r>
              <a:t>계량 처리 시간 30% 단축 및 종이 계량표 100% 제거(Paperless)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9E0B"/>
                </a:solidFill>
              </a:defRPr>
            </a:pPr>
            <a:r>
              <a:t>왜 지금 해야 하는가?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468880"/>
            <a:ext cx="8229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A0AEC0"/>
                </a:solidFill>
              </a:defRPr>
            </a:pPr>
            <a:r>
              <a:t>  •  매일 반복되는 안전 위험 — 운전자가 차량에서 내려 종이 계량표를 수령</a:t>
            </a:r>
          </a:p>
          <a:p>
            <a:pPr>
              <a:spcBef>
                <a:spcPts val="1600"/>
              </a:spcBef>
              <a:defRPr sz="2000">
                <a:solidFill>
                  <a:srgbClr val="A0AEC0"/>
                </a:solidFill>
              </a:defRPr>
            </a:pPr>
            <a:r>
              <a:t>  •  다중 배차 시 복수 RFID 카드 관리의 현장 혼선</a:t>
            </a:r>
          </a:p>
          <a:p>
            <a:pPr>
              <a:spcBef>
                <a:spcPts val="1600"/>
              </a:spcBef>
              <a:defRPr sz="2000">
                <a:solidFill>
                  <a:srgbClr val="A0AEC0"/>
                </a:solidFill>
              </a:defRPr>
            </a:pPr>
            <a:r>
              <a:t>  •  복잡한 다차 계량에서의 오류는 더 이상 미룰 수 없는 과제</a:t>
            </a:r>
          </a:p>
          <a:p>
            <a:pPr>
              <a:spcBef>
                <a:spcPts val="1600"/>
              </a:spcBef>
              <a:defRPr sz="2000">
                <a:solidFill>
                  <a:srgbClr val="A0AEC0"/>
                </a:solidFill>
              </a:defRPr>
            </a:pPr>
            <a:r>
              <a:t>  •  업계 스마트 팩토리 전환 흐름에서 뒤처지기 전에,</a:t>
            </a:r>
          </a:p>
          <a:p>
            <a:pPr>
              <a:spcBef>
                <a:spcPts val="1600"/>
              </a:spcBef>
              <a:defRPr sz="2000">
                <a:solidFill>
                  <a:srgbClr val="A0AEC0"/>
                </a:solidFill>
              </a:defRPr>
            </a:pPr>
            <a:r>
              <a:t>  •  지금이 계량 프로세스를 혁신할 최적의 시점입니다.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현재의 도전과 고통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안전 위험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288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운전자가 차량에서 하차하여 종이 계량표를 수취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42316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0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운영 비효율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803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RFID 카드 태깅 → 종이 출력 → 수취의 수작업 절차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47472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3611879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다중 배차 혼선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319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동일 차량에 복수 RFID 카드를 사용하는 불편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526279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4663440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0915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6177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계량 오류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83479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복잡한 1차/2차/3차 계량 시 수동 처리 에러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557784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5715000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760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6692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문의 집중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60350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계량대 문제 발생 시 특정 부서에 전화 집중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문제의 비즈니스 영향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228600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06040" y="1280160"/>
            <a:ext cx="283464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0" y="1280160"/>
            <a:ext cx="338328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문제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325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현상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비즈니스 영향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920240"/>
            <a:ext cx="2286000" cy="8229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06040" y="1920240"/>
            <a:ext cx="2834640" cy="8229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0" y="1920240"/>
            <a:ext cx="3383280" cy="8229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0574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안전 위험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0574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운전자가 차량에서 하차하여 종이 계량표를 수취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057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대형 차량 사이에서의 보행 위험, 산업재해 가능성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834640"/>
            <a:ext cx="2286000" cy="822960"/>
          </a:xfrm>
          <a:prstGeom prst="roundRect">
            <a:avLst/>
          </a:prstGeom>
          <a:solidFill>
            <a:srgbClr val="3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06040" y="2834640"/>
            <a:ext cx="2834640" cy="822960"/>
          </a:xfrm>
          <a:prstGeom prst="roundRect">
            <a:avLst/>
          </a:prstGeom>
          <a:solidFill>
            <a:srgbClr val="3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0" y="2834640"/>
            <a:ext cx="3383280" cy="822960"/>
          </a:xfrm>
          <a:prstGeom prst="roundRect">
            <a:avLst/>
          </a:prstGeom>
          <a:solidFill>
            <a:srgbClr val="3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71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운영 비효율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971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RFID 카드 태깅 → 종이 출력 → 수취의 수작업 절차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971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계량 1건당 불필요한 대기 시간 발생, 일일 처리량 제한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749039"/>
            <a:ext cx="2286000" cy="8229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606040" y="3749039"/>
            <a:ext cx="2834640" cy="8229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0" y="3749039"/>
            <a:ext cx="3383280" cy="8229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8862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다중 배차 혼선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3886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동일 차량에 복수 RFID 카드를 사용하는 불편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886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카드 분실·혼동으로 인한 오배차, 재처리 발생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4663440"/>
            <a:ext cx="2286000" cy="822960"/>
          </a:xfrm>
          <a:prstGeom prst="roundRect">
            <a:avLst/>
          </a:prstGeom>
          <a:solidFill>
            <a:srgbClr val="3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606040" y="4663440"/>
            <a:ext cx="2834640" cy="822960"/>
          </a:xfrm>
          <a:prstGeom prst="roundRect">
            <a:avLst/>
          </a:prstGeom>
          <a:solidFill>
            <a:srgbClr val="3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0" y="4663440"/>
            <a:ext cx="3383280" cy="822960"/>
          </a:xfrm>
          <a:prstGeom prst="roundRect">
            <a:avLst/>
          </a:prstGeom>
          <a:solidFill>
            <a:srgbClr val="3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8006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계량 오류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4800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복잡한 1차/2차/3차 계량 시 수동 처리 에러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4800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중량 데이터 오류, 재계량 불가로 인한 정산 분쟁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5577840"/>
            <a:ext cx="2286000" cy="8229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606040" y="5577840"/>
            <a:ext cx="2834640" cy="8229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0" y="5577840"/>
            <a:ext cx="3383280" cy="8229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715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문의 집중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5715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계량대 문제 발생 시 특정 부서에 전화 집중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5715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담당 부서 업무 과중, 현장 대응 지연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변화의 필요성: Before vs After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4023360" cy="50292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4864" cy="5029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</a:defRPr>
            </a:pPr>
            <a:r>
              <a:t>BEFORE (현재)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>
                <a:solidFill>
                  <a:srgbClr val="A0AEC0"/>
                </a:solidFill>
              </a:defRPr>
            </a:pPr>
            <a:r>
              <a:t>  •  RFID 카드 태깅 + 종이 계량표 수취</a:t>
            </a:r>
          </a:p>
          <a:p>
            <a:pPr>
              <a:spcBef>
                <a:spcPts val="1200"/>
              </a:spcBef>
              <a:defRPr sz="1500">
                <a:solidFill>
                  <a:srgbClr val="A0AEC0"/>
                </a:solidFill>
              </a:defRPr>
            </a:pPr>
            <a:r>
              <a:t>  •  운전자 하차 필요 → 안전 위험</a:t>
            </a:r>
          </a:p>
          <a:p>
            <a:pPr>
              <a:spcBef>
                <a:spcPts val="1200"/>
              </a:spcBef>
              <a:defRPr sz="1500">
                <a:solidFill>
                  <a:srgbClr val="A0AEC0"/>
                </a:solidFill>
              </a:defRPr>
            </a:pPr>
            <a:r>
              <a:t>  •  다중 배차 시 복수 RFID 관리</a:t>
            </a:r>
          </a:p>
          <a:p>
            <a:pPr>
              <a:spcBef>
                <a:spcPts val="1200"/>
              </a:spcBef>
              <a:defRPr sz="1500">
                <a:solidFill>
                  <a:srgbClr val="A0AEC0"/>
                </a:solidFill>
              </a:defRPr>
            </a:pPr>
            <a:r>
              <a:t>  •  1차/2차/3차 수동 계량 오류</a:t>
            </a:r>
          </a:p>
          <a:p>
            <a:pPr>
              <a:spcBef>
                <a:spcPts val="1200"/>
              </a:spcBef>
              <a:defRPr sz="1500">
                <a:solidFill>
                  <a:srgbClr val="A0AEC0"/>
                </a:solidFill>
              </a:defRPr>
            </a:pPr>
            <a:r>
              <a:t>  •  재계량 불가능한 구조</a:t>
            </a:r>
          </a:p>
          <a:p>
            <a:pPr>
              <a:spcBef>
                <a:spcPts val="1200"/>
              </a:spcBef>
              <a:defRPr sz="1500">
                <a:solidFill>
                  <a:srgbClr val="A0AEC0"/>
                </a:solidFill>
              </a:defRPr>
            </a:pPr>
            <a:r>
              <a:t>  •  특정 부서에 문의 전화 집중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371600"/>
            <a:ext cx="4023360" cy="50292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0" y="1371600"/>
            <a:ext cx="54864" cy="502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</a:defRPr>
            </a:pPr>
            <a:r>
              <a:t>AFTER (미래)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9456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>
                <a:solidFill>
                  <a:srgbClr val="A0AEC0"/>
                </a:solidFill>
              </a:defRPr>
            </a:pPr>
            <a:r>
              <a:t>  •  LPR 자동인식 → 차에서 내릴 필요 없음</a:t>
            </a:r>
          </a:p>
          <a:p>
            <a:pPr>
              <a:spcBef>
                <a:spcPts val="1200"/>
              </a:spcBef>
              <a:defRPr sz="1500">
                <a:solidFill>
                  <a:srgbClr val="A0AEC0"/>
                </a:solidFill>
              </a:defRPr>
            </a:pPr>
            <a:r>
              <a:t>  •  모바일 APP으로 배차·계량·계량표 확인</a:t>
            </a:r>
          </a:p>
          <a:p>
            <a:pPr>
              <a:spcBef>
                <a:spcPts val="1200"/>
              </a:spcBef>
              <a:defRPr sz="1500">
                <a:solidFill>
                  <a:srgbClr val="A0AEC0"/>
                </a:solidFill>
              </a:defRPr>
            </a:pPr>
            <a:r>
              <a:t>  •  전자 계량표 카카오톡/SMS 공유</a:t>
            </a:r>
          </a:p>
          <a:p>
            <a:pPr>
              <a:spcBef>
                <a:spcPts val="1200"/>
              </a:spcBef>
              <a:defRPr sz="1500">
                <a:solidFill>
                  <a:srgbClr val="A0AEC0"/>
                </a:solidFill>
              </a:defRPr>
            </a:pPr>
            <a:r>
              <a:t>  •  자동화+재계량 기능으로 오류 50% 감소</a:t>
            </a:r>
          </a:p>
          <a:p>
            <a:pPr>
              <a:spcBef>
                <a:spcPts val="1200"/>
              </a:spcBef>
              <a:defRPr sz="1500">
                <a:solidFill>
                  <a:srgbClr val="A0AEC0"/>
                </a:solidFill>
              </a:defRPr>
            </a:pPr>
            <a:r>
              <a:t>  •  실시간 대시보드로 현황 파악</a:t>
            </a:r>
          </a:p>
          <a:p>
            <a:pPr>
              <a:spcBef>
                <a:spcPts val="1200"/>
              </a:spcBef>
              <a:defRPr sz="1500">
                <a:solidFill>
                  <a:srgbClr val="A0AEC0"/>
                </a:solidFill>
              </a:defRPr>
            </a:pPr>
            <a:r>
              <a:t>  •  문의 유형별 담당 부서 직접 연결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프로젝트 목표 및 KPI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4206240" cy="22860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42062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</a:defRPr>
            </a:pPr>
            <a:r>
              <a:t>핵심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LPR+AI 기반</a:t>
            </a:r>
            <a:br/>
            <a:r>
              <a:t>무인 계량 자동화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인식률 95%+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1371600"/>
            <a:ext cx="4206240" cy="22860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59" y="1371600"/>
            <a:ext cx="42062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정량 목표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9202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계량 처리</a:t>
            </a:r>
            <a:br/>
            <a:r>
              <a:t>효율화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처리시간 30% 단축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931920"/>
            <a:ext cx="4206240" cy="22860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4206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</a:defRPr>
            </a:pPr>
            <a:r>
              <a:t>정량 목표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59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완전한</a:t>
            </a:r>
            <a:br/>
            <a:r>
              <a:t>Paperless 전환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종이 100% 제거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59" y="3931920"/>
            <a:ext cx="4206240" cy="22860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59" y="3931920"/>
            <a:ext cx="42062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정성 목표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480559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사용자 편의성</a:t>
            </a:r>
            <a:br/>
            <a:r>
              <a:t>안전성 향상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만족도 80%+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차량이 계량대에 들어서는 순간부터</a:t>
            </a:r>
            <a:br/>
            <a:r>
              <a:t>전자 계량표가 모바일로 도착하는 순간까지,</a:t>
            </a:r>
            <a:br/>
            <a:r>
              <a:t>모든 과정을 자동화합니다.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926080"/>
            <a:ext cx="8229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3474720"/>
            <a:ext cx="155448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611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차량 진입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36576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</a:defRPr>
            </a:pPr>
            <a: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79" y="3474720"/>
            <a:ext cx="1554480" cy="9144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3611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LPR 자동인식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36576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</a:defRPr>
            </a:pPr>
            <a: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3474720"/>
            <a:ext cx="155448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79" y="3611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중량 자동 측정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36576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</a:defRPr>
            </a:pPr>
            <a: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399" y="3474720"/>
            <a:ext cx="1554480" cy="9144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39" y="3611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전자 계량표 발급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599" y="36576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</a:defRPr>
            </a:pPr>
            <a: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59" y="3474720"/>
            <a:ext cx="155448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199" y="3611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모바일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EC0"/>
                </a:solidFill>
              </a:defRPr>
            </a:pPr>
            <a:r>
              <a:t>운전자는 차에서 내릴 필요가 없습니다.</a:t>
            </a:r>
            <a:br/>
            <a:r>
              <a:t>관리자는 모든 현황을 실시간으로 파악합니다.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작업 범위 (Scope)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530352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포함 범위 (In-Scope)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LPR+AI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스마트 계량 웹 시스템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계량관리 모바일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계량대 C/S 프로그램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97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976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전자 계량표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920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모바일 OTP 인증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86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864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H/W 설치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0807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인프라 구축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1280160"/>
            <a:ext cx="310896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제외 범위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920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타 공장(포항 등) 계량 시스템 구축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9260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ERP 시스템 전체 교체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931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계량대 물리적 구조 변경(토목 공사)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937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937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기존 터치스크린 방식 완전 폐기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시스템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137160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LPR</a:t>
            </a:r>
            <a:br/>
            <a:r>
              <a:t>카메라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280160"/>
            <a:ext cx="137160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3258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레이더</a:t>
            </a:r>
            <a:br/>
            <a:r>
              <a:t>센서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280160"/>
            <a:ext cx="137160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3258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차량</a:t>
            </a:r>
            <a:br/>
            <a:r>
              <a:t>검지기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280160"/>
            <a:ext cx="182880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3258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계량대 PC</a:t>
            </a:r>
            <a:br/>
            <a:r>
              <a:t>(C/S)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280160"/>
            <a:ext cx="1645920" cy="640080"/>
          </a:xfrm>
          <a:prstGeom prst="roundRect">
            <a:avLst/>
          </a:prstGeom>
          <a:solidFill>
            <a:srgbClr val="3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13258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EC0"/>
                </a:solidFill>
              </a:defRPr>
            </a:pPr>
            <a:r>
              <a:t>인디게이터</a:t>
            </a:r>
            <a:br/>
            <a:r>
              <a:t>(저울)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2194560"/>
            <a:ext cx="1645920" cy="640080"/>
          </a:xfrm>
          <a:prstGeom prst="roundRect">
            <a:avLst/>
          </a:prstGeom>
          <a:solidFill>
            <a:srgbClr val="3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9" y="2240279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EC0"/>
                </a:solidFill>
              </a:defRPr>
            </a:pPr>
            <a:r>
              <a:t>전광판</a:t>
            </a:r>
            <a:br/>
            <a:r>
              <a:t>OTP/안내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108960"/>
            <a:ext cx="1645920" cy="640080"/>
          </a:xfrm>
          <a:prstGeom prst="roundRect">
            <a:avLst/>
          </a:prstGeom>
          <a:solidFill>
            <a:srgbClr val="3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3154679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EC0"/>
                </a:solidFill>
              </a:defRPr>
            </a:pPr>
            <a:r>
              <a:t>자동</a:t>
            </a:r>
            <a:br/>
            <a:r>
              <a:t>차단기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6B6D4"/>
                </a:solidFill>
              </a:defRPr>
            </a:pPr>
            <a:r>
              <a:t>▼  HTTPS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2651760"/>
            <a:ext cx="4572000" cy="5486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6974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Nginx (Reverse Proxy / SSL)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474720"/>
            <a:ext cx="155448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52043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Spring Boot</a:t>
            </a:r>
            <a:br/>
            <a:r>
              <a:t>REST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3474720"/>
            <a:ext cx="1554480" cy="731520"/>
          </a:xfrm>
          <a:prstGeom prst="roundRect">
            <a:avLst/>
          </a:prstGeom>
          <a:solidFill>
            <a:srgbClr val="3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0" y="352043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Kafka</a:t>
            </a:r>
            <a:br/>
            <a:r>
              <a:t>Broker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49039" y="3474720"/>
            <a:ext cx="1554480" cy="731520"/>
          </a:xfrm>
          <a:prstGeom prst="roundRect">
            <a:avLst/>
          </a:prstGeom>
          <a:solidFill>
            <a:srgbClr val="3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79" y="352043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 서버</a:t>
            </a:r>
            <a:br/>
            <a:r>
              <a:t>LPR검증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4480560"/>
            <a:ext cx="155448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5262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PostgreSQL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11680" y="4480560"/>
            <a:ext cx="1554480" cy="6400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20" y="45262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Redis</a:t>
            </a:r>
            <a:br/>
            <a:r>
              <a:t>(OTP)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49039" y="4480560"/>
            <a:ext cx="1554480" cy="640080"/>
          </a:xfrm>
          <a:prstGeom prst="roundRect">
            <a:avLst/>
          </a:prstGeom>
          <a:solidFill>
            <a:srgbClr val="3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79" y="45262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File Store</a:t>
            </a:r>
            <a:br/>
            <a:r>
              <a:t>(계량표)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5394960"/>
            <a:ext cx="201168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440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React Web App</a:t>
            </a:r>
            <a:br/>
            <a:r>
              <a:t>(관리자 웹)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60320" y="5394960"/>
            <a:ext cx="2011680" cy="7315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5440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Flutter Mobile</a:t>
            </a:r>
            <a:br/>
            <a:r>
              <a:t>(계량관리 APP)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0" y="5394960"/>
            <a:ext cx="201168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59" y="5440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카카오 알림톡</a:t>
            </a:r>
            <a:br/>
            <a:r>
              <a:t>FCM Push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기술 스택 (Technology Stack)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4206240" cy="11887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4864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</a:defRPr>
            </a:pPr>
            <a:r>
              <a:t>Frontend (Web)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React 18 + TypeScript + Ant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풍부한 엔터프라이즈 컴포넌트로 관리 화면 빠른 구축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1280160"/>
            <a:ext cx="4206240" cy="11887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59" y="1280160"/>
            <a:ext cx="54864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</a:defRPr>
            </a:pPr>
            <a:r>
              <a:t>Frontend (Mobile)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6459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Flutter 3.x + Dart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iOS/Android 단일 코드베이스로 개발비 절감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606039"/>
            <a:ext cx="4206240" cy="11887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606039"/>
            <a:ext cx="54864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974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7179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Spring Boot 3.2 + Java 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37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엔터프라이즈 검증된 프레임워크, 장기 지원(LTS)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59" y="2606039"/>
            <a:ext cx="4206240" cy="11887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59" y="2606039"/>
            <a:ext cx="54864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26974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Desktop (C/S)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297179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C# .NET 8 WinForms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337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RS-232C 시리얼 통신 및 TCP/IP 장비 연동에 최적화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3931920"/>
            <a:ext cx="4206240" cy="11887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931920"/>
            <a:ext cx="54864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0233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</a:defRPr>
            </a:pPr>
            <a:r>
              <a:t>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PostgreSQL 16 + Redis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ACID 트랜잭션으로 계량 데이터 정합성 보장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59" y="3931920"/>
            <a:ext cx="4206240" cy="11887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9159" y="3931920"/>
            <a:ext cx="54864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40233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</a:defRPr>
            </a:pPr>
            <a:r>
              <a:t>AI/LPR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LPR 솔루션 + TensorFlow/ONNX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1차 하드웨어 인식 + AI 2차 검증으로 95% 이상 인식률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5257800"/>
            <a:ext cx="4206240" cy="11887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5257800"/>
            <a:ext cx="54864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Infrastructure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623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Docker + Nginx + Jenkins + Kafka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989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컨테이너화로 배포 일관성, 비동기 이벤트 처리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09159" y="5257800"/>
            <a:ext cx="4206240" cy="11887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09159" y="5257800"/>
            <a:ext cx="54864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9204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Monitoring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2040" y="5623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Prometheus + Grafana + ELK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5989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실시간 성능 모니터링 및 중앙 로그 관리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프로젝트 일정 (26주, 7개월)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0AEC0"/>
                </a:solidFill>
              </a:defRPr>
            </a:pPr>
            <a:r>
              <a:t>5월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280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0AEC0"/>
                </a:solidFill>
              </a:defRPr>
            </a:pPr>
            <a:r>
              <a:t>6월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39" y="1280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0AEC0"/>
                </a:solidFill>
              </a:defRPr>
            </a:pPr>
            <a:r>
              <a:t>7월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280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0AEC0"/>
                </a:solidFill>
              </a:defRPr>
            </a:pPr>
            <a:r>
              <a:t>8월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280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0AEC0"/>
                </a:solidFill>
              </a:defRPr>
            </a:pPr>
            <a:r>
              <a:t>9월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280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0AEC0"/>
                </a:solidFill>
              </a:defRPr>
            </a:pPr>
            <a:r>
              <a:t>10월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280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0AEC0"/>
                </a:solidFill>
              </a:defRPr>
            </a:pPr>
            <a:r>
              <a:t>11월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9144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1097280" y="1828800"/>
            <a:ext cx="109728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1856231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분석/설계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9144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2194560" y="2331720"/>
            <a:ext cx="54864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79" y="235915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인프라 구축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9144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2194560" y="2834640"/>
            <a:ext cx="3291839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0279" y="2862072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백엔드 개발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91440" y="3337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2743200" y="3337560"/>
            <a:ext cx="2743200" cy="3657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8920" y="336499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프론트엔드(Web)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9144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2743200" y="3840480"/>
            <a:ext cx="274320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38679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모바일(Flutter)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-91440" y="4343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2743200" y="4343400"/>
            <a:ext cx="274320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43708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계량대(C/S)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9144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</a:p>
        </p:txBody>
      </p:sp>
      <p:sp>
        <p:nvSpPr>
          <p:cNvPr id="31" name="Rounded Rectangle 30"/>
          <p:cNvSpPr/>
          <p:nvPr/>
        </p:nvSpPr>
        <p:spPr>
          <a:xfrm>
            <a:off x="3291839" y="4846320"/>
            <a:ext cx="219456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59" y="48737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H/W 설치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91440" y="5349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</a:p>
        </p:txBody>
      </p:sp>
      <p:sp>
        <p:nvSpPr>
          <p:cNvPr id="34" name="Rounded Rectangle 33"/>
          <p:cNvSpPr/>
          <p:nvPr/>
        </p:nvSpPr>
        <p:spPr>
          <a:xfrm>
            <a:off x="4937760" y="5349240"/>
            <a:ext cx="1097280" cy="3657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3480" y="5376672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통합 테스트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-91440" y="5852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</a:p>
        </p:txBody>
      </p:sp>
      <p:sp>
        <p:nvSpPr>
          <p:cNvPr id="37" name="Rounded Rectangle 36"/>
          <p:cNvSpPr/>
          <p:nvPr/>
        </p:nvSpPr>
        <p:spPr>
          <a:xfrm>
            <a:off x="6583680" y="5852160"/>
            <a:ext cx="21945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58795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적용/안정화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0"/>
                </a:solidFill>
              </a:defRPr>
            </a:pPr>
            <a:r>
              <a:t>2026년 5월 ~ 11월  |  총 26주  |  월 1회 고객 점검회의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주요 마일스톤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50876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M1: 분석/설계 완료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업무 분석서, 설계서, 화면 설계서, DB 설계서, API 명세서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</a:defRPr>
            </a:pPr>
            <a:r>
              <a:t>2026-05-29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42316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256032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243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514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M2: 개발 완료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80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API 서버, 웹 시스템, 모바일 APP, C/S 프로그램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</a:defRPr>
            </a:pPr>
            <a:r>
              <a:t>2026-08-21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47472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7200" y="3611879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75887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M3: H/W 설치 완료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LPR/전광판/차단기/센서 설치, 네트워크 구성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6118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</a:defRPr>
            </a:pPr>
            <a:r>
              <a:t>2026-08-21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4526279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46634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727447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6177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M4: 통합 테스트 완료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9834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통합 테스트 결과서, 성능 테스트 보고서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</a:defRPr>
            </a:pPr>
            <a:r>
              <a:t>2026-09-18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57784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7200" y="571500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779007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6692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M5: 시스템 오픈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운영 배포, 교육자료, 운영 매뉴얼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</a:defRPr>
            </a:pPr>
            <a:r>
              <a:t>2026-11-27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투입 인력 (8명)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" y="1280160"/>
            <a:ext cx="2103120" cy="246888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280160"/>
            <a:ext cx="21031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630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</a:defRPr>
            </a:pPr>
            <a:r>
              <a:t>PM/PL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2023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  <a:r>
              <a:t>프로젝트 관리, 고객 소통, 교육·보고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200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  <a:r>
              <a:t>전 기간 (W1~W26)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1280160"/>
            <a:ext cx="2103120" cy="246888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1280160"/>
            <a:ext cx="21031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4630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아키텍트/BA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2023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  <a:r>
              <a:t>시스템 설계, 업무 분석, 문서화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200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  <a:r>
              <a:t>Phase 1, Phase 5 (50%)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280160"/>
            <a:ext cx="2103120" cy="246888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1280160"/>
            <a:ext cx="2103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14630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백엔드 개발자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192023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2명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  <a:r>
              <a:t>Spring Boot API, DB, Kafka, 알림 서비스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200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  <a:r>
              <a:t>Phase 2~4 (100%)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1280160"/>
            <a:ext cx="2103120" cy="246888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03720" y="1280160"/>
            <a:ext cx="2103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14630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프론트엔드 개발자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92023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  <a:r>
              <a:t>React 웹 시스템 전체 화면 개발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200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  <a:r>
              <a:t>Phase 2~4 (100%)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" y="4023360"/>
            <a:ext cx="2103120" cy="246888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" y="4023360"/>
            <a:ext cx="21031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206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</a:defRPr>
            </a:pPr>
            <a:r>
              <a:t>모바일 개발자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663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52120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  <a:r>
              <a:t>Flutter APP 전체 화면, 앱스토어 배포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5943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  <a:r>
              <a:t>Phase 2~5 (100%)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23160" y="4023360"/>
            <a:ext cx="2103120" cy="246888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23160" y="4023360"/>
            <a:ext cx="21031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14600" y="4206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C/S 개발자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663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52120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  <a:r>
              <a:t>.NET WinForms 계량대 프로그램, 장비 연동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14600" y="5943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  <a:r>
              <a:t>Phase 2~4 (100%)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63440" y="4023360"/>
            <a:ext cx="2103120" cy="246888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663440" y="4023360"/>
            <a:ext cx="2103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4206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DevOps/인프라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4663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0.5명 (50%)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52120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  <a:r>
              <a:t>서버·네트워크, Docker, CI/CD, 모니터링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5943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  <a:r>
              <a:t>전 기간 (50%)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03720" y="4023360"/>
            <a:ext cx="2103120" cy="246888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03720" y="4023360"/>
            <a:ext cx="2103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95160" y="4206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QA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4663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0.5명 (50%)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5160" y="52120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  <a:r>
              <a:t>테스트 계획, 통합/성능/보안 테스트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5943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</a:defRPr>
            </a:pPr>
            <a:r>
              <a:t>Phase 4 (50%)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공수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</a:defRPr>
            </a:pPr>
            <a:r>
              <a:t>20.8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EC0"/>
                </a:solidFill>
              </a:defRPr>
            </a:pPr>
            <a:r>
              <a:t>Man-Months (소계)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6B6D4"/>
                </a:solidFill>
              </a:defRPr>
            </a:pPr>
            <a:r>
              <a:t>25.0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EC0"/>
                </a:solidFill>
              </a:defRPr>
            </a:pPr>
            <a:r>
              <a:t>Man-Months (버퍼 포함)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분석/설계 (Phase 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200400"/>
            <a:ext cx="8001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6259" y="3246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2.1 M/M (10.4%)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0233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개발 (Phase 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3977639"/>
            <a:ext cx="5029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40233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13.2 M/M (66.7%)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800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H/W 설치 (Phase 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4754880"/>
            <a:ext cx="647699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13859" y="4800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1.7 M/M (8.3%)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통합 테스트 (Phase 4)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5532120"/>
            <a:ext cx="7239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0060" y="5577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1.9 M/M (9.6%)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355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적용/안정화 (Phase 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6309360"/>
            <a:ext cx="7620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8159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2.0 M/M (10.1%)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리스크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77724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417319"/>
            <a:ext cx="73152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3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533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LPR 인식률 저하 (야간, 우천, 오염)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64207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→ AI 2차 검증으로 인식률 보완, 모바일 OTP 대체 경로 상시 가동, 보조 조명 설치 검토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148839"/>
            <a:ext cx="8595360" cy="77724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285999"/>
            <a:ext cx="73152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31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22199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계량대 네트워크 단절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532887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→ 계량대 C/S 오프라인 모드(로컬 저장 후 자동 재전송), 기존 터치스크린 Failover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017520"/>
            <a:ext cx="8595360" cy="77724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3154679"/>
            <a:ext cx="73152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090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LPR 장비 납품 지연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4015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→ W5 조기 발주, 대체 장비 후보 사전 확보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886200"/>
            <a:ext cx="8595360" cy="77724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60" y="4023360"/>
            <a:ext cx="73152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069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9593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모바일 APP 앱스토어 심사 반려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27024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→ W14 사전 제출로 2주 여유 확보, 긴급 시 웹뷰 대체 방안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754879"/>
            <a:ext cx="8595360" cy="77724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5760" y="4892040"/>
            <a:ext cx="73152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93775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82803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RS-232C 장비 호환성 문제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138927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→ W7 사전 프로토콜 분석, 기존 동작 장비 재사용, 테스트 기간 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5623560"/>
            <a:ext cx="8595360" cy="77724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65760" y="5760720"/>
            <a:ext cx="73152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8064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967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요구사항 변경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6007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→ 변경 관리 프로세스 수립, 20% 공수 버퍼 활용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기대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</a:defRPr>
            </a:pPr>
            <a:r>
              <a:t>계량 처리 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수작업 RFID+종이 기반  →  LPR 자동인식+전자 계량표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463039"/>
            <a:ext cx="182880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30% 단축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33172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종이 계량표 사용량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전량 종이 출력  →  전자 계량표 100%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514600"/>
            <a:ext cx="18288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Paperless 100% 달성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383279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차량번호 인식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RFID 수동 태깅  →  LPR+AI 자동인식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3566160"/>
            <a:ext cx="1828800" cy="5486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36118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자동인식률 95% 이상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43484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262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계량 오류율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수동 처리 오류 빈발  →  자동화+재계량 기능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617720"/>
            <a:ext cx="182880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50% 감소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548640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사용자 만족도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43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하차 수취 불편  →  모바일 완결형 프로세스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5669280"/>
            <a:ext cx="18288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5715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80% 이상 달성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852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정성적 효과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1722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• 배차~계량~출문 전 과정 디지털 통합 관리로 업무 효율 극대화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• 운전자 차량 내 업무 처리로 현장 안전 사고 위험 근본 제거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6294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• 타 공장 확대 적용 가능한 표준화 아키텍처 확보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다음 단계: 함께 시작합시다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41732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2194560"/>
            <a:ext cx="54864" cy="274320"/>
          </a:xfrm>
          <a:prstGeom prst="rect">
            <a:avLst/>
          </a:prstGeom>
          <a:solidFill>
            <a:srgbClr val="3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제안서 검토 및 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6B6D4"/>
                </a:solidFill>
              </a:defRPr>
            </a:pPr>
            <a:r>
              <a:t>1주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423160"/>
            <a:ext cx="731520" cy="7315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3200400"/>
            <a:ext cx="54864" cy="274320"/>
          </a:xfrm>
          <a:prstGeom prst="rect">
            <a:avLst/>
          </a:prstGeom>
          <a:solidFill>
            <a:srgbClr val="3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세부 협의 및 범위·일정 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514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6B6D4"/>
                </a:solidFill>
              </a:defRPr>
            </a:pPr>
            <a:r>
              <a:t>1주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42900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20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" y="4206240"/>
            <a:ext cx="54864" cy="274320"/>
          </a:xfrm>
          <a:prstGeom prst="rect">
            <a:avLst/>
          </a:prstGeom>
          <a:solidFill>
            <a:srgbClr val="3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계약 체결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520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6B6D4"/>
                </a:solidFill>
              </a:defRPr>
            </a:pPr>
            <a:r>
              <a:t>1주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44348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8" y="5212080"/>
            <a:ext cx="54864" cy="274320"/>
          </a:xfrm>
          <a:prstGeom prst="rect">
            <a:avLst/>
          </a:prstGeom>
          <a:solidFill>
            <a:srgbClr val="38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킥오프 미팅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544068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5321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프로젝트 착수 (2026년 5월)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84848"/>
            <a:ext cx="914400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7C3AED"/>
                </a:solidFill>
              </a:defRPr>
            </a:pPr>
            <a: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A0AEC0"/>
                </a:solidFill>
              </a:defRPr>
            </a:pPr>
            <a:r>
              <a:t>Q &amp;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91840"/>
            <a:ext cx="8229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6B6D4"/>
                </a:solidFill>
              </a:defRPr>
            </a:pPr>
            <a:r>
              <a:t>동국씨엠의 스마트 팩토리 여정, 계량대에서 시작합니다.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EC0"/>
                </a:solidFill>
              </a:defRPr>
            </a:pPr>
            <a:r>
              <a:t>부산공장 계량 프로세스의 완전한 디지털 전환을 통해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EC0"/>
                </a:solidFill>
              </a:defRPr>
            </a:pPr>
            <a:r>
              <a:t>더 안전하고, 더 빠르고, 더 정확한 계량 환경을 함께 만들어 가겠습니다.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5303520"/>
            <a:ext cx="5486400" cy="109728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349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PL: 홍춘식 부장 (동국씨엠, 디지털혁신팀)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566927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PM: 김준기 팀장 (동국씨엠, 디지털혁신팀)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989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개발 PM: 김의신 차장 (동국시스템즈, DMES팀)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