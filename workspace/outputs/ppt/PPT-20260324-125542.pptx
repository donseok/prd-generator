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1695" cy="640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201168" cy="67299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맑은 고딕"/>
              </a:defRPr>
            </a:pPr>
            <a:r>
              <a:t>시스템 모니터링 웹 대시보드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108960"/>
            <a:ext cx="228600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맑은 고딕"/>
              </a:defRPr>
            </a:pPr>
            <a:r>
              <a:t>2026-03-24T12:52:39+09:00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793992"/>
            <a:ext cx="12191695" cy="640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645920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55064"/>
            <a:ext cx="299709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경영진 요약 (Executive Summary)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057400"/>
            <a:ext cx="329184" cy="3291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66543"/>
            <a:ext cx="299709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현재 상황과 도전 (Challenges)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468880"/>
            <a:ext cx="329184" cy="3291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78024"/>
            <a:ext cx="299709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프로젝트 목표 (Objectives)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880360"/>
            <a:ext cx="329184" cy="32918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89504"/>
            <a:ext cx="299709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우리의 솔루션 (Solution)</a:t>
            </a:r>
          </a:p>
        </p:txBody>
      </p:sp>
      <p:sp>
        <p:nvSpPr>
          <p:cNvPr id="13" name="Oval 12"/>
          <p:cNvSpPr/>
          <p:nvPr/>
        </p:nvSpPr>
        <p:spPr>
          <a:xfrm>
            <a:off x="4277258" y="1645920"/>
            <a:ext cx="329184" cy="3291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4458" y="1655064"/>
            <a:ext cx="299709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핵심 기능 (Features)</a:t>
            </a:r>
          </a:p>
        </p:txBody>
      </p:sp>
      <p:sp>
        <p:nvSpPr>
          <p:cNvPr id="15" name="Oval 14"/>
          <p:cNvSpPr/>
          <p:nvPr/>
        </p:nvSpPr>
        <p:spPr>
          <a:xfrm>
            <a:off x="4277258" y="2057400"/>
            <a:ext cx="329184" cy="3291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4458" y="2066543"/>
            <a:ext cx="299709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기술 스택 (Tech Stack)</a:t>
            </a:r>
          </a:p>
        </p:txBody>
      </p:sp>
      <p:sp>
        <p:nvSpPr>
          <p:cNvPr id="17" name="Oval 16"/>
          <p:cNvSpPr/>
          <p:nvPr/>
        </p:nvSpPr>
        <p:spPr>
          <a:xfrm>
            <a:off x="4277258" y="2468880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4458" y="2478024"/>
            <a:ext cx="299709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시스템 아키텍처 (Architecture)</a:t>
            </a:r>
          </a:p>
        </p:txBody>
      </p:sp>
      <p:sp>
        <p:nvSpPr>
          <p:cNvPr id="19" name="Oval 18"/>
          <p:cNvSpPr/>
          <p:nvPr/>
        </p:nvSpPr>
        <p:spPr>
          <a:xfrm>
            <a:off x="4277258" y="2880360"/>
            <a:ext cx="329184" cy="3291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4458" y="2889504"/>
            <a:ext cx="299709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프로젝트 일정 (Timeline)</a:t>
            </a:r>
          </a:p>
        </p:txBody>
      </p:sp>
      <p:sp>
        <p:nvSpPr>
          <p:cNvPr id="21" name="Oval 20"/>
          <p:cNvSpPr/>
          <p:nvPr/>
        </p:nvSpPr>
        <p:spPr>
          <a:xfrm>
            <a:off x="7914436" y="1645920"/>
            <a:ext cx="329184" cy="32918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1636" y="1655064"/>
            <a:ext cx="299709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투입 인력 (Team)</a:t>
            </a:r>
          </a:p>
        </p:txBody>
      </p:sp>
      <p:sp>
        <p:nvSpPr>
          <p:cNvPr id="23" name="Oval 22"/>
          <p:cNvSpPr/>
          <p:nvPr/>
        </p:nvSpPr>
        <p:spPr>
          <a:xfrm>
            <a:off x="7914436" y="2057400"/>
            <a:ext cx="329184" cy="32918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1636" y="2066543"/>
            <a:ext cx="299709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리스크 관리 (Risks)</a:t>
            </a:r>
          </a:p>
        </p:txBody>
      </p:sp>
      <p:sp>
        <p:nvSpPr>
          <p:cNvPr id="25" name="Oval 24"/>
          <p:cNvSpPr/>
          <p:nvPr/>
        </p:nvSpPr>
        <p:spPr>
          <a:xfrm>
            <a:off x="7914436" y="2468880"/>
            <a:ext cx="329184" cy="3291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1636" y="2478024"/>
            <a:ext cx="299709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기대 효과 (Benefits)</a:t>
            </a:r>
          </a:p>
        </p:txBody>
      </p:sp>
      <p:sp>
        <p:nvSpPr>
          <p:cNvPr id="27" name="Oval 26"/>
          <p:cNvSpPr/>
          <p:nvPr/>
        </p:nvSpPr>
        <p:spPr>
          <a:xfrm>
            <a:off x="7914436" y="2880360"/>
            <a:ext cx="329184" cy="3291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1636" y="2889504"/>
            <a:ext cx="299709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다음 단계 (Next Steps)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맑은 고딕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서버 리소스 상태를 실시간으로 파악하지 못해 장애 대응이 지연되는 문제를 해결합니다. 브라우저 하나로 CPU·메모리·디스크·네트워크를 3초마다 실시간 모니터링하는 웹 대시보드를 구축하여, 장애 인지 시간을 99% 단축하고 운영 효율을 획기적으로 개선합니다. 10주 기간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95831" y="3529584"/>
            <a:ext cx="2926080" cy="201168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40967" y="3474720"/>
            <a:ext cx="2926080" cy="2011680"/>
          </a:xfrm>
          <a:prstGeom prst="roundRect">
            <a:avLst>
              <a:gd name="adj" fmla="val 6000"/>
            </a:avLst>
          </a:prstGeom>
          <a:solidFill>
            <a:srgbClr val="2D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23847" y="3611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프로젝트 기간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3847" y="4023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2.5개월 (10주)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7671" y="3529584"/>
            <a:ext cx="2926080" cy="201168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32807" y="3474720"/>
            <a:ext cx="2926080" cy="2011680"/>
          </a:xfrm>
          <a:prstGeom prst="roundRect">
            <a:avLst>
              <a:gd name="adj" fmla="val 6000"/>
            </a:avLst>
          </a:prstGeom>
          <a:solidFill>
            <a:srgbClr val="2D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5687" y="3611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투입 공수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5687" y="4023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5.5 M/M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9511" y="3529584"/>
            <a:ext cx="2926080" cy="201168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24647" y="3474720"/>
            <a:ext cx="2926080" cy="2011680"/>
          </a:xfrm>
          <a:prstGeom prst="roundRect">
            <a:avLst>
              <a:gd name="adj" fmla="val 6000"/>
            </a:avLst>
          </a:prstGeom>
          <a:solidFill>
            <a:srgbClr val="2D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527" y="3611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핵심 효과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527" y="4023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장애 인지 시간 99% 단축 (5~3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맑은 고딕"/>
              </a:defRPr>
            </a:pPr>
            <a:r>
              <a:t>프로젝트 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E2E8F0"/>
                </a:solidFill>
                <a:latin typeface="맑은 고딕"/>
              </a:defRPr>
            </a:pPr>
            <a:r>
              <a:t>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783080"/>
            <a:ext cx="54864" cy="685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55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맑은 고딕"/>
              </a:defRPr>
            </a:pPr>
            <a:r>
              <a:t>해결할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574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서버 리소스 상태를 실시간으로 파악하지 못해 장애 대응이 지연되는 문제를 해결합니다. 브라우저 하나로 CPU·메모리·디스크·네트워크를 3초마다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606040"/>
            <a:ext cx="54864" cy="685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5786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맑은 고딕"/>
              </a:defRPr>
            </a:pPr>
            <a:r>
              <a:t>예상 기간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80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2.5개월 (10주)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429000"/>
            <a:ext cx="54864" cy="68580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4015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맑은 고딕"/>
              </a:defRPr>
            </a:pPr>
            <a:r>
              <a:t>투입 공수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703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5.5 M/M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251960"/>
            <a:ext cx="54864" cy="6858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맑은 고딕"/>
              </a:defRPr>
            </a:pPr>
            <a:r>
              <a:t>핵심 효과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262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장애 인지 시간 99% 단축 (5~30분 → 3초)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5074920"/>
            <a:ext cx="54864" cy="6858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047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맑은 고딕"/>
              </a:defRPr>
            </a:pPr>
            <a:r>
              <a:t>핵심 효과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492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리소스 모니터링 접근 인원 5배 증가 (SSH 불필요)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57607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E2E8F0"/>
                </a:solidFill>
                <a:latin typeface="맑은 고딕"/>
              </a:defRPr>
            </a:pPr>
            <a:r>
              <a:t>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63EB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834640"/>
            <a:ext cx="228600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현재 상황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맑은 고딕"/>
              </a:defRPr>
            </a:pPr>
            <a:r>
              <a:t>Current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맑은 고딕"/>
              </a:defRPr>
            </a:pPr>
            <a: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맑은 고딕"/>
              </a:defRPr>
            </a:pPr>
            <a:r>
              <a:t>현재의 도전과 과제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0887" y="1691640"/>
            <a:ext cx="5212080" cy="219456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5167" y="1645920"/>
            <a:ext cx="5212080" cy="2194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8047" y="1828800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0967" y="1828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맑은 고딕"/>
              </a:defRPr>
            </a:pPr>
            <a:r>
              <a:t>현황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2286000"/>
            <a:ext cx="484632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현재 서버 모니터링은 SSH 접속 후 top, free, df, ifstat 등 개별 명령어를 수동으로 실행하는 방식입니다.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70167" y="1691640"/>
            <a:ext cx="5212080" cy="219456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24447" y="1645920"/>
            <a:ext cx="5212080" cy="2194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07327" y="1828800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!!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247" y="1828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맑은 고딕"/>
              </a:defRPr>
            </a:pPr>
            <a:r>
              <a:t>현황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286000"/>
            <a:ext cx="484632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이로 인해 장애 인지에 수분~수십 분이 소요되고, 리소스 추이 분석이 불가능하며, SSH 접근 권한이 있는 소수 인력만 모니터링이 가능합니다.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0887" y="4160520"/>
            <a:ext cx="5212080" cy="219456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5167" y="4114800"/>
            <a:ext cx="5212080" cy="2194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047" y="4297680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0967" y="42976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맑은 고딕"/>
              </a:defRPr>
            </a:pPr>
            <a:r>
              <a:t>현황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047" y="4754880"/>
            <a:ext cx="484632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웹 기반 실시간 대시보드를 통해 이 모든 문제를 근본적으로 해결합니다.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맑은 고딕"/>
              </a:defRPr>
            </a:pPr>
            <a:r>
              <a:t>IF NO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맑은 고딕"/>
              </a:defRPr>
            </a:pPr>
            <a:r>
              <a:t>변화하지 않으면?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911535" cy="704088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911535" cy="70408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78508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15084"/>
            <a:ext cx="9997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4종 시스템 리소스(CPU, 메모리, 디스크, 네트워크)를 실시간 대시보드로 시각화 미달성 시 서비스 품질 저하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68879"/>
            <a:ext cx="10911535" cy="704088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423160"/>
            <a:ext cx="10911535" cy="70408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2555748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592324"/>
            <a:ext cx="9997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3초 간격 자동 갱신으로 준실시간 모니터링 환경 제공 미달성 시 서비스 품질 저하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46120"/>
            <a:ext cx="10911535" cy="704088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200400"/>
            <a:ext cx="10911535" cy="70408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3332988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369564"/>
            <a:ext cx="9997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다크 테마 기반의 직관적이고 반응형인 대시보드 UI 구현 미달성 시 서비스 품질 저하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23359"/>
            <a:ext cx="10911535" cy="704088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977639"/>
            <a:ext cx="10911535" cy="70408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4110227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146803"/>
            <a:ext cx="9997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맑은 고딕"/>
              </a:defRPr>
            </a:pPr>
            <a:r>
              <a:t>Docker 기반 원클릭 배포로 운영 환경 독립성 확보 미달성 시 서비스 품질 저하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맑은 고딕"/>
              </a:defRPr>
            </a:pPr>
            <a:r>
              <a:t>Before vs After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237536" cy="484632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237536" cy="484632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10512"/>
            <a:ext cx="4323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맑은 고딕"/>
              </a:defRPr>
            </a:pPr>
            <a:r>
              <a:t>AS-IS (현재)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" y="2423160"/>
            <a:ext cx="36576" cy="2286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4597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현재 서버 모니터링은 SSH 접속 후 top, free, df, ifstat 등 개별 명령어를 수동으로 실행하는 방식입니다.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" y="2926080"/>
            <a:ext cx="36576" cy="2286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80360"/>
            <a:ext cx="4597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이로 인해 장애 인지에 수분~수십 분이 소요되고, 리소스 추이 분석이 불가능하며, SSH 접근 권한이 있는 소수 인력만 모니터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" y="3429000"/>
            <a:ext cx="36576" cy="2286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383280"/>
            <a:ext cx="4597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웹 기반 실시간 대시보드를 통해 이 모든 문제를 근본적으로 해결합니다.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7" y="1920240"/>
            <a:ext cx="27432" cy="4297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5821527" y="3886200"/>
            <a:ext cx="731520" cy="36576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9798" y="1691640"/>
            <a:ext cx="5237536" cy="484632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14078" y="1645920"/>
            <a:ext cx="5237536" cy="484632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51238" y="1783080"/>
            <a:ext cx="411480" cy="4114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4158" y="1810512"/>
            <a:ext cx="4323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맑은 고딕"/>
              </a:defRPr>
            </a:pPr>
            <a:r>
              <a:t>TO-BE (미래)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6958" y="2423160"/>
            <a:ext cx="36576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9838" y="2377440"/>
            <a:ext cx="4597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장애 인지 시간 99% 단축 (5~30분 → 3초)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6958" y="2926080"/>
            <a:ext cx="36576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9838" y="2880360"/>
            <a:ext cx="4597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대시보드 로딩 시간 2초 이내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6958" y="3429000"/>
            <a:ext cx="36576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9838" y="3383280"/>
            <a:ext cx="4597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API 응답 시간 200ms 이내 (p95)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6958" y="3931920"/>
            <a:ext cx="36576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9838" y="3886200"/>
            <a:ext cx="4597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3초 갱신 주기 준수율 99% 이상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63EB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834640"/>
            <a:ext cx="228600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프로젝트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맑은 고딕"/>
              </a:defRPr>
            </a:pPr>
            <a:r>
              <a:t>Objectives &amp; KPI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맑은 고딕"/>
              </a:defRPr>
            </a:pPr>
            <a:r>
              <a:t>핵심 성과 지표 (KPI)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973775" cy="201168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973775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55165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맑은 고딕"/>
              </a:defRPr>
            </a:pPr>
            <a:r>
              <a:t>장애 인지 시간 99% 단축 (5~30분 → 3초)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5165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맑은 고딕"/>
              </a:defRPr>
            </a:pPr>
            <a:r>
              <a:t>-  →  장애 인지 시간 99% 단축 (5~30분 → 3초)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86200"/>
            <a:ext cx="1869338" cy="182880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1869338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159501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맑은 고딕"/>
              </a:defRPr>
            </a:pPr>
            <a:r>
              <a:t>대시보드 로딩 시간 2초 이내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06240"/>
            <a:ext cx="15950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맑은 고딕"/>
              </a:defRPr>
            </a:pPr>
            <a:r>
              <a:t>- → 대시보드 로딩 시간 2초 이내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8018" y="3886200"/>
            <a:ext cx="1869338" cy="182880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92298" y="3840480"/>
            <a:ext cx="1869338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29458" y="3931920"/>
            <a:ext cx="159501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맑은 고딕"/>
              </a:defRPr>
            </a:pPr>
            <a:r>
              <a:t>API 응답 시간 200ms 이내 (p95)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9458" y="4206240"/>
            <a:ext cx="15950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맑은 고딕"/>
              </a:defRPr>
            </a:pPr>
            <a:r>
              <a:t>- → API 응답 시간 200ms 이내 (p95)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90236" y="3886200"/>
            <a:ext cx="1869338" cy="182880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44516" y="3840480"/>
            <a:ext cx="1869338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1676" y="3931920"/>
            <a:ext cx="159501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맑은 고딕"/>
              </a:defRPr>
            </a:pPr>
            <a:r>
              <a:t>3초 갱신 주기 준수율 99% 이상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1676" y="4206240"/>
            <a:ext cx="15950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맑은 고딕"/>
              </a:defRPr>
            </a:pPr>
            <a:r>
              <a:t>- → 3초 갱신 주기 준수율 99% 이상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615" y="1645920"/>
            <a:ext cx="45720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63EB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834640"/>
            <a:ext cx="228600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우리의 솔루션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맑은 고딕"/>
              </a:defRPr>
            </a:pPr>
            <a:r>
              <a:t>Our Solution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맑은 고딕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React+Recharts 프론트엔드와 Python FastAPI+psutil 백엔드를 2-Tier 모놀리식 아키텍처로 구성합니다. 인메모리 Ring Buffer로 최근 5분간의 시계열 데이터를 유지하며, 3초 간격 HTTP 폴링으로 실시간 갱신합니다. Docker 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474720"/>
            <a:ext cx="228600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맑은 고딕"/>
              </a:defRPr>
            </a:pPr>
            <a:r>
              <a:t>2-Tier 모놀리식: React SPA(프론트엔드) + FastAPI REST API(백엔드) + Nginx(리버스 프록시). 인메모리 Ring Buffer(100개 포인트, 약 5분)로 DB 없이 시계열 데이터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맑은 고딕"/>
              </a:defRPr>
            </a:pPr>
            <a:r>
              <a:t>작업 범위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6001344" cy="484632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6001344" cy="484632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55648"/>
            <a:ext cx="347472" cy="34747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55648"/>
            <a:ext cx="508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맑은 고딕"/>
              </a:defRPr>
            </a:pPr>
            <a:r>
              <a:t>포함 범위 (In-Scope)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86000"/>
            <a:ext cx="36576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2240280"/>
            <a:ext cx="5452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CPU 사용률 실시간 라인 차트 (시간축 트렌드)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97480"/>
            <a:ext cx="36576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2651760"/>
            <a:ext cx="5452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메모리 사용률 실시간 라인 차트 (전체 대비 사용량 표시)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08960"/>
            <a:ext cx="36576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19" y="3063240"/>
            <a:ext cx="5452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디스크 사용량 파이 차트 (드라이브별)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20440"/>
            <a:ext cx="36576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3474720"/>
            <a:ext cx="5452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네트워크 IN/OUT 트래픽 실시간 차트 (단위 자동 변환)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31920"/>
            <a:ext cx="36576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19" y="3886200"/>
            <a:ext cx="5452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3초 간격 자동 갱신 (에러 시 재시도)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343400"/>
            <a:ext cx="36576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19" y="4297680"/>
            <a:ext cx="5452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다크 테마 반응형 대시보드 UI (데스크톱/태블릿)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754880"/>
            <a:ext cx="36576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19" y="4709160"/>
            <a:ext cx="5452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REST API 백엔드 (FastAPI + psutil)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14212" y="1920240"/>
            <a:ext cx="27432" cy="4297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32721" y="1691640"/>
            <a:ext cx="4364614" cy="484632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87001" y="1645920"/>
            <a:ext cx="4364614" cy="484632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24161" y="1755648"/>
            <a:ext cx="347472" cy="3474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1361" y="1755648"/>
            <a:ext cx="345021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맑은 고딕"/>
              </a:defRPr>
            </a:pPr>
            <a:r>
              <a:t>제외 범위 (Out of Scope)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24161" y="2286000"/>
            <a:ext cx="36576" cy="2286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041" y="2240280"/>
            <a:ext cx="381597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알림/경고 시스템 (이메일, SMS, Slack) - 2차 버전 확장 가능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24161" y="2697480"/>
            <a:ext cx="36576" cy="2286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041" y="2651760"/>
            <a:ext cx="381597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히스토리 데이터 저장 및 조회 (DB 연동) - 실시간 모니터링에 집중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24161" y="3108960"/>
            <a:ext cx="36576" cy="2286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07041" y="3063240"/>
            <a:ext cx="381597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다중 서버 모니터링 (원격 에이전트) - 1차 단일 서버 대상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24161" y="3520440"/>
            <a:ext cx="36576" cy="2286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07041" y="3474720"/>
            <a:ext cx="381597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사용자 인증 및 권한 관리 - 내부 네트워크 사용 전제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24161" y="3931920"/>
            <a:ext cx="36576" cy="2286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041" y="3886200"/>
            <a:ext cx="381597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로그 모니터링 및 분석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24161" y="4343400"/>
            <a:ext cx="36576" cy="2286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041" y="4297680"/>
            <a:ext cx="381597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맑은 고딕"/>
              </a:defRPr>
            </a:pPr>
            <a:r>
              <a:t>프로세스별 리소스 상세 분석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맑은 고딕"/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맑은 고딕"/>
              </a:defRPr>
            </a:pPr>
            <a:r>
              <a:t>핵심 기능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423818" cy="201168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423818" cy="20116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26465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CPU 실시간 모니터링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314949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맑은 고딕"/>
              </a:defRPr>
            </a:pPr>
            <a:r>
              <a:t>실시간 라인 차트로 CPU 사용률(%)을 시간축 기반 트렌드로 시각화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1691640"/>
            <a:ext cx="3423818" cy="201168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3938" y="1645920"/>
            <a:ext cx="3423818" cy="20116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21098" y="1783080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8298" y="1783080"/>
            <a:ext cx="26465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메모리 실시간 모니터링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194560"/>
            <a:ext cx="314949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맑은 고딕"/>
              </a:defRPr>
            </a:pPr>
            <a:r>
              <a:t>메모리 사용률 라인 차트 + 전체 메모리 대비 사용량 수치 표시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3516" y="1691640"/>
            <a:ext cx="3423818" cy="201168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7796" y="1645920"/>
            <a:ext cx="3423818" cy="20116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64956" y="1783080"/>
            <a:ext cx="347472" cy="34747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22156" y="1783080"/>
            <a:ext cx="26465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디스크 사용량 시각화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4956" y="2194560"/>
            <a:ext cx="314949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맑은 고딕"/>
              </a:defRPr>
            </a:pPr>
            <a:r>
              <a:t>파이 차트로 드라이브별 사용/잔여 공간 직관적 시각화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77639"/>
            <a:ext cx="3423818" cy="201168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3931920"/>
            <a:ext cx="3423818" cy="20116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4069080"/>
            <a:ext cx="347472" cy="34747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069080"/>
            <a:ext cx="26465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네트워크 트래픽 모니터링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480559"/>
            <a:ext cx="314949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맑은 고딕"/>
              </a:defRPr>
            </a:pPr>
            <a:r>
              <a:t>IN/OUT 트래픽 구분 차트, KB/s↔MB/s 단위 자동 변환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9658" y="3977639"/>
            <a:ext cx="3423818" cy="201168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83938" y="3931920"/>
            <a:ext cx="3423818" cy="20116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21098" y="4069080"/>
            <a:ext cx="347472" cy="34747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8298" y="4069080"/>
            <a:ext cx="26465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3초 실시간 갱신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1098" y="4480559"/>
            <a:ext cx="314949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맑은 고딕"/>
              </a:defRPr>
            </a:pPr>
            <a:r>
              <a:t>모든 차트가 3초마다 자동 갱신, API 장애 시 이전 데이터 유지 후 자동 재연결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73516" y="3977639"/>
            <a:ext cx="3423818" cy="201168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27796" y="3931920"/>
            <a:ext cx="3423818" cy="20116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64956" y="4069080"/>
            <a:ext cx="347472" cy="34747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22156" y="4069080"/>
            <a:ext cx="26465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다크 테마 반응형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4956" y="4480559"/>
            <a:ext cx="314949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맑은 고딕"/>
              </a:defRPr>
            </a:pPr>
            <a:r>
              <a:t>다크 테마 기본 적용, 데스크톱/태블릿 반응형 그리드 레이아웃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맑은 고딕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맑은 고딕"/>
              </a:defRPr>
            </a:pPr>
            <a:r>
              <a:t>기술 스택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911535" cy="658368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911535" cy="6583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7007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맑은 고딕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325880" y="1965960"/>
            <a:ext cx="9814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React 18 + TypeScript + Vite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04872"/>
            <a:ext cx="10911535" cy="658368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359152"/>
            <a:ext cx="10911535" cy="6583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496312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140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맑은 고딕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325880" y="2679192"/>
            <a:ext cx="9814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Recharts 2.x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18104"/>
            <a:ext cx="10911535" cy="658368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072384"/>
            <a:ext cx="10911535" cy="6583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3209544"/>
            <a:ext cx="384048" cy="38404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1272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맑은 고딕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325880" y="3392424"/>
            <a:ext cx="9814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Python 3.11+ + FastAPI 0.115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31335"/>
            <a:ext cx="10911535" cy="658368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3785615"/>
            <a:ext cx="10911535" cy="6583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3922775"/>
            <a:ext cx="384048" cy="38404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84047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맑은 고딕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325880" y="4105655"/>
            <a:ext cx="9814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psutil 6.x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44568"/>
            <a:ext cx="10911535" cy="658368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498848"/>
            <a:ext cx="10911535" cy="6583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4636007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5537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맑은 고딕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1325880" y="4818888"/>
            <a:ext cx="9814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Docker 27.x + Nginx 1.27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맑은 고딕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맑은 고딕"/>
              </a:defRPr>
            </a:pPr>
            <a:r>
              <a:t>시스템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-20260324-1255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07" y="1645920"/>
            <a:ext cx="8615679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63EB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834640"/>
            <a:ext cx="228600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프로젝트 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맑은 고딕"/>
              </a:defRPr>
            </a:pPr>
            <a:r>
              <a:t>Timeline &amp; Milestones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PROJECT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맑은 고딕"/>
              </a:defRPr>
            </a:pPr>
            <a:r>
              <a:t>프로젝트 일정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448495" y="731520"/>
            <a:ext cx="2103120" cy="41148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94215" y="758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2.5개월 (10주)</a:t>
            </a:r>
          </a:p>
        </p:txBody>
      </p:sp>
      <p:sp>
        <p:nvSpPr>
          <p:cNvPr id="7" name="Oval 6"/>
          <p:cNvSpPr/>
          <p:nvPr/>
        </p:nvSpPr>
        <p:spPr>
          <a:xfrm>
            <a:off x="4495647" y="16459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8447" y="2194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Phase 1: 분석 및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8447" y="24688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3주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2847" y="1856231"/>
            <a:ext cx="2103120" cy="3657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55967" y="16459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2194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Phase 2: 개발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24688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5주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13167" y="1856231"/>
            <a:ext cx="2103120" cy="3657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16287" y="1645920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9087" y="2194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Phase 3: 테스트 및 배포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9087" y="24688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2주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0"/>
            <a:ext cx="10911535" cy="192023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맑은 고딕"/>
              </a:defRPr>
            </a:pPr>
            <a:r>
              <a:t>PROJECT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맑은 고딕"/>
              </a:defRPr>
            </a:pPr>
            <a:r>
              <a:t>투입 인력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050045" cy="1264919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050045" cy="126491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59362" y="17373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12848"/>
            <a:ext cx="29586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PM/PL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29586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맑은 고딕"/>
              </a:defRPr>
            </a:pPr>
            <a:r>
              <a:t>1명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64445" y="1691640"/>
            <a:ext cx="3050045" cy="1264919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18725" y="1645920"/>
            <a:ext cx="3050045" cy="126491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38007" y="17373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4445" y="2212848"/>
            <a:ext cx="29586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프론트엔드 개발자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4445" y="2468880"/>
            <a:ext cx="29586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맑은 고딕"/>
              </a:defRPr>
            </a:pPr>
            <a:r>
              <a:t>1명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85159"/>
            <a:ext cx="3050045" cy="1264919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139440"/>
            <a:ext cx="3050045" cy="126491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959362" y="3230880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06367"/>
            <a:ext cx="29586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백엔드 개발자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962399"/>
            <a:ext cx="29586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맑은 고딕"/>
              </a:defRPr>
            </a:pPr>
            <a:r>
              <a:t>1명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64445" y="3185159"/>
            <a:ext cx="3050045" cy="1264919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18725" y="3139440"/>
            <a:ext cx="3050045" cy="126491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38007" y="3230880"/>
            <a:ext cx="411480" cy="4114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4445" y="3706367"/>
            <a:ext cx="29586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UI/UX 디자이너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4445" y="3962399"/>
            <a:ext cx="29586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맑은 고딕"/>
              </a:defRPr>
            </a:pPr>
            <a:r>
              <a:t>1명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678680"/>
            <a:ext cx="3050045" cy="1264919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632960"/>
            <a:ext cx="3050045" cy="126491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959362" y="4724399"/>
            <a:ext cx="411480" cy="41148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199888"/>
            <a:ext cx="29586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맑은 고딕"/>
              </a:defRPr>
            </a:pPr>
            <a:r>
              <a:t>QA 엔지니어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455920"/>
            <a:ext cx="29586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맑은 고딕"/>
              </a:defRPr>
            </a:pPr>
            <a:r>
              <a:t>1명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6035040"/>
            <a:ext cx="6328690" cy="4572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19" y="6080759"/>
            <a:ext cx="614581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총 공수: 5.5 Man-Months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231" y="1995888"/>
            <a:ext cx="4146383" cy="414638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580C"/>
                </a:solidFill>
                <a:latin typeface="맑은 고딕"/>
              </a:defRPr>
            </a:pPr>
            <a:r>
              <a:t>RISK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맑은 고딕"/>
              </a:defRPr>
            </a:pPr>
            <a:r>
              <a:t>리스크 관리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10911535" cy="978407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911535" cy="97840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777240" cy="292608"/>
          </a:xfrm>
          <a:prstGeom prst="roundRect">
            <a:avLst>
              <a:gd name="adj" fmla="val 6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64792"/>
            <a:ext cx="740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719072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고객 요구사항 변경으로 일정 지연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0312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→ 20% 버퍼 확보 + 스프린트 단위 고객 리뷰로 조기 피드백 반영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43200"/>
            <a:ext cx="10911535" cy="978407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697480"/>
            <a:ext cx="10911535" cy="97840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807208"/>
            <a:ext cx="777240" cy="292608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816352"/>
            <a:ext cx="740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770632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psutil OS 호환성 이슈 (일부 데이터 수집 불가)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5468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→ W1에 대상 OS에서 PoC 실시, graceful fallback 구현 (N/A 표시)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94759"/>
            <a:ext cx="10911535" cy="978407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749039"/>
            <a:ext cx="10911535" cy="97840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858768"/>
            <a:ext cx="777240" cy="292608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867911"/>
            <a:ext cx="740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822191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장시간 운영 시 브라우저 메모리 누수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20624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→ Ring Buffer 패턴으로 데이터 포인트 100개 제한, 24시간 안정성 테스트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846320"/>
            <a:ext cx="10911535" cy="978407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800600"/>
            <a:ext cx="10911535" cy="97840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4910328"/>
            <a:ext cx="777240" cy="292608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919472"/>
            <a:ext cx="740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873752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Recharts 대량 데이터 렌더링 성능 저하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25780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→ 데이터 포인트 100개 제한 + SVG 최적화. 대안: Canvas 차트 라이브러리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맑은 고딕"/>
              </a:defRPr>
            </a:pPr>
            <a:r>
              <a:t>EXPECTED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맑은 고딕"/>
              </a:defRPr>
            </a:pPr>
            <a:r>
              <a:t>기대 효과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2863512" cy="146304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863512" cy="14630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589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맑은 고딕"/>
              </a:defRPr>
            </a:pPr>
            <a:r>
              <a:t>장애 인지 시간 99% 단축 (5~30분 → 3초)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589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  <a:latin typeface="맑은 고딕"/>
              </a:defRPr>
            </a:pPr>
            <a:r>
              <a:t> → </a:t>
            </a:r>
          </a:p>
        </p:txBody>
      </p:sp>
      <p:sp>
        <p:nvSpPr>
          <p:cNvPr id="9" name="Oval 8"/>
          <p:cNvSpPr/>
          <p:nvPr/>
        </p:nvSpPr>
        <p:spPr>
          <a:xfrm>
            <a:off x="1934676" y="269748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23632" y="1691640"/>
            <a:ext cx="2863512" cy="146304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77912" y="1645920"/>
            <a:ext cx="2863512" cy="14630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15072" y="1737360"/>
            <a:ext cx="2589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맑은 고딕"/>
              </a:defRPr>
            </a:pPr>
            <a:r>
              <a:t>리소스 모니터링 접근 인원 5배 증가 (SSH 불필요)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5072" y="2057400"/>
            <a:ext cx="2589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  <a:latin typeface="맑은 고딕"/>
              </a:defRPr>
            </a:pPr>
            <a:r>
              <a:t> → </a:t>
            </a:r>
          </a:p>
        </p:txBody>
      </p:sp>
      <p:sp>
        <p:nvSpPr>
          <p:cNvPr id="14" name="Oval 13"/>
          <p:cNvSpPr/>
          <p:nvPr/>
        </p:nvSpPr>
        <p:spPr>
          <a:xfrm>
            <a:off x="5072508" y="269748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37560"/>
            <a:ext cx="2863512" cy="146304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91840"/>
            <a:ext cx="2863512" cy="14630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83280"/>
            <a:ext cx="2589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맑은 고딕"/>
              </a:defRPr>
            </a:pPr>
            <a:r>
              <a:t>4종 모니터링 도구를 1개 대시보드로 통합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03320"/>
            <a:ext cx="2589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  <a:latin typeface="맑은 고딕"/>
              </a:defRPr>
            </a:pPr>
            <a:r>
              <a:t> → </a:t>
            </a:r>
          </a:p>
        </p:txBody>
      </p:sp>
      <p:sp>
        <p:nvSpPr>
          <p:cNvPr id="19" name="Oval 18"/>
          <p:cNvSpPr/>
          <p:nvPr/>
        </p:nvSpPr>
        <p:spPr>
          <a:xfrm>
            <a:off x="1934676" y="434340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23632" y="3337560"/>
            <a:ext cx="2863512" cy="146304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777912" y="3291840"/>
            <a:ext cx="2863512" cy="14630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15072" y="3383280"/>
            <a:ext cx="2589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맑은 고딕"/>
              </a:defRPr>
            </a:pPr>
            <a:r>
              <a:t>최근 5분 트렌드 분석으로 예방 정비 가능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5072" y="3703320"/>
            <a:ext cx="2589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  <a:latin typeface="맑은 고딕"/>
              </a:defRPr>
            </a:pPr>
            <a:r>
              <a:t> → </a:t>
            </a:r>
          </a:p>
        </p:txBody>
      </p:sp>
      <p:sp>
        <p:nvSpPr>
          <p:cNvPr id="24" name="Oval 23"/>
          <p:cNvSpPr/>
          <p:nvPr/>
        </p:nvSpPr>
        <p:spPr>
          <a:xfrm>
            <a:off x="5072508" y="434340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19" y="5193792"/>
            <a:ext cx="36576" cy="1828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20640"/>
            <a:ext cx="104543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장애 인지 시간 99% 단축 (5~30분 → 3초)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19" y="5468112"/>
            <a:ext cx="36576" cy="1828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394959"/>
            <a:ext cx="104543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리소스 모니터링 접근 인원 5배 증가 (SSH 불필요)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19" y="5742431"/>
            <a:ext cx="36576" cy="1828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669279"/>
            <a:ext cx="104543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4종 모니터링 도구를 1개 대시보드로 통합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19" y="6016751"/>
            <a:ext cx="36576" cy="1828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943599"/>
            <a:ext cx="104543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최근 5분 트렌드 분석으로 예방 정비 가능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맑은 고딕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맑은 고딕"/>
              </a:defRPr>
            </a:pPr>
            <a:r>
              <a:t>다음 단계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23747" y="164592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77440"/>
            <a:ext cx="2423160" cy="256032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2423160" cy="2560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423160"/>
            <a:ext cx="22402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맑은 고딕"/>
              </a:defRPr>
            </a:pPr>
            <a:r>
              <a:t>제안서 검토 및 Q&amp;A (1주)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26667" y="1879092"/>
            <a:ext cx="2057400" cy="3657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84067" y="164592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69667" y="2377440"/>
            <a:ext cx="2423160" cy="256032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23947" y="2331720"/>
            <a:ext cx="2423160" cy="2560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15387" y="2423160"/>
            <a:ext cx="22402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맑은 고딕"/>
              </a:defRPr>
            </a:pPr>
            <a:r>
              <a:t>기술 범위 세부 협의 및 대상 서버 환경 확인 (1주)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86987" y="1879092"/>
            <a:ext cx="2057400" cy="3657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44387" y="1645920"/>
            <a:ext cx="502920" cy="50292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9987" y="2377440"/>
            <a:ext cx="2423160" cy="256032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84267" y="2331720"/>
            <a:ext cx="2423160" cy="2560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75707" y="2423160"/>
            <a:ext cx="22402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맑은 고딕"/>
              </a:defRPr>
            </a:pPr>
            <a:r>
              <a:t>계약 체결 (1주)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7307" y="1879092"/>
            <a:ext cx="2057399" cy="3657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04707" y="1645920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0307" y="2377440"/>
            <a:ext cx="2423160" cy="256032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44587" y="2331720"/>
            <a:ext cx="2423160" cy="2560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6027" y="2423160"/>
            <a:ext cx="22402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맑은 고딕"/>
              </a:defRPr>
            </a:pPr>
            <a:r>
              <a:t>킥오프 미팅 (양사 참여)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7627" y="1879092"/>
            <a:ext cx="2057400" cy="3657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65027" y="1645920"/>
            <a:ext cx="502920" cy="50292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74175" y="2377440"/>
            <a:ext cx="2423160" cy="2560320"/>
          </a:xfrm>
          <a:prstGeom prst="roundRect">
            <a:avLst>
              <a:gd name="adj" fmla="val 6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28455" y="2331720"/>
            <a:ext cx="2423160" cy="2560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9895" y="2423160"/>
            <a:ext cx="22402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맑은 고딕"/>
              </a:defRPr>
            </a:pPr>
            <a:r>
              <a:t>프로젝트 착수 (2026-04-01)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24247" y="3200400"/>
            <a:ext cx="274320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94A3B8"/>
                </a:solidFill>
                <a:latin typeface="맑은 고딕"/>
              </a:defRPr>
            </a:pPr>
            <a:r>
              <a:t>함께 시작하겠습니다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맑은 고딕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