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40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201168" cy="67299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F172A"/>
                </a:solidFill>
                <a:latin typeface="맑은 고딕"/>
              </a:defRPr>
            </a:pPr>
            <a:r>
              <a:t>시스템 모니터링 웹 대시보드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182880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2026-03-05T16:28:02+09:00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793992"/>
            <a:ext cx="9144000" cy="640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64592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550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경영진 요약 (Executive Summary)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084832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9397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현재 상황과 도전 (Challenges)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23744"/>
            <a:ext cx="347472" cy="34747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328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프로젝트 목표 (Objectives)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962656"/>
            <a:ext cx="347472" cy="34747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71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우리의 솔루션 (Solution)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01568"/>
            <a:ext cx="347472" cy="34747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4107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핵심 기능 (Features)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840480"/>
            <a:ext cx="347472" cy="34747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8496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기술 스택 (Tech Stack)</a:t>
            </a:r>
          </a:p>
        </p:txBody>
      </p:sp>
      <p:sp>
        <p:nvSpPr>
          <p:cNvPr id="17" name="Oval 16"/>
          <p:cNvSpPr/>
          <p:nvPr/>
        </p:nvSpPr>
        <p:spPr>
          <a:xfrm>
            <a:off x="4754880" y="164592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16550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시스템 아키텍처 (Architecture)</a:t>
            </a:r>
          </a:p>
        </p:txBody>
      </p:sp>
      <p:sp>
        <p:nvSpPr>
          <p:cNvPr id="19" name="Oval 18"/>
          <p:cNvSpPr/>
          <p:nvPr/>
        </p:nvSpPr>
        <p:spPr>
          <a:xfrm>
            <a:off x="4754880" y="2084832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09397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프로젝트 일정 (Timeline)</a:t>
            </a:r>
          </a:p>
        </p:txBody>
      </p:sp>
      <p:sp>
        <p:nvSpPr>
          <p:cNvPr id="21" name="Oval 20"/>
          <p:cNvSpPr/>
          <p:nvPr/>
        </p:nvSpPr>
        <p:spPr>
          <a:xfrm>
            <a:off x="4754880" y="2523744"/>
            <a:ext cx="347472" cy="34747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5328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투입 인력 (Team)</a:t>
            </a:r>
          </a:p>
        </p:txBody>
      </p:sp>
      <p:sp>
        <p:nvSpPr>
          <p:cNvPr id="23" name="Oval 22"/>
          <p:cNvSpPr/>
          <p:nvPr/>
        </p:nvSpPr>
        <p:spPr>
          <a:xfrm>
            <a:off x="4754880" y="2962656"/>
            <a:ext cx="347472" cy="34747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2971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리스크 관리 (Risks)</a:t>
            </a:r>
          </a:p>
        </p:txBody>
      </p:sp>
      <p:sp>
        <p:nvSpPr>
          <p:cNvPr id="25" name="Oval 24"/>
          <p:cNvSpPr/>
          <p:nvPr/>
        </p:nvSpPr>
        <p:spPr>
          <a:xfrm>
            <a:off x="4754880" y="3401568"/>
            <a:ext cx="347472" cy="34747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34107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기대 효과 (Benefits)</a:t>
            </a:r>
          </a:p>
        </p:txBody>
      </p:sp>
      <p:sp>
        <p:nvSpPr>
          <p:cNvPr id="27" name="Oval 26"/>
          <p:cNvSpPr/>
          <p:nvPr/>
        </p:nvSpPr>
        <p:spPr>
          <a:xfrm>
            <a:off x="4754880" y="3840480"/>
            <a:ext cx="347472" cy="34747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8496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다음 단계 (Next Steps)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맑은 고딕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시스템 리소스 상태를 실시간으로 파악할 수 없어 장애 대응이 늦어지는 문제를 해결합니다. CPU, 메모리, 디스크, 네트워크를 3초 간격으로 실시간 시각화하는 경량 웹 대시보드를 2개월(4.0 Man-Months)에 구축하여, 이상 징후 감지 시간을 97% 단축합니다.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3474720"/>
            <a:ext cx="2194560" cy="1645920"/>
          </a:xfrm>
          <a:prstGeom prst="roundRect">
            <a:avLst>
              <a:gd name="adj" fmla="val 6000"/>
            </a:avLst>
          </a:prstGeom>
          <a:solidFill>
            <a:srgbClr val="1E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611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프로젝트 기간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977639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2개월 (8주)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474720"/>
            <a:ext cx="2194560" cy="1645920"/>
          </a:xfrm>
          <a:prstGeom prst="roundRect">
            <a:avLst>
              <a:gd name="adj" fmla="val 6000"/>
            </a:avLst>
          </a:prstGeom>
          <a:solidFill>
            <a:srgbClr val="1E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3611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투입 공수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3977639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4.0 M/M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3474720"/>
            <a:ext cx="2194560" cy="1645920"/>
          </a:xfrm>
          <a:prstGeom prst="roundRect">
            <a:avLst>
              <a:gd name="adj" fmla="val 6000"/>
            </a:avLst>
          </a:prstGeom>
          <a:solidFill>
            <a:srgbClr val="1E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3611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핵심 효과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3977639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이상 징후 감지 시간 97% 단축 (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맑은 고딕"/>
              </a:defRPr>
            </a:pPr>
            <a:r>
              <a:t>프로젝트 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8229600" cy="70408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769364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7190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해결할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9339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시스템 리소스 상태를 실시간으로 파악할 수 없어 장애 대응이 늦어지는 문제를 해결합니다. CPU, 메모리, 디스크, 네트워크를 3초 간격으로 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23160"/>
            <a:ext cx="8229600" cy="70408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546603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963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예상 기간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7063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2개월 (8주)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8229600" cy="70408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3323844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2735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투입 공수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54787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4.0 M/M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77639"/>
            <a:ext cx="8229600" cy="70408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4101083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5079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핵심 효과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32511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이상 징후 감지 시간 97% 단축 (5~10분 → 3초)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754880"/>
            <a:ext cx="8229600" cy="70408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4878324"/>
            <a:ext cx="411480" cy="4114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8280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핵심 효과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10235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모니터링 접근 장벽 제거 (SSH 불필요, 웹 브라우저만으로 접근)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3B82F6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743200"/>
            <a:ext cx="18288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현재 상황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Current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맑은 고딕"/>
              </a:defRPr>
            </a:pPr>
            <a: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맑은 고딕"/>
              </a:defRPr>
            </a:pPr>
            <a:r>
              <a:t>현재의 도전과 과제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39" y="1645920"/>
            <a:ext cx="3840480" cy="2194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" y="1783080"/>
            <a:ext cx="347472" cy="34747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2999" y="17830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현황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799" y="2240280"/>
            <a:ext cx="35661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맑은 고딕"/>
              </a:defRPr>
            </a:pPr>
            <a:r>
              <a:t>현대 IT 운영 환경에서 시스템 리소스의 실시간 모니터링은 안정적 서비스 운영의 핵심이다.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645920"/>
            <a:ext cx="3840480" cy="2194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92040" y="1783080"/>
            <a:ext cx="347472" cy="34747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!!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7830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현황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240280"/>
            <a:ext cx="35661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맑은 고딕"/>
              </a:defRPr>
            </a:pPr>
            <a:r>
              <a:t>터미널 기반 수동 확인 방식은 장애 인지가 늦고, 엔터프라이즈 모니터링 도구는 설정이 복잡하고 비용이 높다.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39" y="4114800"/>
            <a:ext cx="3840480" cy="2194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799" y="4251960"/>
            <a:ext cx="347472" cy="34747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2999" y="42519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현황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799" y="4709160"/>
            <a:ext cx="35661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맑은 고딕"/>
              </a:defRPr>
            </a:pPr>
            <a:r>
              <a:t>브라우저만으로 시스템 상태를 한눈에 파악할 수 있는 경량 웹 대시보드가 필요하다.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맑은 고딕"/>
              </a:defRPr>
            </a:pPr>
            <a:r>
              <a:t>IF NO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맑은 고딕"/>
              </a:defRPr>
            </a:pPr>
            <a:r>
              <a:t>변화하지 않으면?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8229600" cy="70408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778508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15084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4가지 핵심 시스템 리소스(CPU, 메모리, 디스크, 네트워크)를 실시간으로 모니터링하는 웹 대시보드 구축 미달성 시 서비스 품질 저하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23160"/>
            <a:ext cx="8229600" cy="70408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555748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92324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3초 간격의 실시간 데이터 갱신으로 시스템 상태의 즉각적 파악 지원 미달성 시 서비스 품질 저하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8229600" cy="70408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3332988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369564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다크 테마 기반의 직관적이고 반응형 UI 제공 미달성 시 서비스 품질 저하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77639"/>
            <a:ext cx="8229600" cy="70408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4110227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146803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Docker 기반 원클릭 배포 환경 제공 미달성 시 서비스 품질 저하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맑은 고딕"/>
              </a:defRPr>
            </a:pPr>
            <a:r>
              <a:t>Before vs After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3657600" cy="484632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1755648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556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C2626"/>
                </a:solidFill>
                <a:latin typeface="맑은 고딕"/>
              </a:defRPr>
            </a:pPr>
            <a:r>
              <a:t>AS-IS (현재)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현대 IT 운영 환경에서 시스템 리소스의 실시간 모니터링은 안정적 서비스 운영의 핵심이다.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터미널 기반 수동 확인 방식은 장애 인지가 늦고, 엔터프라이즈 모니터링 도구는 설정이 복잡하고 비용이 높다.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브라우저만으로 시스템 상태를 한눈에 파악할 수 있는 경량 웹 대시보드가 필요하다.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31920" y="3886200"/>
            <a:ext cx="640080" cy="36576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20640" y="1645920"/>
            <a:ext cx="3657600" cy="484632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57800" y="1755648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7556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59669"/>
                </a:solidFill>
                <a:latin typeface="맑은 고딕"/>
              </a:defRPr>
            </a:pPr>
            <a:r>
              <a:t>TO-BE (미래)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CPU/메모리/디스크/네트워크 4종 차트 모두 정상 동작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788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데이터 갱신 주기 3초 이내 달성률 99% 이상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2918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대시보드 페이지 로딩 시간 2초 이내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79475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차트 렌더링 지연 500ms 이내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3B82F6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743200"/>
            <a:ext cx="18288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프로젝트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Objectives &amp; KPI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맑은 고딕"/>
              </a:defRPr>
            </a:pPr>
            <a:r>
              <a:t>핵심 성과 지표 (KPI)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39" y="1645920"/>
            <a:ext cx="3840480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7556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맑은 고딕"/>
              </a:defRPr>
            </a:pPr>
            <a:r>
              <a:t>CPU/메모리/디스크/네트워크 4종 차트 모두 정상 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1031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맑은 고딕"/>
              </a:defRPr>
            </a:pPr>
            <a:r>
              <a:t>-  -&gt;  CPU/메모리/디스크/네트워크 4종 차트 모두 정상 동작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645920"/>
            <a:ext cx="3840480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7556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맑은 고딕"/>
              </a:defRPr>
            </a:pPr>
            <a:r>
              <a:t>데이터 갱신 주기 3초 이내 달성률 99% 이상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031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맑은 고딕"/>
              </a:defRPr>
            </a:pPr>
            <a:r>
              <a:t>-  -&gt;  데이터 갱신 주기 3초 이내 달성률 99% 이상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39" y="3931920"/>
            <a:ext cx="3840480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40416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맑은 고딕"/>
              </a:defRPr>
            </a:pPr>
            <a:r>
              <a:t>대시보드 페이지 로딩 시간 2초 이내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43891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맑은 고딕"/>
              </a:defRPr>
            </a:pPr>
            <a:r>
              <a:t>-  -&gt;  대시보드 페이지 로딩 시간 2초 이내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931920"/>
            <a:ext cx="3840480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40416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맑은 고딕"/>
              </a:defRPr>
            </a:pPr>
            <a:r>
              <a:t>차트 렌더링 지연 500ms 이내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3891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맑은 고딕"/>
              </a:defRPr>
            </a:pPr>
            <a:r>
              <a:t>-  -&gt;  차트 렌더링 지연 500ms 이내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3B82F6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743200"/>
            <a:ext cx="18288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우리의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Our Solution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맑은 고딕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브라우저만 열면 서버 상태가 한눈에 보이는 경량 실시간 모니터링 대시보드를 구축합니다. 4개의 시각화 패널이 하나의 화면에 배치되어 CPU, 메모리, 디스크, 네트워크를 동시에 모니터링합니다.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91840"/>
            <a:ext cx="1828800" cy="365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2계층 클라이언트-서버 아키텍처 (모놀리식). React 프론트엔드가 3초 간격으로 FastAPI 백엔드를 폴링하여 psutil 기반 시스템 메트릭을 수집하고 Recharts로 시각화.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맑은 고딕"/>
              </a:defRPr>
            </a:pPr>
            <a:r>
              <a:t>작업 범위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3840480" cy="484632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1737360"/>
            <a:ext cx="320040" cy="3200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맑은 고딕"/>
              </a:defRPr>
            </a:pPr>
            <a:r>
              <a:t>포함 범위 (In-Scope)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맑은 고딕"/>
              </a:defRPr>
            </a:pPr>
            <a:r>
              <a:t>CPU 사용률 실시간 라인 차트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786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맑은 고딕"/>
              </a:defRPr>
            </a:pPr>
            <a:r>
              <a:t>메모리 사용률 실시간 라인 차트 (전체 대비 사용량 포함)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6265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맑은 고딕"/>
              </a:defRPr>
            </a:pPr>
            <a:r>
              <a:t>디스크 사용량 파이 차트 (드라이브별)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46703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맑은 고딕"/>
              </a:defRPr>
            </a:pPr>
            <a:r>
              <a:t>네트워크 IN/OUT 트래픽 실시간 차트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맑은 고딕"/>
              </a:defRPr>
            </a:pPr>
            <a:r>
              <a:t>3초 간격 자동 데이터 갱신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맑은 고딕"/>
              </a:defRPr>
            </a:pPr>
            <a:r>
              <a:t>다크 테마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645920"/>
            <a:ext cx="3840480" cy="484632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74920" y="1737360"/>
            <a:ext cx="320040" cy="3200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맑은 고딕"/>
              </a:defRPr>
            </a:pPr>
            <a:r>
              <a:t>제외 범위 (Out of Scope)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194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맑은 고딕"/>
              </a:defRPr>
            </a:pPr>
            <a:r>
              <a:t>사용자 인증 및 권한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5786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맑은 고딕"/>
              </a:defRPr>
            </a:pPr>
            <a:r>
              <a:t>다중 서버 모니터링 (원격 서버)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96265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맑은 고딕"/>
              </a:defRPr>
            </a:pPr>
            <a:r>
              <a:t>알림/경고 시스템 (이메일, Slack 등)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346703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맑은 고딕"/>
              </a:defRPr>
            </a:pPr>
            <a:r>
              <a:t>히스토리 데이터 저장 및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7307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맑은 고딕"/>
              </a:defRPr>
            </a:pPr>
            <a:r>
              <a:t>프로세스별 상세 모니터링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114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맑은 고딕"/>
              </a:defRPr>
            </a:pPr>
            <a:r>
              <a:t>로그 수집 및 분석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맑은 고딕"/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맑은 고딕"/>
              </a:defRPr>
            </a:pPr>
            <a:r>
              <a:t>핵심 기능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499360" cy="18288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73736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185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CPU 실시간 모니터링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2316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맑은 고딕"/>
              </a:defRPr>
            </a:pPr>
            <a:r>
              <a:t>CPU 사용률을 시간축 기반 라인 차트로 실시간 표시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2320" y="1645920"/>
            <a:ext cx="2499360" cy="18288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13760" y="1737360"/>
            <a:ext cx="320040" cy="320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5240" y="1737360"/>
            <a:ext cx="185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메모리 실시간 모니터링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3760" y="2148840"/>
            <a:ext cx="2316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맑은 고딕"/>
              </a:defRPr>
            </a:pPr>
            <a:r>
              <a:t>메모리 사용률과 전체 대비 사용량을 라인 차트로 표시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1645920"/>
            <a:ext cx="2499360" cy="18288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87440" y="1737360"/>
            <a:ext cx="320040" cy="32004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8920" y="1737360"/>
            <a:ext cx="185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디스크 사용량 시각화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440" y="2148840"/>
            <a:ext cx="2316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맑은 고딕"/>
              </a:defRPr>
            </a:pPr>
            <a:r>
              <a:t>드라이브별 사용/잔여 공간을 파이 차트로 표시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03320"/>
            <a:ext cx="2499360" cy="18288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794759"/>
            <a:ext cx="320040" cy="3200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794759"/>
            <a:ext cx="185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네트워크 트래픽 모니터링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2316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맑은 고딕"/>
              </a:defRPr>
            </a:pPr>
            <a:r>
              <a:t>수신/송신 트래픽을 구분하여 실시간 차트로 표시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22320" y="3703320"/>
            <a:ext cx="2499360" cy="18288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13760" y="3794759"/>
            <a:ext cx="320040" cy="32004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5240" y="3794759"/>
            <a:ext cx="185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3초 실시간 갱신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3760" y="4206240"/>
            <a:ext cx="2316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맑은 고딕"/>
              </a:defRPr>
            </a:pPr>
            <a:r>
              <a:t>백엔드 API를 3초 간격으로 자동 폴링하여 최신 데이터 유지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6000" y="3703320"/>
            <a:ext cx="2499360" cy="18288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87440" y="3794759"/>
            <a:ext cx="320040" cy="32004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8920" y="3794759"/>
            <a:ext cx="185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다크 테마 반응형 대시보드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7440" y="4206240"/>
            <a:ext cx="2316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맑은 고딕"/>
              </a:defRPr>
            </a:pPr>
            <a:r>
              <a:t>어두운 배경에 최적화된 차트 색상, 반응형 그리드 레이아웃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맑은 고딕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맑은 고딕"/>
              </a:defRPr>
            </a:pPr>
            <a:r>
              <a:t>기술 스택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8229600" cy="6583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78308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007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프론트엔드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React 18 + TypeScript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59152"/>
            <a:ext cx="8229600" cy="6583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496312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1401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차트 라이브러리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7919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Recharts 2.x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72384"/>
            <a:ext cx="8229600" cy="6583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3209544"/>
            <a:ext cx="365760" cy="36576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1272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빌드 도구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92424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Vite 5.x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85615"/>
            <a:ext cx="8229600" cy="6583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922775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4047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백엔드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105655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FastAPI + Python 3.11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98848"/>
            <a:ext cx="8229600" cy="6583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4636007"/>
            <a:ext cx="365760" cy="36576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5537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시스템 메트릭 수집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81888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psutil 5.9+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212080"/>
            <a:ext cx="8229600" cy="6583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" y="5349240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2669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배포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53212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Docker + Docker Compose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맑은 고딕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맑은 고딕"/>
              </a:defRPr>
            </a:pPr>
            <a:r>
              <a:t>시스템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-20260305-1634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05939"/>
            <a:ext cx="804672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3B82F6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743200"/>
            <a:ext cx="18288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프로젝트 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Timeline &amp; Milestones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PROJECT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맑은 고딕"/>
              </a:defRPr>
            </a:pPr>
            <a:r>
              <a:t>프로젝트 일정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0" y="731520"/>
            <a:ext cx="2011680" cy="41148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7589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2개월 (8주)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64208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645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맑은 고딕"/>
              </a:defRPr>
            </a:pPr>
            <a:r>
              <a:t>Phase 1: 분석 및 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2주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011680"/>
            <a:ext cx="6400800" cy="1371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1560" y="2011680"/>
            <a:ext cx="2133599" cy="1371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1945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요구사항 확정, UI/UX 설계 완료, 기술 설계 확정. 미해결 사항(차트 유형, 히스토리 범위 등) 의사결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532888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514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맑은 고딕"/>
              </a:defRPr>
            </a:pPr>
            <a:r>
              <a:t>Phase 2: 개발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4주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2880360"/>
            <a:ext cx="6400800" cy="1371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1560" y="2880360"/>
            <a:ext cx="4267199" cy="1371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0632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백엔드 API 개발(2주), 프론트엔드 대시보드 개발(3주), 프론트-백엔드 통합(1주). 백엔드와 프론트엔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3401568"/>
            <a:ext cx="347472" cy="34747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83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맑은 고딕"/>
              </a:defRPr>
            </a:pPr>
            <a:r>
              <a:t>Phase 3: 테스트 및 배포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2주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3749040"/>
            <a:ext cx="6400800" cy="1371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51560" y="3749040"/>
            <a:ext cx="6400800" cy="13716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9319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기능/성능/호환성/안정성 테스트, 버그 수정, Docker 배포, 문서화, 인수 테스트.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맑은 고딕"/>
              </a:defRPr>
            </a:pPr>
            <a:r>
              <a:t>PROJECT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맑은 고딕"/>
              </a:defRPr>
            </a:pPr>
            <a:r>
              <a:t>투입 인력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499360" cy="198881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69720" y="1755648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04288"/>
            <a:ext cx="240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PM/PL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78608"/>
            <a:ext cx="240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맑은 고딕"/>
              </a:defRPr>
            </a:pPr>
            <a:r>
              <a:t>1명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80360"/>
            <a:ext cx="240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프로젝트 관리, 요구사항 분석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2320" y="1645920"/>
            <a:ext cx="2499360" cy="198881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43400" y="175564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8040" y="2304288"/>
            <a:ext cx="240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프론트엔드 개발자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8040" y="2578608"/>
            <a:ext cx="240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맑은 고딕"/>
              </a:defRPr>
            </a:pPr>
            <a:r>
              <a:t>1명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8040" y="2880360"/>
            <a:ext cx="240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React UI 개발, 차트 컴포넌트 구현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0" y="1645920"/>
            <a:ext cx="2499360" cy="198881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17080" y="1755648"/>
            <a:ext cx="457200" cy="4572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1720" y="2304288"/>
            <a:ext cx="240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백엔드 개발자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1720" y="2578608"/>
            <a:ext cx="240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맑은 고딕"/>
              </a:defRPr>
            </a:pPr>
            <a:r>
              <a:t>1명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1720" y="2880360"/>
            <a:ext cx="240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FastAPI 서버 개발, psutil 메트릭 수집 서비스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63339"/>
            <a:ext cx="2499360" cy="198881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569720" y="3973068"/>
            <a:ext cx="457200" cy="457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521707"/>
            <a:ext cx="240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UI/UX 디자이너 (파트타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796027"/>
            <a:ext cx="240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맑은 고딕"/>
              </a:defRPr>
            </a:pPr>
            <a:r>
              <a:t>1명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097779"/>
            <a:ext cx="240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대시보드 레이아웃 설계, 다크 테마 색상 팔레트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22320" y="3863339"/>
            <a:ext cx="2499360" cy="198881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343400" y="3973068"/>
            <a:ext cx="457200" cy="4572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8040" y="4521707"/>
            <a:ext cx="240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QA 엔지니어 (파트타임)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8040" y="4796027"/>
            <a:ext cx="240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맑은 고딕"/>
              </a:defRPr>
            </a:pPr>
            <a:r>
              <a:t>1명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8040" y="5097779"/>
            <a:ext cx="240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기능/성능/호환성/안정성 테스트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6035040"/>
            <a:ext cx="4572000" cy="4572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31720" y="6080759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총 공수: 4.0 Man-Months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A580C"/>
                </a:solidFill>
                <a:latin typeface="맑은 고딕"/>
              </a:defRPr>
            </a:pPr>
            <a:r>
              <a:t>RISK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맑은 고딕"/>
              </a:defRPr>
            </a:pPr>
            <a:r>
              <a:t>리스크 관리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8229600" cy="97840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755648"/>
            <a:ext cx="731520" cy="274320"/>
          </a:xfrm>
          <a:prstGeom prst="roundRect">
            <a:avLst>
              <a:gd name="adj" fmla="val 6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764792"/>
            <a:ext cx="694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190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요구사항 변경 (PRD 미해결 사항 5건: 네트워크 차트 유형, 데이터 히스토리 범위, API 프레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031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-&gt; Phase 1에서 전체 미해결 사항 조기 확정, 변경 시 영향 분석 수행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97480"/>
            <a:ext cx="8229600" cy="97840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2807208"/>
            <a:ext cx="731520" cy="27432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816352"/>
            <a:ext cx="694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7706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프론트엔드 차트 성능 이슈 (3초 폴링으로 인한 메모리 누수 가능성)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1546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-&gt; 데이터 포인트 60개 제한, React.memo 최적화, useEffect cleanup 철저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8229600" cy="97840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3858768"/>
            <a:ext cx="731520" cy="27432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867911"/>
            <a:ext cx="694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822191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OS별 psutil 동작 차이 (Windows vs Linux 메트릭 수집 결과 불일치)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2062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-&gt; 타겟 OS 확정 후 집중 테스트, OS별 분기 처리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800600"/>
            <a:ext cx="8229600" cy="97840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4910328"/>
            <a:ext cx="731520" cy="27432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919472"/>
            <a:ext cx="694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87375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팀원 가용성 변동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2578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-&gt; 20% 공수 버퍼 확보, 크리티컬 패스 작업 우선 배정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맑은 고딕"/>
              </a:defRPr>
            </a:pPr>
            <a:r>
              <a:t>EXPECTED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맑은 고딕"/>
              </a:defRPr>
            </a:pPr>
            <a:r>
              <a:t>기대 효과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19" y="16459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37360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맑은 고딕"/>
              </a:defRPr>
            </a:pPr>
            <a:r>
              <a:t>이상 징후 감지 시간 97% 단축 (5~10분 → 3초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57400"/>
            <a:ext cx="2157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59669"/>
                </a:solidFill>
                <a:latin typeface="맑은 고딕"/>
              </a:defRPr>
            </a:pPr>
            <a:r>
              <a:t> -&gt; </a:t>
            </a:r>
          </a:p>
        </p:txBody>
      </p:sp>
      <p:sp>
        <p:nvSpPr>
          <p:cNvPr id="8" name="Oval 7"/>
          <p:cNvSpPr/>
          <p:nvPr/>
        </p:nvSpPr>
        <p:spPr>
          <a:xfrm>
            <a:off x="1783080" y="269748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^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16459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1737360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맑은 고딕"/>
              </a:defRPr>
            </a:pPr>
            <a:r>
              <a:t>모니터링 접근 장벽 제거 (SSH 불필요, 웹 브라우저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2057400"/>
            <a:ext cx="2157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59669"/>
                </a:solidFill>
                <a:latin typeface="맑은 고딕"/>
              </a:defRPr>
            </a:pPr>
            <a:r>
              <a:t> -&gt; 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269748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^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6459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737360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맑은 고딕"/>
              </a:defRPr>
            </a:pPr>
            <a:r>
              <a:t>시스템 리소스 4대 항목 100% 가시성 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2057400"/>
            <a:ext cx="2157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59669"/>
                </a:solidFill>
                <a:latin typeface="맑은 고딕"/>
              </a:defRPr>
            </a:pPr>
            <a:r>
              <a:t> -&gt; </a:t>
            </a:r>
          </a:p>
        </p:txBody>
      </p:sp>
      <p:sp>
        <p:nvSpPr>
          <p:cNvPr id="16" name="Oval 15"/>
          <p:cNvSpPr/>
          <p:nvPr/>
        </p:nvSpPr>
        <p:spPr>
          <a:xfrm>
            <a:off x="7086600" y="269748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^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  이상 징후 감지 시간 97% 단축 (5~10분 → 3초)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  모니터링 접근 장벽 제거 (SSH 불필요, 웹 브라우저만으로 접근)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51376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  시스템 리소스 4대 항목 100% 가시성 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35424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  데이터 갱신 완전 자동화 (3초 간격)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1947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  팀 전체 공통 시각 확보 (URL 하나로 시스템 상태 공유)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맑은 고딕"/>
              </a:defRPr>
            </a:pPr>
            <a:r>
              <a:t>다음 단계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8229600" cy="71323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796795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19655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제안서 검토 및 Q&amp;A 세션 (1주)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59152"/>
            <a:ext cx="27432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8229600" cy="71323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619756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4261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세부 요구사항 협의 및 미해결 사항 확정 (1주)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82112"/>
            <a:ext cx="27432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291840"/>
            <a:ext cx="8229600" cy="71323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3442716"/>
            <a:ext cx="384048" cy="38404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6557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계약 체결 및 환경 준비 (1주)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005072"/>
            <a:ext cx="27432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4114800"/>
            <a:ext cx="8229600" cy="71323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4265676"/>
            <a:ext cx="384048" cy="38404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28853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킥오프 미팅 (팀 소개, 일정 확정)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828032"/>
            <a:ext cx="27432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4937760"/>
            <a:ext cx="8229600" cy="71323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5088636"/>
            <a:ext cx="384048" cy="38404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1114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프로젝트 착수 (2026-03-09)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3291840"/>
            <a:ext cx="27432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맑은 고딕"/>
              </a:defRPr>
            </a:pPr>
            <a:r>
              <a:t>함께 시작하겠습니다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B82F6"/>
                </a:solidFill>
                <a:latin typeface="맑은 고딕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