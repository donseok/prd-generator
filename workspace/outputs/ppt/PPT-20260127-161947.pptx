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부산 스마트 계량 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EC0"/>
                </a:solidFill>
              </a:defRPr>
            </a:pPr>
            <a:r>
              <a:t>2026-01-27 | 동국씨엠 부산공장 귀중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목차 (Contents)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01  경영진 요약 (Executive Summary)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02  현재 상황과 도전 (Current Challenges)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03  프로젝트 목표 (Objectives)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04  우리의 솔루션 (Our Solution)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05  기술 접근법 (Technical Approach)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06  일정 계획 (Timeline)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07  투입 인력 (Team)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08  기대 효과 (Expected Benefits)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09  다음 단계 (Next Steps)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LPR+AI 기반 차량번호 자동인식, 모바일 APP, 전자 계량표를 결합한 스마트 계량 시스템으로 RFID 수동 운영의 안전 위험·비효율·업무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6B6D4"/>
                </a:solidFill>
              </a:defRPr>
            </a:pPr>
            <a:r>
              <a:t>RFID 수동 운영의 한계를 넘어, 스마트 계량 시대로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경영진 요약 (Executive Summary)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해결할 문제: LPR+AI 기반 차량번호 자동인식, 모바일 APP, 전자 계량표를 결합한 스마트 계량 시스템으로 RFID 수동 운영의 안전 위험·비효율·업무 과중 문제를 근본적으로 해결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솔루션: LPR+AI 기반 차량번호 자동인식, 모바일 APP, 전자 계량표를 결합한 스마트 계량 시스템으로 RFID 수동 운영의 안전 위험·비효율·업무 과중 문제를 근본적으로 해결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예상 기간: 2026.04 ~ 2026.11 (8개월, 32주)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투입 공수: 598 MD (29.9 M/M)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핵심 효과: 무인 자동 계량 90% 이상, Paperless 0% (Paperless)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현재 상황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현재의 도전과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안전 위험: 종이 계량표 수취 과정에서 차량 근처 안전사고 위험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운영 비효율: 다중 배차 시 복수 RFID 카드 사용, 카드 관리 행정비용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업무 과중: 특정 부서(물류관제실) 전화 문의 집중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정확도 한계: 복잡한 1차/2차/3차 계량 처리, 재계량 불가 구조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변화하지 않으면?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종이 계량표 안전사고 위험 지속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RFID 카드 관리 비용 누적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특정 부서 업무 과중 심화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디지털 전환 지연으로 경쟁력 저하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Before vs After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4023360" cy="53035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현재 (AS-IS)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종이 계량표 수취 과정에서 차량 근처 안전사고 위험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다중 배차 시 복수 RFID 카드 사용, 카드 관리 행정비용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특정 부서(물류관제실) 전화 문의 집중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복잡한 1차/2차/3차 계량 처리, 재계량 불가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97280"/>
            <a:ext cx="4023360" cy="53035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미래 (TO-BE)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무인 계량 자동화: LPR + AI 기반 차량번호 자동인식으로 무인 자동 계량 실현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Paperless 운영: 모바일 APP 기반 전자 계량표 도입으로 종이 계량표 완전 대체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시스템 통합: 기존 배차/계량관리 시스템 통합 및 UI/UX 현대화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프로세스 단순화: 계량 프로세스 간소화로 에러율 감소 및 처리 속도 향상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프로젝트 목표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목표 및 핵심 KPI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4114800" cy="21945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무인 자동 계량 비율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C3AED"/>
                </a:solidFill>
              </a:defRPr>
            </a:pPr>
            <a:r>
              <a:t>0% → 90% 이상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  <a:r>
              <a:t>계량 모드별 실적 통계 (LPR_AUTO 비율)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188720"/>
            <a:ext cx="4114800" cy="21945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종이 계량표 사용률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8288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C3AED"/>
                </a:solidFill>
              </a:defRPr>
            </a:pPr>
            <a:r>
              <a:t>100% → 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651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  <a:r>
              <a:t>전자 계량표 발행율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657600"/>
            <a:ext cx="4114800" cy="21945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계량 처리 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C3AED"/>
                </a:solidFill>
              </a:defRPr>
            </a:pPr>
            <a:r>
              <a:t>기준값 측정 필요 → 30% 단축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  <a:r>
              <a:t>계량 시작~완료 시간 비교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657600"/>
            <a:ext cx="4114800" cy="21945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3840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계량 에러율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2976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C3AED"/>
                </a:solidFill>
              </a:defRPr>
            </a:pPr>
            <a:r>
              <a:t>기준값 측정 필요 → 50% 감소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120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  <a:r>
              <a:t>재계량·오류 건수 대비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우리의 솔루션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LPR+AI 자동인식으로 무인 계량 시대를 엽니다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6B6D4"/>
                </a:solidFill>
              </a:defRPr>
            </a:pPr>
            <a:r>
              <a:t>LPR + AI 차량번호 자동인식, 계량관리 모바일 APP (Flutter), 계량 웹 관리 시스템 (React)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작업 범위 (Scope)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4023360" cy="53035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포함 (In-Scope)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: LPR 차량번호 인식 시스템 (LPR + AI + 모바일 OTP)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: 스마트 계량 웹 관리 시스템 (배차등록, 기준정보, 계량관리, 출문관리)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: 계량대 CS 프로그램 (인디게이터/LPR 연동)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: 계량관리 모바일 APP (로그인, 배차조회, 계량진행, 전자계량표, OTP)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: 모바일 API (사용자/배차 정보 연동, 모바일 계량 처리)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97280"/>
            <a:ext cx="4023360" cy="53035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제외 (Out of Scope)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포항공장 계량 시스템 (이미 구축 완료)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ERP 또는 MES 시스템 전면 교체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타 공장 확대 적용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기술 스택 (Technology Stack)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백엔드: Java 17, Spring Boot 3.2, Spring Security 6 (JWT + RBAC), Spring Data JPA + QueryDSL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프론트엔드(Web): React 18, TypeScript 5, Ant Design 5, Vite 5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모바일: Flutter 3.x, Dart 3, Riverpod 2, Firebase Cloud Messaging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계량대 CS: C# 11 (.NET 7+), .NET WinForms/WPF, Visual Studio 2022 Professional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데이터베이스: PostgreSQL 16, Redis 7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인프라: Nginx 1.24, Docker + Docker Compose, Jenkins / GitLab CI, Prometheus + Grafana + ELK Stack, CentOS / Rocky Linux 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일정 계획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프로젝트 타임라인 (32주 (8개월: 2026.04 ~ 2026.11))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743200"/>
            <a:ext cx="265176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분석 및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EC0"/>
                </a:solidFill>
              </a:defRPr>
            </a:pPr>
            <a:r>
              <a:t>W1~W9 (9주)</a:t>
            </a:r>
            <a:br/>
            <a:r>
              <a:t>2026.04 ~ 2026.05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651760" cy="5486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20116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인프라 구축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474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EC0"/>
                </a:solidFill>
              </a:defRPr>
            </a:pPr>
            <a:r>
              <a:t>W5~W15 (11주)</a:t>
            </a:r>
            <a:br/>
            <a:r>
              <a:t>2026.05 ~ 2026.07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743200"/>
            <a:ext cx="265176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20116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프로그램 개발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474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EC0"/>
                </a:solidFill>
              </a:defRPr>
            </a:pPr>
            <a:r>
              <a:t>W9~W24 (15주)</a:t>
            </a:r>
            <a:br/>
            <a:r>
              <a:t>2026.06 ~ 2026.09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프로젝트 팀 구성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23443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PM/PL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79" y="16916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2194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전 기간 (100%)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09728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23443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BA (업무 분석가)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6916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194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전 기간 (Phase별 변동)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9728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3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백엔드 개발자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916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94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Phase 2~4 (100%)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47472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61187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프론트엔드 개발자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069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572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Phase 3~4 (100%)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347472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361187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모바일 개발자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069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572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Phase 3~4 (100%)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7472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61187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CS 개발자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069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572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Phase 2~4 (100%)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총 공수: 29.9 Man-Months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리스크 관리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LPR 차량번호 인식률 미달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→ AI 검증 이중화, 모바일 OTP 대체 프로세스, 보조 조명 설치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10312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AI 인식 엔진 성능 지연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6032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→ 벤치마크 수행, 로컬 GPU 서버, 경량 모델 병행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10896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2004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RS-232C 인디게이터 통신 불안정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6616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→ 재시도 로직, 타임아웃 관리, 예비 컨버터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11480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2062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206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기존 데이터 마이그레이션 실패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57200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→ 단계별 마이그레이션, 검증 구간, 롤백 계획, 병행 운영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512064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12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212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외부 서비스 장애 (카카오/SMS)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57784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→ 멀티 채널 대체, 재시도 큐, 서킷브레이커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0% → 90%+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6B6D4"/>
                </a:solidFill>
              </a:defRPr>
            </a:pPr>
            <a:r>
              <a:t>무인 자동 계량 비율 개선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다음 단계 (Next Steps)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Kick-Off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63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6B6D4"/>
                </a:solidFill>
              </a:defRPr>
            </a:pPr>
            <a:r>
              <a:t>2026.04.01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68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분석/설계 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468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6B6D4"/>
                </a:solidFill>
              </a:defRPr>
            </a:pPr>
            <a:r>
              <a:t>2026.05.31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3832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74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인프라 구축 완료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474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6B6D4"/>
                </a:solidFill>
              </a:defRPr>
            </a:pPr>
            <a:r>
              <a:t>2026.07.15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3891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4805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프로그램 개발 완료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4805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6B6D4"/>
                </a:solidFill>
              </a:defRPr>
            </a:pPr>
            <a:r>
              <a:t>2026.09.15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53949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4864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486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테스트 완료 (UAT)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4864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6B6D4"/>
                </a:solidFill>
              </a:defRPr>
            </a:pPr>
            <a:r>
              <a:t>2026.09.30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7C3AED"/>
                </a:solidFill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0AEC0"/>
                </a:solidFill>
              </a:defRPr>
            </a:pPr>
            <a:r>
              <a:t>Q&amp;A | 지금 바로 스마트 계량 시스템을 시작하세요!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