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냉연 통합 MES/APS 시스템 구축 프로젝트 (NEXUS)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EC0"/>
                </a:solidFill>
              </a:defRPr>
            </a:pPr>
            <a:r>
              <a:t> | [고객사] 귀중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목차 (Contents)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01  경영진 요약 (Executive Summary)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02  현재 상황과 도전 (Current Challenges)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03  프로젝트 목표 (Objectives)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04  우리의 솔루션 (Our Solution)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05  기술 접근법 (Technical Approach)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06  일정 계획 (Timeline)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07  투입 인력 (Team)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08  기대 효과 (Expected Benefits)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09  다음 단계 (Next Steps)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디지털 전환으로 업무 효율 혁신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6B6D4"/>
                </a:solidFill>
              </a:defRPr>
            </a:pPr>
            <a:r>
              <a:t>레거시 시스템의 한계를 극복합니다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경영진 요약 (Executive Summary)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해결할 문제: 귀사의 스마트팩토리 도약을 위한 핵심 솔루션을 제안드립니다. 현재 MES-APS 간 15분 배치 연동으로 인한 실시간 의사결정 불가 및 연간 8억원 유지보수 비용 문제를 해결하기 위해, 클라우드 하이브리드 기반 통합 MES/APS 플랫폼을 신규 구축합니다. 18개월(2026.07~2027.12) 동안 180 Man-Months(40명 투입)를 투입하여 OEE 5%p 개선(78%→83%)과 납기 준수율 97% 달성을 목표로 합니다.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솔루션: 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예상 기간: 18개월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투입 공수: 180 M/M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핵심 효과: OEE 78% → 83% (+5%p 개선), 납기 준수율 92% → 97% (+5%p 개선)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7C3AED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현재 상황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현재의 도전과 과제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문제 1: 유지보수 인력 확보 어려움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문제 2: 수기 대장 작성 병행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문제 3: 운전기사 대기 시간 45분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문제 4: 실시간 현황 파악 어려움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변화하지 않으면?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시스템 장애 시 복구 불가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인력 이탈 시 운영 마비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경쟁력 저하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고객 불만 증가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Before vs After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4023360" cy="53035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현재 (AS-IS)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유지보수 인력 확보 어려움</a:t>
            </a:r>
          </a:p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수기 대장 작성 병행</a:t>
            </a:r>
          </a:p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운전기사 대기 시간 45분</a:t>
            </a:r>
          </a:p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실시간 현황 파악 어려움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097280"/>
            <a:ext cx="4023360" cy="53035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280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미래 (TO-BE)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82880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OEE 83% 달성</a:t>
            </a:r>
          </a:p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납기 준수율 97% 달성</a:t>
            </a:r>
          </a:p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품질 불량률 0.7% 이하</a:t>
            </a:r>
          </a:p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스케줄 준수율 90% 달성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7C3AED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프로젝트 목표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목표 및 핵심 KPI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188720"/>
            <a:ext cx="4114800" cy="219456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EC0"/>
                </a:solidFill>
              </a:defRPr>
            </a:pPr>
            <a:r>
              <a:t>OEE 83% 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C3AED"/>
                </a:solidFill>
              </a:defRPr>
            </a:pPr>
            <a:r>
              <a:t>- → OEE 83% 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0B981"/>
                </a:solidFill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4572000" y="1188720"/>
            <a:ext cx="4114800" cy="219456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371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EC0"/>
                </a:solidFill>
              </a:defRPr>
            </a:pPr>
            <a:r>
              <a:t>납기 준수율 97% 달성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8288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C3AED"/>
                </a:solidFill>
              </a:defRPr>
            </a:pPr>
            <a:r>
              <a:t>- → 납기 준수율 97% 달성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6517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0B981"/>
                </a:solidFill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274320" y="3657600"/>
            <a:ext cx="4114800" cy="219456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8404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EC0"/>
                </a:solidFill>
              </a:defRPr>
            </a:pPr>
            <a:r>
              <a:t>품질 불량률 0.7% 이하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9768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C3AED"/>
                </a:solidFill>
              </a:defRPr>
            </a:pPr>
            <a:r>
              <a:t>- → 품질 불량률 0.7% 이하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206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0B981"/>
                </a:solidFill>
              </a:defRPr>
            </a:pPr>
          </a:p>
        </p:txBody>
      </p:sp>
      <p:sp>
        <p:nvSpPr>
          <p:cNvPr id="15" name="Rounded Rectangle 14"/>
          <p:cNvSpPr/>
          <p:nvPr/>
        </p:nvSpPr>
        <p:spPr>
          <a:xfrm>
            <a:off x="4572000" y="3657600"/>
            <a:ext cx="4114800" cy="219456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38404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EC0"/>
                </a:solidFill>
              </a:defRPr>
            </a:pPr>
            <a:r>
              <a:t>스케줄 준수율 90% 달성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29768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C3AED"/>
                </a:solidFill>
              </a:defRPr>
            </a:pPr>
            <a:r>
              <a:t>- → 스케줄 준수율 90% 달성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51206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0B981"/>
                </a:solidFill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7C3AED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우리의 솔루션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손으로 쓰던 전표가 스마트폰으로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6B6D4"/>
                </a:solidFill>
              </a:defRPr>
            </a:pPr>
            <a:r>
              <a:t>NEXUS (Next-generation EXecution &amp; Unified Scheduling) - 냉연 전 공정 9개 라인을 통합하는 차세대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작업 범위 (Scope)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4023360" cy="53035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포함 (In-Scope)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: APS 스케줄링 - 통합 생산계획, 제약조건 스케줄링, What-if 시뮬레이션</a:t>
            </a:r>
          </a:p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: MES 핵심 - 작업지시, 코일 추적, 실시간 데이터 수집, 재공 관리</a:t>
            </a:r>
          </a:p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: 품질 관리 - SPC, 품질 판정, 성적서 자동화, 클레임 역추적</a:t>
            </a:r>
          </a:p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: 설비 관리 - OEE 자동 산출, 롤 교체 알림, 정비 일정 연동</a:t>
            </a:r>
          </a:p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: 분석/리포팅 - 통합 대시보드, KPI 관리, 생산일보 자동화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097280"/>
            <a:ext cx="4023360" cy="53035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280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제외 (Out of Scope)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82880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품질 예측 AI/ML 모델 - 2차 사업 범위로 분리</a:t>
            </a:r>
          </a:p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열연/후판 공장 확대 - 냉연 성공 후 확장 검토</a:t>
            </a:r>
          </a:p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네이티브 모바일 앱 - PWA로 대체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기술 스택 (Technology Stack)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Frontend: React 18 + TypeScript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Backend: Java 21 (Spring Boot) + Python 3.11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Database: PostgreSQL 16 + TimescaleDB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Messaging: Apache Kafka 3.6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Edge: KEPServerEX + OPC-UA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Infrastructure: Kubernetes (Rancher RKE2)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7C3AED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일정 계획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프로젝트 타임라인 (18개월)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743200"/>
            <a:ext cx="2651760" cy="5486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P1: 분석/설계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0AEC0"/>
                </a:solidFill>
              </a:defRPr>
            </a:pPr>
            <a:r>
              <a:t>3개월</a:t>
            </a:r>
            <a:br/>
            <a:r>
              <a:t>상세 요구사항 확정 및 시스템 아키텍처 설계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743200"/>
            <a:ext cx="2651760" cy="5486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201168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P2: 기반 구축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4747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0AEC0"/>
                </a:solidFill>
              </a:defRPr>
            </a:pPr>
            <a:r>
              <a:t>3개월</a:t>
            </a:r>
            <a:br/>
            <a:r>
              <a:t>개발 환경 및 인프라 구축, 공통 모듈 개발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743200"/>
            <a:ext cx="265176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201168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P3: 핵심 개발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4747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0AEC0"/>
                </a:solidFill>
              </a:defRPr>
            </a:pPr>
            <a:r>
              <a:t>6개월</a:t>
            </a:r>
            <a:br/>
            <a:r>
              <a:t>MES/APS 핵심 기능 개발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프로젝트 팀 구성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2743200" cy="21031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234439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C3AED"/>
                </a:solidFill>
              </a:defRPr>
            </a:pPr>
            <a:r>
              <a:t>PM/PL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79" y="169164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21945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프로젝트 관리, 이해관계자 커뮤니케이션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097280"/>
            <a:ext cx="2743200" cy="21031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234439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C3AED"/>
                </a:solidFill>
              </a:defRPr>
            </a:pPr>
            <a:r>
              <a:t>시스템 아키텍트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69164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1945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시스템 아키텍처 설계, 기술 의사결정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97280"/>
            <a:ext cx="2743200" cy="21031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39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C3AED"/>
                </a:solidFill>
              </a:defRPr>
            </a:pPr>
            <a:r>
              <a:t>APS 전문가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9164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4명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1945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스케줄링 엔진 개발, 제약조건 모델링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474720"/>
            <a:ext cx="2743200" cy="21031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3611879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C3AED"/>
                </a:solidFill>
              </a:defRPr>
            </a:pPr>
            <a:r>
              <a:t>백엔드 개발자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40690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10명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5720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MES 서비스 개발, API 개발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3474720"/>
            <a:ext cx="2743200" cy="21031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3611879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C3AED"/>
                </a:solidFill>
              </a:defRPr>
            </a:pPr>
            <a:r>
              <a:t>프론트엔드 개발자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40690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6명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5720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웹 UI 개발, 대시보드 개발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74720"/>
            <a:ext cx="2743200" cy="21031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3611879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C3AED"/>
                </a:solidFill>
              </a:defRPr>
            </a:pPr>
            <a:r>
              <a:t>에지/OT 개발자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0690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4명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5720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OPC-UA 연동, Edge Gateway 개발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6B6D4"/>
                </a:solidFill>
              </a:defRPr>
            </a:pPr>
            <a:r>
              <a:t>총 공수: 180 Man-Months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리스크 관리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8595360" cy="91440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HIGH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188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APS 엔진 성능 미달 - 냉연 제약조건 반영 시 연산 시간 초과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→ PoC 조기 검증 (P1), 휴리스틱 알고리즘 병행 개발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103120"/>
            <a:ext cx="8595360" cy="91440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1945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OPC-UA 대량 수집 지연 - 7,000+ 태그 1초 주기 수집 성능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6032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→ 라인별 Edge Gateway 분산, 로컬 버퍼링 적용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108960"/>
            <a:ext cx="8595360" cy="91440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2004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MEDIUM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2004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SAP RFC/BAPI 연동 복잡도 - 기존 SAP 인터페이스 복잡성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56616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→ SAP 전문가 조기 투입, IDoc 대안 준비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114800"/>
            <a:ext cx="8595360" cy="91440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2062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MEDIUM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2062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RFID 고온 환경 내구성 - BAF 출측 200℃ 환경 RFID 태그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57200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→ PoC 통한 200℃ 환경 검증 (P1)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5120640"/>
            <a:ext cx="8595360" cy="91440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2120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2120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현업 참여 부족 - 요구사항 확정 및 UAT 지연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57784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→ 전담 슈퍼유저 지정, 주간 리뷰 미팅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다음 단계 (Next Steps)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37160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4630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제안서 검토 및 Q&amp;A 세션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4630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06B6D4"/>
                </a:solidFill>
              </a:defRPr>
            </a:pPr>
            <a:r>
              <a:t>1주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37744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4688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범위, 일정, 예산 세부 협의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4688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06B6D4"/>
                </a:solidFill>
              </a:defRPr>
            </a:pPr>
            <a:r>
              <a:t>1주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38328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4747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474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최종 계약 및 서명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4747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06B6D4"/>
                </a:solidFill>
              </a:defRPr>
            </a:pPr>
            <a:r>
              <a:t>1주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43891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4805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4805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프로젝트 팀 구성 및 킥오프 미팅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4805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06B6D4"/>
                </a:solidFill>
              </a:defRPr>
            </a:pPr>
            <a:r>
              <a:t>-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53949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4864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4864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프로젝트 착수 (2026년 7월 1일)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4864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06B6D4"/>
                </a:solidFill>
              </a:defRPr>
            </a:pPr>
            <a:r>
              <a:t>🚀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7C3AED"/>
                </a:solidFill>
              </a:defRPr>
            </a:pPr>
            <a: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0AEC0"/>
                </a:solidFill>
              </a:defRPr>
            </a:pPr>
            <a:r>
              <a:t>Q&amp;A | 지금 바로 함께 시작하세요!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