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프로젝트 코드명 NEXUS. 2026년 하반기 착수 목표. 통합 MES/APS 구축으로 냉연 스마트팩토리 실현.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현재 시스템 문제점 5가지. 특히 MES-APS 연동 지연이 가장 심각. 연간 유지보수 비용 8억원 절감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KPI 6가지. ROI 관점에서 OEE 5%p 향상 시 연간 약 50억원 효과 예상.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18개월 6단계. 정기 수리(4월, 10월) 활용 현장 테스트. 기존 MES 병행 운영 3개월.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7C3AED"/>
                </a:solidFill>
              </a:defRPr>
            </a:pPr>
            <a:r>
              <a:t>Project NEXUS</a:t>
            </a:r>
          </a:p>
          <a:p>
            <a:pPr algn="ctr">
              <a:defRPr sz="3200">
                <a:solidFill>
                  <a:srgbClr val="FFFFFF"/>
                </a:solidFill>
              </a:defRPr>
            </a:pPr>
            <a:r>
              <a:t>냉연 통합 MES/APS 시스템 구축</a:t>
            </a:r>
          </a:p>
          <a:p>
            <a:br/>
            <a:pPr algn="ctr">
              <a:defRPr sz="1800">
                <a:solidFill>
                  <a:srgbClr val="A0AEC0"/>
                </a:solidFill>
              </a:defRPr>
            </a:pPr>
            <a:r>
              <a:t>○○제철 냉연사업부 | 2026년 하반기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왜 통합 MES/APS가 필요한가?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■ MES-APS 연동 지연 15분</a:t>
            </a:r>
          </a:p>
          <a:p>
            <a:pPr>
              <a:defRPr sz="1600">
                <a:solidFill>
                  <a:srgbClr val="A0AEC0"/>
                </a:solidFill>
              </a:defRPr>
            </a:pPr>
            <a:r>
              <a:t>   → 실시간 의사결정 불가, 계획 신뢰도 68%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■ MES 노후화 (2012년 구축)</a:t>
            </a:r>
          </a:p>
          <a:p>
            <a:pPr>
              <a:defRPr sz="1600">
                <a:solidFill>
                  <a:srgbClr val="A0AEC0"/>
                </a:solidFill>
              </a:defRPr>
            </a:pPr>
            <a:r>
              <a:t>   → 화면 응답 5초, 유지보수비 연 8억원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■ APS 제약조건 미반영</a:t>
            </a:r>
          </a:p>
          <a:p>
            <a:pPr>
              <a:defRPr sz="1600">
                <a:solidFill>
                  <a:srgbClr val="A0AEC0"/>
                </a:solidFill>
              </a:defRPr>
            </a:pPr>
            <a:r>
              <a:t>   → 수작업 재계획 주 2~3회, 스케줄 준수율 72%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■ 코일 추적 불완전</a:t>
            </a:r>
          </a:p>
          <a:p>
            <a:pPr>
              <a:defRPr sz="1600">
                <a:solidFill>
                  <a:srgbClr val="A0AEC0"/>
                </a:solidFill>
              </a:defRPr>
            </a:pPr>
            <a:r>
              <a:t>   → 위치 확인 25분, 월 3건 분실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■ 품질 데이터 단절</a:t>
            </a:r>
          </a:p>
          <a:p>
            <a:pPr>
              <a:defRPr sz="1600">
                <a:solidFill>
                  <a:srgbClr val="A0AEC0"/>
                </a:solidFill>
              </a:defRPr>
            </a:pPr>
            <a:r>
              <a:t>   → 클레임 분석 16시간, 불량률 1.2%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프로젝트 목표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6B6D4"/>
                </a:solidFill>
                <a:latin typeface="Courier New"/>
              </a:defRPr>
            </a:pPr>
            <a:r>
              <a:t>OEE　　　　　　　　　  현재:      78%  →  목표:      83%  (+5%p)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6B6D4"/>
                </a:solidFill>
                <a:latin typeface="Courier New"/>
              </a:defRPr>
            </a:pPr>
            <a:r>
              <a:t>납기 준수율　　　　　　  현재:      92%  →  목표:      97%  (+5%p)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6B6D4"/>
                </a:solidFill>
                <a:latin typeface="Courier New"/>
              </a:defRPr>
            </a:pPr>
            <a:r>
              <a:t>품질 불량률　　　　　　  현재:     1.2%  →  목표:     0.7%  (-0.5%p)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6B6D4"/>
                </a:solidFill>
                <a:latin typeface="Courier New"/>
              </a:defRPr>
            </a:pPr>
            <a:r>
              <a:t>계획수립 시간　　　　　  현재:      4시간  →  목표:      30분  (-87%)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6B6D4"/>
                </a:solidFill>
                <a:latin typeface="Courier New"/>
              </a:defRPr>
            </a:pPr>
            <a:r>
              <a:t>재공재고　　　　　　　　  현재:       기준  →  목표:     -15%  (-15%)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6B6D4"/>
                </a:solidFill>
                <a:latin typeface="Courier New"/>
              </a:defRPr>
            </a:pPr>
            <a:r>
              <a:t>에너지비용　　　　　　　  현재:       기준  →  목표:      -8%  (-8%)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대상 공정 (9개 라인)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600">
                <a:solidFill>
                  <a:srgbClr val="A0AEC0"/>
                </a:solidFill>
                <a:latin typeface="Courier New"/>
              </a:defRPr>
            </a:pPr>
            <a:r>
              <a:t>[원재료] → PCM(산세냉연) → BAF(상자소둔) or CAL(연속소둔)</a:t>
            </a:r>
            <a:br/>
            <a:r>
              <a:t>                                    ↓                    ↓</a:t>
            </a:r>
            <a:br/>
            <a:r>
              <a:t>                              SPM(조질압연)         EGL(전기도금)</a:t>
            </a:r>
            <a:br/>
            <a:r>
              <a:t>                                    ↓                CGL(용융도금)</a:t>
            </a:r>
            <a:br/>
            <a:r>
              <a:t>                              RCL(정정라인)               ↓</a:t>
            </a:r>
            <a:br/>
            <a:r>
              <a:t>                                    ↓              CCL(컬러도장)</a:t>
            </a:r>
            <a:br/>
            <a:r>
              <a:t>                              SL(슬리팅)                  ↓</a:t>
            </a:r>
            <a:br/>
            <a:r>
              <a:t>                                    ↓               [최종 제품]</a:t>
            </a:r>
            <a:br/>
            <a:r>
              <a:t>                              [최종 제품]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추진 일정 (18개월)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7C3AED"/>
                </a:solidFill>
              </a:defRPr>
            </a:pPr>
            <a:r>
              <a:t>M1: 분석/설계</a:t>
            </a:r>
          </a:p>
          <a:p>
            <a:pPr>
              <a:defRPr sz="1400">
                <a:solidFill>
                  <a:srgbClr val="A0AEC0"/>
                </a:solidFill>
              </a:defRPr>
            </a:pPr>
            <a:r>
              <a:t>2026.07 ~ 2026.09 | 요구사항 분석, 아키텍처 설계, 상세설계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7C3AED"/>
                </a:solidFill>
              </a:defRPr>
            </a:pPr>
            <a:r>
              <a:t>M2: 기반 구축</a:t>
            </a:r>
          </a:p>
          <a:p>
            <a:pPr>
              <a:defRPr sz="1400">
                <a:solidFill>
                  <a:srgbClr val="A0AEC0"/>
                </a:solidFill>
              </a:defRPr>
            </a:pPr>
            <a:r>
              <a:t>2026.10 ~ 2026.12 | 인프라 구축, 공통 프레임워크, DB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7C3AED"/>
                </a:solidFill>
              </a:defRPr>
            </a:pPr>
            <a:r>
              <a:t>M3: 핵심 개발</a:t>
            </a:r>
          </a:p>
          <a:p>
            <a:pPr>
              <a:defRPr sz="1400">
                <a:solidFill>
                  <a:srgbClr val="A0AEC0"/>
                </a:solidFill>
              </a:defRPr>
            </a:pPr>
            <a:r>
              <a:t>2027.01 ~ 2027.06 | MES/APS 핵심 기능 개발, 연동 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7C3AED"/>
                </a:solidFill>
              </a:defRPr>
            </a:pPr>
            <a:r>
              <a:t>M4: 통합 테스트</a:t>
            </a:r>
          </a:p>
          <a:p>
            <a:pPr>
              <a:defRPr sz="1400">
                <a:solidFill>
                  <a:srgbClr val="A0AEC0"/>
                </a:solidFill>
              </a:defRPr>
            </a:pPr>
            <a:r>
              <a:t>2027.07 ~ 2027.09 | 통합 테스트, 성능 테스트, 보안 테스트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7C3AED"/>
                </a:solidFill>
              </a:defRPr>
            </a:pPr>
            <a:r>
              <a:t>M5: 시범 운영</a:t>
            </a:r>
          </a:p>
          <a:p>
            <a:pPr>
              <a:defRPr sz="1400">
                <a:solidFill>
                  <a:srgbClr val="A0AEC0"/>
                </a:solidFill>
              </a:defRPr>
            </a:pPr>
            <a:r>
              <a:t>2027.10 ~ 2027.11 | PCM+CAL 라인 시범 적용, 안정화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7C3AED"/>
                </a:solidFill>
              </a:defRPr>
            </a:pPr>
            <a:r>
              <a:t>M6: 전체 오픈</a:t>
            </a:r>
          </a:p>
          <a:p>
            <a:pPr>
              <a:defRPr sz="1400">
                <a:solidFill>
                  <a:srgbClr val="A0AEC0"/>
                </a:solidFill>
              </a:defRPr>
            </a:pPr>
            <a:r>
              <a:t>2027.12 | 전체 라인 Go-Live, 기존 시스템 전환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투자 규모: 150억원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● 소프트웨어 개발  —  80억원 (53%)</a:t>
            </a:r>
          </a:p>
          <a:p>
            <a:pPr>
              <a:defRPr sz="1600">
                <a:solidFill>
                  <a:srgbClr val="A0AEC0"/>
                </a:solidFill>
              </a:defRPr>
            </a:pPr>
            <a:r>
              <a:t>   MES/APS 핵심, 연동, UI/UX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● 하드웨어/인프라  —  30억원 (20%)</a:t>
            </a:r>
          </a:p>
          <a:p>
            <a:pPr>
              <a:defRPr sz="1600">
                <a:solidFill>
                  <a:srgbClr val="A0AEC0"/>
                </a:solidFill>
              </a:defRPr>
            </a:pPr>
            <a:r>
              <a:t>   서버, 네트워크, RFID, 터치스크린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● 컨설팅/PM  —  25억원 (17%)</a:t>
            </a:r>
          </a:p>
          <a:p>
            <a:pPr>
              <a:defRPr sz="1600">
                <a:solidFill>
                  <a:srgbClr val="A0AEC0"/>
                </a:solidFill>
              </a:defRPr>
            </a:pPr>
            <a:r>
              <a:t>   APS 알고리즘, 변화관리,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● 예비비  —  15억원 (10%)</a:t>
            </a:r>
          </a:p>
          <a:p>
            <a:pPr>
              <a:defRPr sz="1600">
                <a:solidFill>
                  <a:srgbClr val="A0AEC0"/>
                </a:solidFill>
              </a:defRPr>
            </a:pPr>
            <a:r>
              <a:t>   리스크 대응, 추가 요구사항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