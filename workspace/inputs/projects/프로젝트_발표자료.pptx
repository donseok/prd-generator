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차량 계량대 시스템 재구축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프로젝트 킥오프 발표자료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2024년 1월 15일 | 경영지원팀 김철수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0"/>
              </a:spcBef>
              <a:defRPr sz="2400"/>
            </a:pPr>
            <a:r>
              <a:t>1. 프로젝트 배경 및 목적</a:t>
            </a:r>
          </a:p>
          <a:p>
            <a:pPr>
              <a:spcBef>
                <a:spcPts val="2000"/>
              </a:spcBef>
              <a:defRPr sz="2400"/>
            </a:pPr>
            <a:r>
              <a:t>2. 현황 분석</a:t>
            </a:r>
          </a:p>
          <a:p>
            <a:pPr>
              <a:spcBef>
                <a:spcPts val="2000"/>
              </a:spcBef>
              <a:defRPr sz="2400"/>
            </a:pPr>
            <a:r>
              <a:t>3. 제안 솔루션</a:t>
            </a:r>
          </a:p>
          <a:p>
            <a:pPr>
              <a:spcBef>
                <a:spcPts val="2000"/>
              </a:spcBef>
              <a:defRPr sz="2400"/>
            </a:pPr>
            <a:r>
              <a:t>4. 기대효과</a:t>
            </a:r>
          </a:p>
          <a:p>
            <a:pPr>
              <a:spcBef>
                <a:spcPts val="2000"/>
              </a:spcBef>
              <a:defRPr sz="2400"/>
            </a:pPr>
            <a:r>
              <a:t>5. 추진 일정</a:t>
            </a:r>
          </a:p>
          <a:p>
            <a:pPr>
              <a:spcBef>
                <a:spcPts val="2000"/>
              </a:spcBef>
              <a:defRPr sz="2400"/>
            </a:pPr>
            <a:r>
              <a:t>6. 추진 조직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1. 프로젝트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현재 시스템 문제점</a:t>
            </a:r>
          </a:p>
          <a:p>
            <a:pPr>
              <a:spcBef>
                <a:spcPts val="1500"/>
              </a:spcBef>
              <a:defRPr sz="1800"/>
            </a:pPr>
            <a:r>
              <a:t>• DOS 기반 레거시 시스템 (15년 이상 운영)</a:t>
            </a:r>
          </a:p>
          <a:p>
            <a:pPr>
              <a:spcBef>
                <a:spcPts val="1500"/>
              </a:spcBef>
              <a:defRPr sz="1800"/>
            </a:pPr>
            <a:r>
              <a:t>• 유지보수 인력 확보 어려움</a:t>
            </a:r>
          </a:p>
          <a:p>
            <a:pPr>
              <a:spcBef>
                <a:spcPts val="1500"/>
              </a:spcBef>
              <a:defRPr sz="1800"/>
            </a:pPr>
            <a:r>
              <a:t>• 수기 대장 작성 병행 → 업무 비효율</a:t>
            </a:r>
          </a:p>
          <a:p>
            <a:pPr>
              <a:spcBef>
                <a:spcPts val="1500"/>
              </a:spcBef>
              <a:defRPr sz="1800"/>
            </a:pPr>
            <a:r>
              <a:t>• 운전기사 대기시간 평균 45분</a:t>
            </a:r>
          </a:p>
          <a:p>
            <a:pPr>
              <a:spcBef>
                <a:spcPts val="1500"/>
              </a:spcBef>
              <a:defRPr sz="1800"/>
            </a:pPr>
            <a:r>
              <a:t>• 실시간 현황 파악 불가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chemeClr val="l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핵심 이슈</a:t>
            </a:r>
          </a:p>
          <a:p>
            <a:pPr>
              <a:spcBef>
                <a:spcPts val="1500"/>
              </a:spcBef>
              <a:defRPr sz="1800"/>
            </a:pPr>
            <a:r>
              <a:t>✗ 운전기사 민원 증가</a:t>
            </a:r>
          </a:p>
          <a:p>
            <a:pPr>
              <a:spcBef>
                <a:spcPts val="1500"/>
              </a:spcBef>
              <a:defRPr sz="1800"/>
            </a:pPr>
            <a:r>
              <a:t>✗ 데이터 정합성 문제</a:t>
            </a:r>
          </a:p>
          <a:p>
            <a:pPr>
              <a:spcBef>
                <a:spcPts val="1500"/>
              </a:spcBef>
              <a:defRPr sz="1800"/>
            </a:pPr>
            <a:r>
              <a:t>✗ 관리자 의사결정 지연</a:t>
            </a:r>
          </a:p>
          <a:p>
            <a:pPr>
              <a:spcBef>
                <a:spcPts val="1500"/>
              </a:spcBef>
              <a:defRPr sz="1800"/>
            </a:pPr>
            <a:r>
              <a:t>✗ 시스템 장애 시 복구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3. 제안 솔루션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74720" cy="4572000"/>
          </a:xfrm>
          <a:prstGeom prst="rect">
            <a:avLst/>
          </a:prstGeom>
          <a:solidFill>
            <a:schemeClr val="l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웹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1600"/>
            </a:pPr>
            <a:r>
              <a:t>✓ 실시간 계량 현황</a:t>
            </a:r>
          </a:p>
          <a:p>
            <a:pPr>
              <a:spcBef>
                <a:spcPts val="1500"/>
              </a:spcBef>
              <a:defRPr sz="1600"/>
            </a:pPr>
            <a:r>
              <a:t>✓ 통계 리포트</a:t>
            </a:r>
          </a:p>
          <a:p>
            <a:pPr>
              <a:spcBef>
                <a:spcPts val="1500"/>
              </a:spcBef>
              <a:defRPr sz="1600"/>
            </a:pPr>
            <a:r>
              <a:t>✓ 차량/기사 관리</a:t>
            </a:r>
          </a:p>
          <a:p>
            <a:pPr>
              <a:spcBef>
                <a:spcPts val="1500"/>
              </a:spcBef>
              <a:defRPr sz="1600"/>
            </a:pPr>
            <a:r>
              <a:t>✓ 알림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3474720" cy="4572000"/>
          </a:xfrm>
          <a:prstGeom prst="rect">
            <a:avLst/>
          </a:prstGeom>
          <a:solidFill>
            <a:schemeClr val="l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모바일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1600"/>
            </a:pPr>
            <a:r>
              <a:t>✓ 대기 순번 확인</a:t>
            </a:r>
          </a:p>
          <a:p>
            <a:pPr>
              <a:spcBef>
                <a:spcPts val="1500"/>
              </a:spcBef>
              <a:defRPr sz="1600"/>
            </a:pPr>
            <a:r>
              <a:t>✓ 푸시 알림</a:t>
            </a:r>
          </a:p>
          <a:p>
            <a:pPr>
              <a:spcBef>
                <a:spcPts val="1500"/>
              </a:spcBef>
              <a:defRPr sz="1600"/>
            </a:pPr>
            <a:r>
              <a:t>✓ 계량 결과 조회</a:t>
            </a:r>
          </a:p>
          <a:p>
            <a:pPr>
              <a:spcBef>
                <a:spcPts val="1500"/>
              </a:spcBef>
              <a:defRPr sz="1600"/>
            </a:pPr>
            <a:r>
              <a:t>✓ 전자 전표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solidFill>
            <a:schemeClr val="l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연동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56032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1600"/>
            </a:pPr>
            <a:r>
              <a:t>✓ 인디케이터 연동</a:t>
            </a:r>
          </a:p>
          <a:p>
            <a:pPr>
              <a:spcBef>
                <a:spcPts val="1500"/>
              </a:spcBef>
              <a:defRPr sz="1600"/>
            </a:pPr>
            <a:r>
              <a:t>✓ ERP 연동</a:t>
            </a:r>
          </a:p>
          <a:p>
            <a:pPr>
              <a:spcBef>
                <a:spcPts val="1500"/>
              </a:spcBef>
              <a:defRPr sz="1600"/>
            </a:pPr>
            <a:r>
              <a:t>✓ 전광판 연동</a:t>
            </a:r>
          </a:p>
          <a:p>
            <a:pPr>
              <a:spcBef>
                <a:spcPts val="1500"/>
              </a:spcBef>
              <a:defRPr sz="1600"/>
            </a:pPr>
            <a:r>
              <a:t>✓ 자동화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4. 기대효과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운영 효율화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03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수작업 80% 감소, 처리시간 50% 단축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고객 만족도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운전기사 대기시간 단축, 민원 감소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데이터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자동화로 인한 오류 제거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212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실시간 의사결정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대시보드를 통한 즉시 현황 파악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5. 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요구사항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45720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2024.01~02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834640"/>
            <a:ext cx="1828800" cy="4572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2024.02~03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개발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2024.03~06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480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테스트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4480560"/>
            <a:ext cx="1828800" cy="457200"/>
          </a:xfrm>
          <a:prstGeom prst="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4526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2024.06~07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303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오픈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5303520"/>
            <a:ext cx="731520" cy="457200"/>
          </a:xfrm>
          <a:prstGeom prst="rect">
            <a:avLst/>
          </a:prstGeom>
          <a:solidFill>
            <a:schemeClr val="accent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5349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2024.08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